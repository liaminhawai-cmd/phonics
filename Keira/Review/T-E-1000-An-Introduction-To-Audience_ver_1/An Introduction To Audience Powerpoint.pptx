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11"/>
  </p:handoutMasterIdLst>
  <p:sldIdLst>
    <p:sldId id="256" r:id="rId2"/>
    <p:sldId id="266" r:id="rId3"/>
    <p:sldId id="267" r:id="rId4"/>
    <p:sldId id="268" r:id="rId5"/>
    <p:sldId id="269" r:id="rId6"/>
    <p:sldId id="270" r:id="rId7"/>
    <p:sldId id="271" r:id="rId8"/>
    <p:sldId id="272" r:id="rId9"/>
    <p:sldId id="258" r:id="rId10"/>
  </p:sldIdLst>
  <p:sldSz cx="9144000" cy="6858000" type="screen4x3"/>
  <p:notesSz cx="6858000" cy="9144000"/>
  <p:embeddedFontLst>
    <p:embeddedFont>
      <p:font typeface="Calibri" panose="020F0502020204030204" pitchFamily="34" charset="0"/>
      <p:regular r:id="rId12"/>
      <p:bold r:id="rId13"/>
      <p:italic r:id="rId14"/>
      <p:boldItalic r:id="rId15"/>
    </p:embeddedFont>
    <p:embeddedFont>
      <p:font typeface="Twinkl Light" charset="0"/>
      <p:regular r:id="rId16"/>
    </p:embeddedFont>
    <p:embeddedFont>
      <p:font typeface="Open Sans" panose="020B0606030504020204" pitchFamily="34" charset="0"/>
      <p:regular r:id="rId17"/>
      <p:bold r:id="rId18"/>
      <p:italic r:id="rId19"/>
      <p:boldItalic r:id="rId20"/>
    </p:embeddedFont>
  </p:embeddedFont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459" userDrawn="1">
          <p15:clr>
            <a:srgbClr val="A4A3A4"/>
          </p15:clr>
        </p15:guide>
        <p15:guide id="2" pos="2880" userDrawn="1">
          <p15:clr>
            <a:srgbClr val="A4A3A4"/>
          </p15:clr>
        </p15:guide>
        <p15:guide id="3" pos="5488" userDrawn="1">
          <p15:clr>
            <a:srgbClr val="A4A3A4"/>
          </p15:clr>
        </p15:guide>
        <p15:guide id="4" pos="272" userDrawn="1">
          <p15:clr>
            <a:srgbClr val="A4A3A4"/>
          </p15:clr>
        </p15:guide>
        <p15:guide id="5" orient="horz" pos="2160" userDrawn="1">
          <p15:clr>
            <a:srgbClr val="A4A3A4"/>
          </p15:clr>
        </p15:guide>
        <p15:guide id="6" orient="horz" pos="4042" userDrawn="1">
          <p15:clr>
            <a:srgbClr val="A4A3A4"/>
          </p15:clr>
        </p15:guide>
        <p15:guide id="7" userDrawn="1">
          <p15:clr>
            <a:srgbClr val="A4A3A4"/>
          </p15:clr>
        </p15:guide>
        <p15:guide id="8" pos="5760" userDrawn="1">
          <p15:clr>
            <a:srgbClr val="A4A3A4"/>
          </p15:clr>
        </p15:guide>
        <p15:guide id="9" orient="horz" userDrawn="1">
          <p15:clr>
            <a:srgbClr val="A4A3A4"/>
          </p15:clr>
        </p15:guide>
        <p15:guide id="10" orient="horz" pos="4320" userDrawn="1">
          <p15:clr>
            <a:srgbClr val="A4A3A4"/>
          </p15:clr>
        </p15:guide>
        <p15:guide id="12" orient="horz" pos="686" userDrawn="1">
          <p15:clr>
            <a:srgbClr val="A4A3A4"/>
          </p15:clr>
        </p15:guide>
        <p15:guide id="13" orient="horz" pos="867" userDrawn="1">
          <p15:clr>
            <a:srgbClr val="A4A3A4"/>
          </p15:clr>
        </p15:guide>
        <p15:guide id="14" orient="horz" pos="27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9090"/>
    <a:srgbClr val="525252"/>
    <a:srgbClr val="363636"/>
    <a:srgbClr val="707070"/>
    <a:srgbClr val="19596C"/>
    <a:srgbClr val="E3F4F9"/>
    <a:srgbClr val="BEE4F0"/>
    <a:srgbClr val="237D99"/>
    <a:srgbClr val="3E6974"/>
    <a:srgbClr val="1B4B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9" autoAdjust="0"/>
    <p:restoredTop sz="94660"/>
  </p:normalViewPr>
  <p:slideViewPr>
    <p:cSldViewPr snapToGrid="0" showGuides="1">
      <p:cViewPr varScale="1">
        <p:scale>
          <a:sx n="105" d="100"/>
          <a:sy n="105" d="100"/>
        </p:scale>
        <p:origin x="510" y="114"/>
      </p:cViewPr>
      <p:guideLst>
        <p:guide orient="horz" pos="459"/>
        <p:guide pos="2880"/>
        <p:guide pos="5488"/>
        <p:guide pos="272"/>
        <p:guide orient="horz" pos="2160"/>
        <p:guide orient="horz" pos="4042"/>
        <p:guide/>
        <p:guide pos="5760"/>
        <p:guide orient="horz"/>
        <p:guide orient="horz" pos="4320"/>
        <p:guide orient="horz" pos="686"/>
        <p:guide orient="horz" pos="867"/>
        <p:guide orient="horz" pos="278"/>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90" d="100"/>
          <a:sy n="90" d="100"/>
        </p:scale>
        <p:origin x="369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3E23B0-7AFB-419F-88ED-9863E094EC0D}" type="datetimeFigureOut">
              <a:rPr lang="en-GB" smtClean="0"/>
              <a:t>20/01/2020</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115618-F096-47F9-A2E0-5659E59688C3}" type="slidenum">
              <a:rPr lang="en-GB" smtClean="0"/>
              <a:t>‹#›</a:t>
            </a:fld>
            <a:endParaRPr lang="en-GB"/>
          </a:p>
        </p:txBody>
      </p:sp>
    </p:spTree>
    <p:extLst>
      <p:ext uri="{BB962C8B-B14F-4D97-AF65-F5344CB8AC3E}">
        <p14:creationId xmlns:p14="http://schemas.microsoft.com/office/powerpoint/2010/main" val="426624011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0%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2052896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2241557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5%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208829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0%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203403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5%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192945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5%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40" y="0"/>
            <a:ext cx="9137920" cy="6858000"/>
          </a:xfrm>
          <a:prstGeom prst="rect">
            <a:avLst/>
          </a:prstGeom>
        </p:spPr>
      </p:pic>
    </p:spTree>
    <p:extLst>
      <p:ext uri="{BB962C8B-B14F-4D97-AF65-F5344CB8AC3E}">
        <p14:creationId xmlns:p14="http://schemas.microsoft.com/office/powerpoint/2010/main" val="214556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0064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875463"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bg1"/>
                </a:solidFill>
                <a:latin typeface="+mn-lt"/>
              </a:defRPr>
            </a:lvl1pPr>
          </a:lstStyle>
          <a:p>
            <a:pPr>
              <a:defRPr/>
            </a:pPr>
            <a:fld id="{FC5A4305-8538-4AC5-A69B-BA0518FA21B2}" type="datetimeFigureOut">
              <a:rPr lang="en-GB"/>
              <a:pPr>
                <a:defRPr/>
              </a:pPr>
              <a:t>20/01/2020</a:t>
            </a:fld>
            <a:endParaRPr lang="en-GB" dirty="0"/>
          </a:p>
        </p:txBody>
      </p:sp>
    </p:spTree>
  </p:cSld>
  <p:clrMap bg1="lt1" tx1="dk1" bg2="lt2" tx2="dk2" accent1="accent1" accent2="accent2" accent3="accent3" accent4="accent4" accent5="accent5" accent6="accent6" hlink="hlink" folHlink="folHlink"/>
  <p:sldLayoutIdLst>
    <p:sldLayoutId id="2147483711" r:id="rId1"/>
    <p:sldLayoutId id="2147483717" r:id="rId2"/>
    <p:sldLayoutId id="2147483712" r:id="rId3"/>
    <p:sldLayoutId id="2147483713" r:id="rId4"/>
    <p:sldLayoutId id="2147483716" r:id="rId5"/>
    <p:sldLayoutId id="2147483714" r:id="rId6"/>
    <p:sldLayoutId id="2147483715" r:id="rId7"/>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winkl.co.uk/resources/keystage3-ks3-english/keystage3-ks3-english-ks3/introduction-to-english-key-concepts-ks3-english-english-ks3-ks4" TargetMode="External"/><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twinkl.co.uk/resources/keystage3-ks3-english/keystage3-ks3-english-ks3/introduction-to-english-key-concepts-ks3-english-english-ks3-ks4"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cxnSp>
        <p:nvCxnSpPr>
          <p:cNvPr id="3" name="Straight Connector 2"/>
          <p:cNvCxnSpPr/>
          <p:nvPr/>
        </p:nvCxnSpPr>
        <p:spPr>
          <a:xfrm>
            <a:off x="2958860" y="2913929"/>
            <a:ext cx="323490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p:cNvSpPr txBox="1">
            <a:spLocks/>
          </p:cNvSpPr>
          <p:nvPr/>
        </p:nvSpPr>
        <p:spPr bwMode="auto">
          <a:xfrm>
            <a:off x="1928485" y="2065210"/>
            <a:ext cx="5295656" cy="1742694"/>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720000" tIns="360000" rIns="720000" bIns="360000">
            <a:sp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spcAft>
                <a:spcPts val="1200"/>
              </a:spcAft>
            </a:pPr>
            <a:r>
              <a:rPr lang="en-GB" altLang="en-US" sz="2800" dirty="0">
                <a:solidFill>
                  <a:schemeClr val="bg1"/>
                </a:solidFill>
                <a:latin typeface="Open Sans" panose="020B0606030504020204" pitchFamily="34" charset="0"/>
                <a:ea typeface="Open Sans" panose="020B0606030504020204" pitchFamily="34" charset="0"/>
                <a:cs typeface="Open Sans" panose="020B0606030504020204" pitchFamily="34" charset="0"/>
              </a:rPr>
              <a:t>An Introduction to</a:t>
            </a:r>
            <a:endParaRPr lang="en-GB" altLang="en-US" sz="2800" dirty="0">
              <a:solidFill>
                <a:schemeClr val="bg1"/>
              </a:solidFill>
              <a:latin typeface="Open Sans" panose="020B0606030504020204" pitchFamily="34" charset="0"/>
              <a:cs typeface="Open Sans" panose="020B0606030504020204" pitchFamily="34" charset="0"/>
            </a:endParaRPr>
          </a:p>
          <a:p>
            <a:pPr eaLnBrk="1" hangingPunct="1">
              <a:spcAft>
                <a:spcPts val="1200"/>
              </a:spcAft>
            </a:pPr>
            <a:r>
              <a:rPr lang="en-GB" alt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Audience</a:t>
            </a:r>
          </a:p>
        </p:txBody>
      </p:sp>
      <p:sp>
        <p:nvSpPr>
          <p:cNvPr id="2" name="Rectangle 1">
            <a:hlinkClick r:id="rId3"/>
          </p:cNvPr>
          <p:cNvSpPr/>
          <p:nvPr/>
        </p:nvSpPr>
        <p:spPr>
          <a:xfrm>
            <a:off x="3767328" y="5586984"/>
            <a:ext cx="1627632" cy="658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ounded Rectangle 7"/>
          <p:cNvSpPr/>
          <p:nvPr/>
        </p:nvSpPr>
        <p:spPr bwMode="auto">
          <a:xfrm>
            <a:off x="479426" y="1013337"/>
            <a:ext cx="8196263" cy="1537840"/>
          </a:xfrm>
          <a:prstGeom prst="roundRect">
            <a:avLst>
              <a:gd name="adj" fmla="val 0"/>
            </a:avLst>
          </a:prstGeom>
          <a:solidFill>
            <a:schemeClr val="bg1">
              <a:lumMod val="95000"/>
              <a:alpha val="95000"/>
            </a:schemeClr>
          </a:solidFill>
          <a:ln w="254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solidFill>
                  <a:prstClr val="white"/>
                </a:solidFill>
                <a:latin typeface="Twinkl Light" pitchFamily="2" charset="0"/>
              </a:rPr>
              <a:t> </a:t>
            </a:r>
          </a:p>
        </p:txBody>
      </p:sp>
      <p:sp>
        <p:nvSpPr>
          <p:cNvPr id="11" name="Rounded Rectangle 10"/>
          <p:cNvSpPr/>
          <p:nvPr/>
        </p:nvSpPr>
        <p:spPr bwMode="auto">
          <a:xfrm>
            <a:off x="479426" y="2890205"/>
            <a:ext cx="8196263" cy="2317389"/>
          </a:xfrm>
          <a:prstGeom prst="roundRect">
            <a:avLst>
              <a:gd name="adj" fmla="val 0"/>
            </a:avLst>
          </a:prstGeom>
          <a:solidFill>
            <a:schemeClr val="bg1">
              <a:lumMod val="95000"/>
              <a:alpha val="95000"/>
            </a:schemeClr>
          </a:solidFill>
          <a:ln w="2540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solidFill>
                  <a:prstClr val="white"/>
                </a:solidFill>
                <a:latin typeface="Twinkl Light" pitchFamily="2" charset="0"/>
              </a:rPr>
              <a:t> </a:t>
            </a:r>
          </a:p>
        </p:txBody>
      </p:sp>
      <p:sp>
        <p:nvSpPr>
          <p:cNvPr id="12" name="Content Placeholder 15"/>
          <p:cNvSpPr txBox="1">
            <a:spLocks/>
          </p:cNvSpPr>
          <p:nvPr/>
        </p:nvSpPr>
        <p:spPr bwMode="auto">
          <a:xfrm>
            <a:off x="684212" y="3733782"/>
            <a:ext cx="7775575" cy="1004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marL="228600" indent="-228600">
              <a:defRPr>
                <a:solidFill>
                  <a:schemeClr val="tx1"/>
                </a:solidFill>
                <a:latin typeface="Clear Sans Light" panose="020B0303030202020304" pitchFamily="34" charset="0"/>
                <a:cs typeface="Arial" panose="020B0604020202020204" pitchFamily="34" charset="0"/>
              </a:defRPr>
            </a:lvl1pPr>
            <a:lvl2pPr marL="685800" indent="-228600">
              <a:defRPr>
                <a:solidFill>
                  <a:schemeClr val="tx1"/>
                </a:solidFill>
                <a:latin typeface="Clear Sans Light" panose="020B0303030202020304" pitchFamily="34" charset="0"/>
                <a:cs typeface="Arial" panose="020B0604020202020204" pitchFamily="34" charset="0"/>
              </a:defRPr>
            </a:lvl2pPr>
            <a:lvl3pPr marL="1143000" indent="-228600">
              <a:defRPr>
                <a:solidFill>
                  <a:schemeClr val="tx1"/>
                </a:solidFill>
                <a:latin typeface="Clear Sans Light" panose="020B0303030202020304" pitchFamily="34" charset="0"/>
                <a:cs typeface="Arial" panose="020B0604020202020204" pitchFamily="34" charset="0"/>
              </a:defRPr>
            </a:lvl3pPr>
            <a:lvl4pPr marL="1600200" indent="-228600">
              <a:defRPr>
                <a:solidFill>
                  <a:schemeClr val="tx1"/>
                </a:solidFill>
                <a:latin typeface="Clear Sans Light" panose="020B0303030202020304" pitchFamily="34" charset="0"/>
                <a:cs typeface="Arial" panose="020B0604020202020204" pitchFamily="34" charset="0"/>
              </a:defRPr>
            </a:lvl4pPr>
            <a:lvl5pPr marL="2057400" indent="-228600">
              <a:defRPr>
                <a:solidFill>
                  <a:schemeClr val="tx1"/>
                </a:solidFill>
                <a:latin typeface="Clear Sans Light" panose="020B03030302020203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9pPr>
          </a:lstStyle>
          <a:p>
            <a:pPr>
              <a:lnSpc>
                <a:spcPct val="90000"/>
              </a:lnSpc>
              <a:spcBef>
                <a:spcPts val="1000"/>
              </a:spcBef>
              <a:buFont typeface="Arial" panose="020B0604020202020204" pitchFamily="34" charset="0"/>
              <a:buChar char="•"/>
            </a:pPr>
            <a:r>
              <a:rPr lang="en-GB" altLang="en-US" dirty="0">
                <a:solidFill>
                  <a:srgbClr val="1C1C1C"/>
                </a:solidFill>
                <a:latin typeface="Open Sans" panose="020B0606030504020204" pitchFamily="34" charset="0"/>
                <a:ea typeface="Open Sans" panose="020B0606030504020204" pitchFamily="34" charset="0"/>
                <a:cs typeface="Open Sans" panose="020B0606030504020204" pitchFamily="34" charset="0"/>
              </a:rPr>
              <a:t>To understand what is meant by audience.</a:t>
            </a:r>
          </a:p>
          <a:p>
            <a:pPr>
              <a:lnSpc>
                <a:spcPct val="90000"/>
              </a:lnSpc>
              <a:spcBef>
                <a:spcPts val="1000"/>
              </a:spcBef>
              <a:buFont typeface="Arial" panose="020B0604020202020204" pitchFamily="34" charset="0"/>
              <a:buChar char="•"/>
            </a:pPr>
            <a:r>
              <a:rPr lang="en-GB" altLang="en-US" dirty="0">
                <a:solidFill>
                  <a:srgbClr val="1C1C1C"/>
                </a:solidFill>
                <a:latin typeface="Open Sans" panose="020B0606030504020204" pitchFamily="34" charset="0"/>
                <a:ea typeface="Open Sans" panose="020B0606030504020204" pitchFamily="34" charset="0"/>
                <a:cs typeface="Open Sans" panose="020B0606030504020204" pitchFamily="34" charset="0"/>
              </a:rPr>
              <a:t>To consider different audience responses.</a:t>
            </a:r>
          </a:p>
          <a:p>
            <a:pPr>
              <a:lnSpc>
                <a:spcPct val="90000"/>
              </a:lnSpc>
              <a:spcBef>
                <a:spcPts val="1000"/>
              </a:spcBef>
              <a:buFont typeface="Arial" panose="020B0604020202020204" pitchFamily="34" charset="0"/>
              <a:buChar char="•"/>
            </a:pPr>
            <a:r>
              <a:rPr lang="en-GB" altLang="en-US" dirty="0">
                <a:solidFill>
                  <a:srgbClr val="1C1C1C"/>
                </a:solidFill>
                <a:latin typeface="Open Sans" panose="020B0606030504020204" pitchFamily="34" charset="0"/>
                <a:ea typeface="Open Sans" panose="020B0606030504020204" pitchFamily="34" charset="0"/>
                <a:cs typeface="Open Sans" panose="020B0606030504020204" pitchFamily="34" charset="0"/>
              </a:rPr>
              <a:t>To practise writing for a specific audience.</a:t>
            </a:r>
          </a:p>
        </p:txBody>
      </p:sp>
      <p:sp>
        <p:nvSpPr>
          <p:cNvPr id="13" name="Content Placeholder 15"/>
          <p:cNvSpPr txBox="1">
            <a:spLocks/>
          </p:cNvSpPr>
          <p:nvPr/>
        </p:nvSpPr>
        <p:spPr bwMode="auto">
          <a:xfrm>
            <a:off x="479425" y="1878101"/>
            <a:ext cx="8196263" cy="249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0" tIns="0" rIns="0" bIns="0">
            <a:spAutoFit/>
          </a:bodyPr>
          <a:lstStyle>
            <a:lvl1pPr>
              <a:defRPr>
                <a:solidFill>
                  <a:schemeClr val="tx1"/>
                </a:solidFill>
                <a:latin typeface="Clear Sans Light" panose="020B0303030202020304" pitchFamily="34" charset="0"/>
                <a:cs typeface="Arial" panose="020B0604020202020204" pitchFamily="34" charset="0"/>
              </a:defRPr>
            </a:lvl1pPr>
            <a:lvl2pPr marL="685800" indent="-228600">
              <a:defRPr>
                <a:solidFill>
                  <a:schemeClr val="tx1"/>
                </a:solidFill>
                <a:latin typeface="Clear Sans Light" panose="020B0303030202020304" pitchFamily="34" charset="0"/>
                <a:cs typeface="Arial" panose="020B0604020202020204" pitchFamily="34" charset="0"/>
              </a:defRPr>
            </a:lvl2pPr>
            <a:lvl3pPr marL="1143000" indent="-228600">
              <a:defRPr>
                <a:solidFill>
                  <a:schemeClr val="tx1"/>
                </a:solidFill>
                <a:latin typeface="Clear Sans Light" panose="020B0303030202020304" pitchFamily="34" charset="0"/>
                <a:cs typeface="Arial" panose="020B0604020202020204" pitchFamily="34" charset="0"/>
              </a:defRPr>
            </a:lvl3pPr>
            <a:lvl4pPr marL="1600200" indent="-228600">
              <a:defRPr>
                <a:solidFill>
                  <a:schemeClr val="tx1"/>
                </a:solidFill>
                <a:latin typeface="Clear Sans Light" panose="020B0303030202020304" pitchFamily="34" charset="0"/>
                <a:cs typeface="Arial" panose="020B0604020202020204" pitchFamily="34" charset="0"/>
              </a:defRPr>
            </a:lvl4pPr>
            <a:lvl5pPr marL="2057400" indent="-228600">
              <a:defRPr>
                <a:solidFill>
                  <a:schemeClr val="tx1"/>
                </a:solidFill>
                <a:latin typeface="Clear Sans Light" panose="020B03030302020203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lear Sans Light" panose="020B0303030202020304" pitchFamily="34" charset="0"/>
                <a:cs typeface="Arial" panose="020B0604020202020204" pitchFamily="34" charset="0"/>
              </a:defRPr>
            </a:lvl9pPr>
          </a:lstStyle>
          <a:p>
            <a:pPr algn="ctr">
              <a:lnSpc>
                <a:spcPct val="90000"/>
              </a:lnSpc>
              <a:spcBef>
                <a:spcPts val="1000"/>
              </a:spcBef>
            </a:pPr>
            <a:r>
              <a:rPr lang="en-GB" altLang="en-US" dirty="0">
                <a:solidFill>
                  <a:srgbClr val="1C1C1C"/>
                </a:solidFill>
                <a:latin typeface="Open Sans" panose="020B0606030504020204" pitchFamily="34" charset="0"/>
                <a:ea typeface="Open Sans" panose="020B0606030504020204" pitchFamily="34" charset="0"/>
                <a:cs typeface="Open Sans" panose="020B0606030504020204" pitchFamily="34" charset="0"/>
              </a:rPr>
              <a:t>To explore the concept of audience.</a:t>
            </a:r>
          </a:p>
        </p:txBody>
      </p:sp>
      <p:sp>
        <p:nvSpPr>
          <p:cNvPr id="18" name="Content Placeholder 15"/>
          <p:cNvSpPr txBox="1">
            <a:spLocks/>
          </p:cNvSpPr>
          <p:nvPr/>
        </p:nvSpPr>
        <p:spPr>
          <a:xfrm>
            <a:off x="479427" y="1108147"/>
            <a:ext cx="8196263" cy="696912"/>
          </a:xfrm>
          <a:prstGeom prst="rect">
            <a:avLst/>
          </a:prstGeom>
          <a:noFill/>
          <a:ln w="25400">
            <a:noFill/>
          </a:ln>
        </p:spPr>
        <p:txBody>
          <a:bodyPr lIns="252000" tIns="216000" rIns="252000" bIns="180000"/>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GB" sz="32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Learning Objective</a:t>
            </a:r>
          </a:p>
        </p:txBody>
      </p:sp>
      <p:sp>
        <p:nvSpPr>
          <p:cNvPr id="19" name="Content Placeholder 15"/>
          <p:cNvSpPr txBox="1">
            <a:spLocks/>
          </p:cNvSpPr>
          <p:nvPr/>
        </p:nvSpPr>
        <p:spPr>
          <a:xfrm>
            <a:off x="479427" y="3018118"/>
            <a:ext cx="8196263" cy="698500"/>
          </a:xfrm>
          <a:prstGeom prst="rect">
            <a:avLst/>
          </a:prstGeom>
          <a:noFill/>
          <a:ln w="25400">
            <a:noFill/>
          </a:ln>
        </p:spPr>
        <p:txBody>
          <a:bodyPr lIns="252000" tIns="216000" rIns="252000" bIns="180000"/>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GB" sz="32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Success Criteria</a:t>
            </a:r>
          </a:p>
        </p:txBody>
      </p:sp>
    </p:spTree>
    <p:extLst>
      <p:ext uri="{BB962C8B-B14F-4D97-AF65-F5344CB8AC3E}">
        <p14:creationId xmlns:p14="http://schemas.microsoft.com/office/powerpoint/2010/main" val="3154294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603250"/>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Key Questions</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p:cNvSpPr/>
          <p:nvPr/>
        </p:nvSpPr>
        <p:spPr>
          <a:xfrm>
            <a:off x="724408" y="1868063"/>
            <a:ext cx="3481832" cy="128684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What does an </a:t>
            </a:r>
            <a:b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audience look like?</a:t>
            </a:r>
          </a:p>
        </p:txBody>
      </p:sp>
      <p:sp>
        <p:nvSpPr>
          <p:cNvPr id="5" name="Rectangle 4"/>
          <p:cNvSpPr/>
          <p:nvPr/>
        </p:nvSpPr>
        <p:spPr>
          <a:xfrm>
            <a:off x="4928616" y="1868063"/>
            <a:ext cx="3481832" cy="128684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Does one person </a:t>
            </a:r>
            <a:b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constitute an audience?</a:t>
            </a:r>
          </a:p>
        </p:txBody>
      </p:sp>
      <p:sp>
        <p:nvSpPr>
          <p:cNvPr id="6" name="Rectangle 5"/>
          <p:cNvSpPr/>
          <p:nvPr/>
        </p:nvSpPr>
        <p:spPr>
          <a:xfrm>
            <a:off x="724408" y="3856978"/>
            <a:ext cx="3481832" cy="128684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oAutofit/>
          </a:bodyPr>
          <a:lstStyle/>
          <a:p>
            <a:pPr algn="ct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Are audiences </a:t>
            </a:r>
            <a:b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b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active or passive?</a:t>
            </a:r>
          </a:p>
        </p:txBody>
      </p:sp>
      <p:sp>
        <p:nvSpPr>
          <p:cNvPr id="7" name="Rectangle 6"/>
          <p:cNvSpPr/>
          <p:nvPr/>
        </p:nvSpPr>
        <p:spPr>
          <a:xfrm>
            <a:off x="4928616" y="3856978"/>
            <a:ext cx="3481832" cy="128684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spAutoFit/>
          </a:bodyPr>
          <a:lstStyle/>
          <a:p>
            <a:pPr algn="ctr"/>
            <a:r>
              <a:rPr lang="en-GB"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How do audiences choose what to read/watch/listen to?</a:t>
            </a:r>
          </a:p>
        </p:txBody>
      </p:sp>
    </p:spTree>
    <p:extLst>
      <p:ext uri="{BB962C8B-B14F-4D97-AF65-F5344CB8AC3E}">
        <p14:creationId xmlns:p14="http://schemas.microsoft.com/office/powerpoint/2010/main" val="273497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469900"/>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Making it APT</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itle 1"/>
          <p:cNvSpPr txBox="1">
            <a:spLocks/>
          </p:cNvSpPr>
          <p:nvPr/>
        </p:nvSpPr>
        <p:spPr>
          <a:xfrm>
            <a:off x="431800" y="1184322"/>
            <a:ext cx="8280400" cy="3108543"/>
          </a:xfrm>
          <a:prstGeom prst="rect">
            <a:avLst/>
          </a:prstGeom>
        </p:spPr>
        <p:txBody>
          <a:bodyPr lIns="0" rIns="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600"/>
              </a:spcAft>
            </a:pPr>
            <a:r>
              <a:rPr lang="en-GB" sz="1600" dirty="0">
                <a:latin typeface="Open Sans" panose="020B0606030504020204" pitchFamily="34" charset="0"/>
                <a:ea typeface="Open Sans" panose="020B0606030504020204" pitchFamily="34" charset="0"/>
                <a:cs typeface="Open Sans" panose="020B0606030504020204" pitchFamily="34" charset="0"/>
              </a:rPr>
              <a:t>When composing a text, the creator should always consider:</a:t>
            </a:r>
          </a:p>
          <a:p>
            <a:pPr algn="l">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Audience</a:t>
            </a:r>
            <a:r>
              <a:rPr lang="en-GB" sz="1600" dirty="0">
                <a:latin typeface="Open Sans" panose="020B0606030504020204" pitchFamily="34" charset="0"/>
                <a:ea typeface="Open Sans" panose="020B0606030504020204" pitchFamily="34" charset="0"/>
                <a:cs typeface="Open Sans" panose="020B0606030504020204" pitchFamily="34" charset="0"/>
              </a:rPr>
              <a:t> – who they’re writing for;</a:t>
            </a:r>
          </a:p>
          <a:p>
            <a:pPr algn="l">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Purpose</a:t>
            </a:r>
            <a:r>
              <a:rPr lang="en-GB" sz="1600" dirty="0">
                <a:latin typeface="Open Sans" panose="020B0606030504020204" pitchFamily="34" charset="0"/>
                <a:ea typeface="Open Sans" panose="020B0606030504020204" pitchFamily="34" charset="0"/>
                <a:cs typeface="Open Sans" panose="020B0606030504020204" pitchFamily="34" charset="0"/>
              </a:rPr>
              <a:t> – the reason for writing;</a:t>
            </a:r>
          </a:p>
          <a:p>
            <a:pPr algn="l">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Tone</a:t>
            </a:r>
            <a:r>
              <a:rPr lang="en-GB" sz="1600" dirty="0">
                <a:latin typeface="Open Sans" panose="020B0606030504020204" pitchFamily="34" charset="0"/>
                <a:ea typeface="Open Sans" panose="020B0606030504020204" pitchFamily="34" charset="0"/>
                <a:cs typeface="Open Sans" panose="020B0606030504020204" pitchFamily="34" charset="0"/>
              </a:rPr>
              <a:t> – the overall style and feel of the piece.</a:t>
            </a:r>
          </a:p>
          <a:p>
            <a:pPr algn="l"/>
            <a:r>
              <a:rPr lang="en-GB" sz="1600" dirty="0">
                <a:latin typeface="Open Sans" panose="020B0606030504020204" pitchFamily="34" charset="0"/>
                <a:ea typeface="Open Sans" panose="020B0606030504020204" pitchFamily="34" charset="0"/>
                <a:cs typeface="Open Sans" panose="020B0606030504020204" pitchFamily="34" charset="0"/>
              </a:rPr>
              <a:t>These three things work together and impact on one another. For example, a children’s story should generally not be too dark and upsetting (although fairy tales such as </a:t>
            </a:r>
            <a:r>
              <a:rPr lang="en-GB" sz="1600" b="1" dirty="0">
                <a:latin typeface="Open Sans" panose="020B0606030504020204" pitchFamily="34" charset="0"/>
                <a:ea typeface="Open Sans" panose="020B0606030504020204" pitchFamily="34" charset="0"/>
                <a:cs typeface="Open Sans" panose="020B0606030504020204" pitchFamily="34" charset="0"/>
              </a:rPr>
              <a:t>Hansel and Gretel</a:t>
            </a:r>
            <a:r>
              <a:rPr lang="en-GB" sz="1600" dirty="0">
                <a:latin typeface="Open Sans" panose="020B0606030504020204" pitchFamily="34" charset="0"/>
                <a:ea typeface="Open Sans" panose="020B0606030504020204" pitchFamily="34" charset="0"/>
                <a:cs typeface="Open Sans" panose="020B0606030504020204" pitchFamily="34" charset="0"/>
              </a:rPr>
              <a:t> often are because their original purpose was to warn their audience about the dangers of the world around them).</a:t>
            </a:r>
          </a:p>
          <a:p>
            <a:pPr algn="l"/>
            <a:endParaRPr lang="en-GB" sz="1600" dirty="0">
              <a:latin typeface="Open Sans" panose="020B0606030504020204" pitchFamily="34" charset="0"/>
              <a:ea typeface="Open Sans" panose="020B0606030504020204" pitchFamily="34" charset="0"/>
              <a:cs typeface="Open Sans" panose="020B0606030504020204" pitchFamily="34" charset="0"/>
            </a:endParaRPr>
          </a:p>
          <a:p>
            <a:pPr algn="l"/>
            <a:r>
              <a:rPr lang="en-GB" sz="1600" b="1" dirty="0">
                <a:latin typeface="Open Sans" panose="020B0606030504020204" pitchFamily="34" charset="0"/>
                <a:ea typeface="Open Sans" panose="020B0606030504020204" pitchFamily="34" charset="0"/>
                <a:cs typeface="Open Sans" panose="020B0606030504020204" pitchFamily="34" charset="0"/>
              </a:rPr>
              <a:t>Are you able to identify the likely audience for a text?</a:t>
            </a:r>
          </a:p>
          <a:p>
            <a:pPr algn="l"/>
            <a:r>
              <a:rPr lang="en-GB" sz="1600" dirty="0">
                <a:latin typeface="Open Sans" panose="020B0606030504020204" pitchFamily="34" charset="0"/>
                <a:ea typeface="Open Sans" panose="020B0606030504020204" pitchFamily="34" charset="0"/>
                <a:cs typeface="Open Sans" panose="020B0606030504020204" pitchFamily="34" charset="0"/>
              </a:rPr>
              <a:t>(You do not have to identify the purpose and tone, but doing so might help.)</a:t>
            </a:r>
          </a:p>
        </p:txBody>
      </p:sp>
      <p:sp>
        <p:nvSpPr>
          <p:cNvPr id="9" name="Title 1"/>
          <p:cNvSpPr txBox="1">
            <a:spLocks/>
          </p:cNvSpPr>
          <p:nvPr/>
        </p:nvSpPr>
        <p:spPr>
          <a:xfrm>
            <a:off x="431800" y="4660128"/>
            <a:ext cx="8280400" cy="1594622"/>
          </a:xfrm>
          <a:prstGeom prst="rect">
            <a:avLst/>
          </a:prstGeom>
          <a:solidFill>
            <a:srgbClr val="363636"/>
          </a:solidFill>
        </p:spPr>
        <p:txBody>
          <a:bodyPr wrap="square" lIns="180000" tIns="180000" rIns="180000" bIns="18000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Note Harry, that life is so much more fun</a:t>
            </a:r>
          </a:p>
          <a:p>
            <a:pPr algn="l"/>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As a two or a three than a solitary one</a:t>
            </a:r>
          </a:p>
          <a:p>
            <a:pPr algn="l"/>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And whoever else should arrive, Mummy and Daddy have sworn</a:t>
            </a:r>
          </a:p>
          <a:p>
            <a:pPr algn="l"/>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To remember that you, dirty Harry, are still our first born.</a:t>
            </a:r>
          </a:p>
        </p:txBody>
      </p:sp>
      <p:sp>
        <p:nvSpPr>
          <p:cNvPr id="10" name="Title 1"/>
          <p:cNvSpPr txBox="1">
            <a:spLocks/>
          </p:cNvSpPr>
          <p:nvPr/>
        </p:nvSpPr>
        <p:spPr>
          <a:xfrm>
            <a:off x="431800" y="4352351"/>
            <a:ext cx="8280400" cy="2210175"/>
          </a:xfrm>
          <a:prstGeom prst="rect">
            <a:avLst/>
          </a:prstGeom>
          <a:solidFill>
            <a:srgbClr val="525252"/>
          </a:solidFill>
        </p:spPr>
        <p:txBody>
          <a:bodyPr wrap="square" lIns="180000" tIns="180000" rIns="180000" bIns="18000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Commonly used chemotherapies can lead to resistance to drugs with different modes of actions. Goldman et al. investigated why breast cancer cells treated with </a:t>
            </a:r>
            <a:r>
              <a:rPr lang="en-GB" sz="20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taxanes</a:t>
            </a:r>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 become resistant to the unrelated, routinely used doxorubicin. The authors found that </a:t>
            </a:r>
            <a:r>
              <a:rPr lang="en-GB" sz="20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taxane</a:t>
            </a:r>
            <a:r>
              <a:rPr lang="en-GB" sz="2000" dirty="0">
                <a:solidFill>
                  <a:schemeClr val="bg1"/>
                </a:solidFill>
                <a:latin typeface="Open Sans" panose="020B0606030504020204" pitchFamily="34" charset="0"/>
                <a:ea typeface="Open Sans" panose="020B0606030504020204" pitchFamily="34" charset="0"/>
                <a:cs typeface="Open Sans" panose="020B0606030504020204" pitchFamily="34" charset="0"/>
              </a:rPr>
              <a:t>-treated breast cancer cells became more reliant on oxidative and non-oxidative glucose metabolism.</a:t>
            </a:r>
          </a:p>
        </p:txBody>
      </p:sp>
      <p:sp>
        <p:nvSpPr>
          <p:cNvPr id="11" name="Title 1"/>
          <p:cNvSpPr txBox="1">
            <a:spLocks/>
          </p:cNvSpPr>
          <p:nvPr/>
        </p:nvSpPr>
        <p:spPr>
          <a:xfrm>
            <a:off x="431800" y="4529322"/>
            <a:ext cx="8280400" cy="1856232"/>
          </a:xfrm>
          <a:prstGeom prst="rect">
            <a:avLst/>
          </a:prstGeom>
          <a:solidFill>
            <a:srgbClr val="707070"/>
          </a:solidFill>
        </p:spPr>
        <p:txBody>
          <a:bodyPr wrap="square" lIns="180000" tIns="180000" rIns="180000" bIns="18000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940" dirty="0">
                <a:solidFill>
                  <a:schemeClr val="bg1"/>
                </a:solidFill>
                <a:latin typeface="Open Sans" panose="020B0606030504020204" pitchFamily="34" charset="0"/>
                <a:ea typeface="Open Sans" panose="020B0606030504020204" pitchFamily="34" charset="0"/>
                <a:cs typeface="Open Sans" panose="020B0606030504020204" pitchFamily="34" charset="0"/>
              </a:rPr>
              <a:t>Green might be an unloved nail polish colour, but after scrolling through our selection of Instagram's best bits, we can guarantee that will change. We've got every shade covered and every design. So, whether you're looking for micro flora, neon French tips or custom art, don't reach for the dotting tool without first clicking here.</a:t>
            </a:r>
          </a:p>
        </p:txBody>
      </p:sp>
      <p:sp>
        <p:nvSpPr>
          <p:cNvPr id="12" name="Title 1"/>
          <p:cNvSpPr txBox="1">
            <a:spLocks/>
          </p:cNvSpPr>
          <p:nvPr/>
        </p:nvSpPr>
        <p:spPr>
          <a:xfrm>
            <a:off x="431800" y="4529322"/>
            <a:ext cx="8280400" cy="1863926"/>
          </a:xfrm>
          <a:prstGeom prst="rect">
            <a:avLst/>
          </a:prstGeom>
          <a:solidFill>
            <a:srgbClr val="909090"/>
          </a:solidFill>
        </p:spPr>
        <p:txBody>
          <a:bodyPr wrap="square" lIns="180000" tIns="180000" rIns="180000" bIns="18000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950" dirty="0">
                <a:solidFill>
                  <a:schemeClr val="bg1"/>
                </a:solidFill>
                <a:latin typeface="Open Sans" panose="020B0606030504020204" pitchFamily="34" charset="0"/>
                <a:ea typeface="Open Sans" panose="020B0606030504020204" pitchFamily="34" charset="0"/>
                <a:cs typeface="Open Sans" panose="020B0606030504020204" pitchFamily="34" charset="0"/>
              </a:rPr>
              <a:t>During the whole of a dull, dark, and soundless day in the autumn of the year, when the clouds hung oppressively low in the heavens, I had been passing alone, on horseback, through a singularly dreary tract of country; and at length found myself, as the shades of the evening drew on, within view of the melancholy House of Usher.</a:t>
            </a:r>
          </a:p>
        </p:txBody>
      </p:sp>
    </p:spTree>
    <p:extLst>
      <p:ext uri="{BB962C8B-B14F-4D97-AF65-F5344CB8AC3E}">
        <p14:creationId xmlns:p14="http://schemas.microsoft.com/office/powerpoint/2010/main" val="58443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433387"/>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Audience Theory</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p:cNvSpPr txBox="1">
            <a:spLocks/>
          </p:cNvSpPr>
          <p:nvPr/>
        </p:nvSpPr>
        <p:spPr>
          <a:xfrm>
            <a:off x="431800" y="1012872"/>
            <a:ext cx="8280400" cy="3200876"/>
          </a:xfrm>
          <a:prstGeom prst="rect">
            <a:avLst/>
          </a:prstGeom>
        </p:spPr>
        <p:txBody>
          <a:bodyPr lIns="0" rIns="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1200"/>
              </a:spcAft>
            </a:pPr>
            <a:r>
              <a:rPr lang="en-GB" sz="1800" b="1" dirty="0">
                <a:latin typeface="Open Sans" panose="020B0606030504020204" pitchFamily="34" charset="0"/>
                <a:ea typeface="Open Sans" panose="020B0606030504020204" pitchFamily="34" charset="0"/>
                <a:cs typeface="Open Sans" panose="020B0606030504020204" pitchFamily="34" charset="0"/>
              </a:rPr>
              <a:t>What is the purpose of a story? </a:t>
            </a:r>
          </a:p>
          <a:p>
            <a:pPr algn="l">
              <a:spcAft>
                <a:spcPts val="1200"/>
              </a:spcAft>
            </a:pPr>
            <a:r>
              <a:rPr lang="en-GB" sz="1800" b="1" dirty="0">
                <a:latin typeface="Open Sans" panose="020B0606030504020204" pitchFamily="34" charset="0"/>
                <a:ea typeface="Open Sans" panose="020B0606030504020204" pitchFamily="34" charset="0"/>
                <a:cs typeface="Open Sans" panose="020B0606030504020204" pitchFamily="34" charset="0"/>
              </a:rPr>
              <a:t>Why does a writer write? And who do they write for?</a:t>
            </a:r>
          </a:p>
          <a:p>
            <a:pPr algn="l">
              <a:spcAft>
                <a:spcPts val="1200"/>
              </a:spcAft>
            </a:pPr>
            <a:r>
              <a:rPr lang="en-GB" sz="1800" dirty="0">
                <a:latin typeface="Open Sans" panose="020B0606030504020204" pitchFamily="34" charset="0"/>
                <a:ea typeface="Open Sans" panose="020B0606030504020204" pitchFamily="34" charset="0"/>
                <a:cs typeface="Open Sans" panose="020B0606030504020204" pitchFamily="34" charset="0"/>
              </a:rPr>
              <a:t>An uneducated audience might think that stories are purely for entertainment. Certainly, most storytellers do want to entertain. But there are also elements of informing and persuasion going on in most texts. Most stories contain messages that they want an audience to observe, as with the example of </a:t>
            </a:r>
            <a:r>
              <a:rPr lang="en-GB" sz="1800" b="1" dirty="0">
                <a:latin typeface="Open Sans" panose="020B0606030504020204" pitchFamily="34" charset="0"/>
                <a:ea typeface="Open Sans" panose="020B0606030504020204" pitchFamily="34" charset="0"/>
                <a:cs typeface="Open Sans" panose="020B0606030504020204" pitchFamily="34" charset="0"/>
              </a:rPr>
              <a:t>Hansel and Gretel</a:t>
            </a:r>
            <a:r>
              <a:rPr lang="en-GB" sz="1800" dirty="0">
                <a:latin typeface="Open Sans" panose="020B0606030504020204" pitchFamily="34" charset="0"/>
                <a:ea typeface="Open Sans" panose="020B0606030504020204" pitchFamily="34" charset="0"/>
                <a:cs typeface="Open Sans" panose="020B0606030504020204" pitchFamily="34" charset="0"/>
              </a:rPr>
              <a:t>.</a:t>
            </a:r>
          </a:p>
          <a:p>
            <a:pPr algn="l">
              <a:spcAft>
                <a:spcPts val="1200"/>
              </a:spcAft>
            </a:pPr>
            <a:r>
              <a:rPr lang="en-GB" sz="1800" b="1" dirty="0">
                <a:latin typeface="Open Sans" panose="020B0606030504020204" pitchFamily="34" charset="0"/>
                <a:ea typeface="Open Sans" panose="020B0606030504020204" pitchFamily="34" charset="0"/>
                <a:cs typeface="Open Sans" panose="020B0606030504020204" pitchFamily="34" charset="0"/>
              </a:rPr>
              <a:t>Think of another fairy tale.</a:t>
            </a:r>
          </a:p>
          <a:p>
            <a:pPr algn="l">
              <a:spcAft>
                <a:spcPts val="1200"/>
              </a:spcAft>
            </a:pPr>
            <a:r>
              <a:rPr lang="en-GB" sz="1800" b="1" dirty="0">
                <a:latin typeface="Open Sans" panose="020B0606030504020204" pitchFamily="34" charset="0"/>
                <a:ea typeface="Open Sans" panose="020B0606030504020204" pitchFamily="34" charset="0"/>
                <a:cs typeface="Open Sans" panose="020B0606030504020204" pitchFamily="34" charset="0"/>
              </a:rPr>
              <a:t>What messages can you find in it? Who are these messages aimed at?</a:t>
            </a:r>
          </a:p>
        </p:txBody>
      </p:sp>
      <p:sp>
        <p:nvSpPr>
          <p:cNvPr id="4" name="Rectangle 3"/>
          <p:cNvSpPr/>
          <p:nvPr/>
        </p:nvSpPr>
        <p:spPr>
          <a:xfrm>
            <a:off x="431800" y="4306022"/>
            <a:ext cx="8280400" cy="2317897"/>
          </a:xfrm>
          <a:prstGeom prst="rect">
            <a:avLst/>
          </a:prstGeom>
          <a:solidFill>
            <a:schemeClr val="accent6">
              <a:lumMod val="60000"/>
              <a:lumOff val="40000"/>
            </a:schemeClr>
          </a:solidFill>
        </p:spPr>
        <p:txBody>
          <a:bodyPr wrap="square" lIns="180000" tIns="180000" rIns="180000" bIns="180000">
            <a:spAutoFit/>
          </a:bodyPr>
          <a:lstStyle/>
          <a:p>
            <a:pPr>
              <a:spcAft>
                <a:spcPts val="600"/>
              </a:spcAft>
            </a:pPr>
            <a:r>
              <a:rPr lang="en-GB" sz="1600" dirty="0">
                <a:latin typeface="Open Sans" panose="020B0606030504020204" pitchFamily="34" charset="0"/>
                <a:ea typeface="Open Sans" panose="020B0606030504020204" pitchFamily="34" charset="0"/>
                <a:cs typeface="Open Sans" panose="020B0606030504020204" pitchFamily="34" charset="0"/>
              </a:rPr>
              <a:t>Stuart Hall (1973) claimed that texts were encoded with meaning. </a:t>
            </a:r>
            <a:br>
              <a:rPr lang="en-GB" sz="1600" dirty="0">
                <a:latin typeface="Open Sans" panose="020B0606030504020204" pitchFamily="34" charset="0"/>
                <a:ea typeface="Open Sans" panose="020B0606030504020204" pitchFamily="34" charset="0"/>
                <a:cs typeface="Open Sans" panose="020B0606030504020204" pitchFamily="34" charset="0"/>
              </a:rPr>
            </a:br>
            <a:r>
              <a:rPr lang="en-GB" sz="1600" dirty="0">
                <a:latin typeface="Open Sans" panose="020B0606030504020204" pitchFamily="34" charset="0"/>
                <a:ea typeface="Open Sans" panose="020B0606030504020204" pitchFamily="34" charset="0"/>
                <a:cs typeface="Open Sans" panose="020B0606030504020204" pitchFamily="34" charset="0"/>
              </a:rPr>
              <a:t>However, an audience doesn’t necessarily decode a text in the same way.</a:t>
            </a:r>
          </a:p>
          <a:p>
            <a:pPr>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Preferred readings</a:t>
            </a:r>
            <a:r>
              <a:rPr lang="en-GB" sz="1600" dirty="0">
                <a:latin typeface="Open Sans" panose="020B0606030504020204" pitchFamily="34" charset="0"/>
                <a:ea typeface="Open Sans" panose="020B0606030504020204" pitchFamily="34" charset="0"/>
                <a:cs typeface="Open Sans" panose="020B0606030504020204" pitchFamily="34" charset="0"/>
              </a:rPr>
              <a:t> match the intention of the text’s producer.</a:t>
            </a:r>
          </a:p>
          <a:p>
            <a:pPr>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Negotiated readings</a:t>
            </a:r>
            <a:r>
              <a:rPr lang="en-GB" sz="1600" dirty="0">
                <a:latin typeface="Open Sans" panose="020B0606030504020204" pitchFamily="34" charset="0"/>
                <a:ea typeface="Open Sans" panose="020B0606030504020204" pitchFamily="34" charset="0"/>
                <a:cs typeface="Open Sans" panose="020B0606030504020204" pitchFamily="34" charset="0"/>
              </a:rPr>
              <a:t> take some of the intended meaning from the text producer but a reader also brings their own social and cultural experiences to bear.</a:t>
            </a:r>
          </a:p>
          <a:p>
            <a:pPr>
              <a:spcAft>
                <a:spcPts val="600"/>
              </a:spcAft>
            </a:pPr>
            <a:r>
              <a:rPr lang="en-GB" sz="1600" b="1" dirty="0">
                <a:latin typeface="Open Sans" panose="020B0606030504020204" pitchFamily="34" charset="0"/>
                <a:ea typeface="Open Sans" panose="020B0606030504020204" pitchFamily="34" charset="0"/>
                <a:cs typeface="Open Sans" panose="020B0606030504020204" pitchFamily="34" charset="0"/>
              </a:rPr>
              <a:t>Oppositional readings</a:t>
            </a:r>
            <a:r>
              <a:rPr lang="en-GB" sz="1600" dirty="0">
                <a:latin typeface="Open Sans" panose="020B0606030504020204" pitchFamily="34" charset="0"/>
                <a:ea typeface="Open Sans" panose="020B0606030504020204" pitchFamily="34" charset="0"/>
                <a:cs typeface="Open Sans" panose="020B0606030504020204" pitchFamily="34" charset="0"/>
              </a:rPr>
              <a:t> reject the intended meaning and intention of the text’s producer.</a:t>
            </a:r>
          </a:p>
        </p:txBody>
      </p:sp>
    </p:spTree>
    <p:extLst>
      <p:ext uri="{BB962C8B-B14F-4D97-AF65-F5344CB8AC3E}">
        <p14:creationId xmlns:p14="http://schemas.microsoft.com/office/powerpoint/2010/main" val="4001500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603250"/>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Considering Context</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p:cNvSpPr txBox="1">
            <a:spLocks/>
          </p:cNvSpPr>
          <p:nvPr/>
        </p:nvSpPr>
        <p:spPr>
          <a:xfrm>
            <a:off x="431800" y="1298622"/>
            <a:ext cx="8280400" cy="923330"/>
          </a:xfrm>
          <a:prstGeom prst="rect">
            <a:avLst/>
          </a:prstGeom>
        </p:spPr>
        <p:txBody>
          <a:bodyPr lIns="0" rIns="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dirty="0">
                <a:latin typeface="Open Sans" panose="020B0606030504020204" pitchFamily="34" charset="0"/>
                <a:ea typeface="Open Sans" panose="020B0606030504020204" pitchFamily="34" charset="0"/>
                <a:cs typeface="Open Sans" panose="020B0606030504020204" pitchFamily="34" charset="0"/>
              </a:rPr>
              <a:t>English Literature AO3</a:t>
            </a:r>
          </a:p>
          <a:p>
            <a:pPr algn="l"/>
            <a:r>
              <a:rPr lang="en-GB" sz="1800" dirty="0">
                <a:latin typeface="Open Sans" panose="020B0606030504020204" pitchFamily="34" charset="0"/>
                <a:ea typeface="Open Sans" panose="020B0606030504020204" pitchFamily="34" charset="0"/>
                <a:cs typeface="Open Sans" panose="020B0606030504020204" pitchFamily="34" charset="0"/>
              </a:rPr>
              <a:t>Demonstrate understanding of the significance and influence of the contexts in which literary texts are written and received.</a:t>
            </a:r>
          </a:p>
        </p:txBody>
      </p:sp>
      <p:sp>
        <p:nvSpPr>
          <p:cNvPr id="4" name="Rectangle 3"/>
          <p:cNvSpPr/>
          <p:nvPr/>
        </p:nvSpPr>
        <p:spPr>
          <a:xfrm>
            <a:off x="1022350" y="2600280"/>
            <a:ext cx="3549650" cy="1657440"/>
          </a:xfrm>
          <a:prstGeom prst="rect">
            <a:avLst/>
          </a:prstGeom>
          <a:solidFill>
            <a:schemeClr val="tx2">
              <a:lumMod val="60000"/>
              <a:lumOff val="40000"/>
            </a:schemeClr>
          </a:solidFill>
        </p:spPr>
        <p:txBody>
          <a:bodyPr wrap="square" rIns="180000" anchor="ctr" anchorCtr="0">
            <a:noAutofit/>
          </a:bodyPr>
          <a:lstStyle/>
          <a:p>
            <a:pPr algn="r"/>
            <a:r>
              <a:rPr lang="en-GB" b="1" dirty="0">
                <a:solidFill>
                  <a:schemeClr val="bg1"/>
                </a:solidFill>
                <a:latin typeface="Open Sans" panose="020B0606030504020204" pitchFamily="34" charset="0"/>
                <a:ea typeface="Open Sans" panose="020B0606030504020204" pitchFamily="34" charset="0"/>
                <a:cs typeface="Open Sans" panose="020B0606030504020204" pitchFamily="34" charset="0"/>
              </a:rPr>
              <a:t>Primary audience</a:t>
            </a:r>
          </a:p>
          <a:p>
            <a:pPr algn="r"/>
            <a:r>
              <a:rPr lang="en-GB" dirty="0">
                <a:solidFill>
                  <a:schemeClr val="bg1"/>
                </a:solidFill>
                <a:latin typeface="Open Sans" panose="020B0606030504020204" pitchFamily="34" charset="0"/>
                <a:ea typeface="Open Sans" panose="020B0606030504020204" pitchFamily="34" charset="0"/>
                <a:cs typeface="Open Sans" panose="020B0606030504020204" pitchFamily="34" charset="0"/>
              </a:rPr>
              <a:t>The intended recipients of a text, also referred to as the target audience.</a:t>
            </a:r>
          </a:p>
        </p:txBody>
      </p:sp>
      <p:sp>
        <p:nvSpPr>
          <p:cNvPr id="5" name="Rectangle 4"/>
          <p:cNvSpPr/>
          <p:nvPr/>
        </p:nvSpPr>
        <p:spPr>
          <a:xfrm>
            <a:off x="4572000" y="2600279"/>
            <a:ext cx="3549650" cy="1657441"/>
          </a:xfrm>
          <a:prstGeom prst="rect">
            <a:avLst/>
          </a:prstGeom>
          <a:solidFill>
            <a:schemeClr val="accent2">
              <a:lumMod val="60000"/>
              <a:lumOff val="40000"/>
            </a:schemeClr>
          </a:solidFill>
        </p:spPr>
        <p:txBody>
          <a:bodyPr wrap="square" lIns="180000" anchor="ctr" anchorCtr="0">
            <a:noAutofit/>
          </a:bodyPr>
          <a:lstStyle/>
          <a:p>
            <a:r>
              <a:rPr lang="en-GB" b="1" dirty="0">
                <a:solidFill>
                  <a:schemeClr val="bg1"/>
                </a:solidFill>
                <a:latin typeface="Open Sans" panose="020B0606030504020204" pitchFamily="34" charset="0"/>
                <a:ea typeface="Open Sans" panose="020B0606030504020204" pitchFamily="34" charset="0"/>
                <a:cs typeface="Open Sans" panose="020B0606030504020204" pitchFamily="34" charset="0"/>
              </a:rPr>
              <a:t>Secondary audience</a:t>
            </a:r>
          </a:p>
          <a:p>
            <a:r>
              <a:rPr lang="en-GB" dirty="0">
                <a:solidFill>
                  <a:schemeClr val="bg1"/>
                </a:solidFill>
                <a:latin typeface="Open Sans" panose="020B0606030504020204" pitchFamily="34" charset="0"/>
                <a:ea typeface="Open Sans" panose="020B0606030504020204" pitchFamily="34" charset="0"/>
                <a:cs typeface="Open Sans" panose="020B0606030504020204" pitchFamily="34" charset="0"/>
              </a:rPr>
              <a:t>Anybody else who might be exposed to a text.</a:t>
            </a:r>
          </a:p>
          <a:p>
            <a:endParaRPr lang="en-GB"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p:cNvCxnSpPr/>
          <p:nvPr/>
        </p:nvCxnSpPr>
        <p:spPr>
          <a:xfrm>
            <a:off x="4572000" y="2932163"/>
            <a:ext cx="0" cy="99695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31800" y="4636047"/>
            <a:ext cx="8280400" cy="1754326"/>
          </a:xfrm>
          <a:prstGeom prst="rect">
            <a:avLst/>
          </a:prstGeom>
        </p:spPr>
        <p:txBody>
          <a:bodyPr wrap="square" lIns="0" rIns="0">
            <a:spAutoFit/>
          </a:bodyPr>
          <a:lstStyle/>
          <a:p>
            <a:r>
              <a:rPr lang="en-GB" b="1" dirty="0">
                <a:latin typeface="Open Sans" panose="020B0606030504020204" pitchFamily="34" charset="0"/>
                <a:ea typeface="Open Sans" panose="020B0606030504020204" pitchFamily="34" charset="0"/>
                <a:cs typeface="Open Sans" panose="020B0606030504020204" pitchFamily="34" charset="0"/>
              </a:rPr>
              <a:t>Romeo and Juliet</a:t>
            </a:r>
            <a:r>
              <a:rPr lang="en-GB" dirty="0">
                <a:latin typeface="Open Sans" panose="020B0606030504020204" pitchFamily="34" charset="0"/>
                <a:ea typeface="Open Sans" panose="020B0606030504020204" pitchFamily="34" charset="0"/>
                <a:cs typeface="Open Sans" panose="020B0606030504020204" pitchFamily="34" charset="0"/>
              </a:rPr>
              <a:t> was written more than 400 years ago. The primary audience would have been Elizabethan theatre-goers. Today’s GCSE students are a secondary audience that Shakespeare would have had no conception of. </a:t>
            </a:r>
            <a:r>
              <a:rPr lang="en-GB" b="1" dirty="0">
                <a:latin typeface="Open Sans" panose="020B0606030504020204" pitchFamily="34" charset="0"/>
                <a:ea typeface="Open Sans" panose="020B0606030504020204" pitchFamily="34" charset="0"/>
                <a:cs typeface="Open Sans" panose="020B0606030504020204" pitchFamily="34" charset="0"/>
              </a:rPr>
              <a:t>How and why might an audience in the 21</a:t>
            </a:r>
            <a:r>
              <a:rPr lang="en-GB" b="1" baseline="30000" dirty="0">
                <a:latin typeface="Open Sans" panose="020B0606030504020204" pitchFamily="34" charset="0"/>
                <a:ea typeface="Open Sans" panose="020B0606030504020204" pitchFamily="34" charset="0"/>
                <a:cs typeface="Open Sans" panose="020B0606030504020204" pitchFamily="34" charset="0"/>
              </a:rPr>
              <a:t>st</a:t>
            </a:r>
            <a:r>
              <a:rPr lang="en-GB" b="1" dirty="0">
                <a:latin typeface="Open Sans" panose="020B0606030504020204" pitchFamily="34" charset="0"/>
                <a:ea typeface="Open Sans" panose="020B0606030504020204" pitchFamily="34" charset="0"/>
                <a:cs typeface="Open Sans" panose="020B0606030504020204" pitchFamily="34" charset="0"/>
              </a:rPr>
              <a:t> century respond differently to an Elizabethan audience? </a:t>
            </a:r>
            <a:r>
              <a:rPr lang="en-GB" dirty="0">
                <a:latin typeface="Open Sans" panose="020B0606030504020204" pitchFamily="34" charset="0"/>
                <a:ea typeface="Open Sans" panose="020B0606030504020204" pitchFamily="34" charset="0"/>
                <a:cs typeface="Open Sans" panose="020B0606030504020204" pitchFamily="34" charset="0"/>
              </a:rPr>
              <a:t>You could consider: social conventions; gender roles; the impact of remakes and adaptations.</a:t>
            </a:r>
          </a:p>
        </p:txBody>
      </p:sp>
    </p:spTree>
    <p:extLst>
      <p:ext uri="{BB962C8B-B14F-4D97-AF65-F5344CB8AC3E}">
        <p14:creationId xmlns:p14="http://schemas.microsoft.com/office/powerpoint/2010/main" val="184829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603250"/>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The Reader in the Writer</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p:cNvSpPr txBox="1">
            <a:spLocks/>
          </p:cNvSpPr>
          <p:nvPr/>
        </p:nvSpPr>
        <p:spPr>
          <a:xfrm>
            <a:off x="431800" y="1298622"/>
            <a:ext cx="8280400" cy="4939814"/>
          </a:xfrm>
          <a:prstGeom prst="rect">
            <a:avLst/>
          </a:prstGeom>
        </p:spPr>
        <p:txBody>
          <a:bodyPr lIns="0" rIns="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600"/>
              </a:spcAft>
            </a:pPr>
            <a:r>
              <a:rPr lang="en-GB" sz="1800" dirty="0">
                <a:latin typeface="Open Sans" panose="020B0606030504020204" pitchFamily="34" charset="0"/>
                <a:ea typeface="Open Sans" panose="020B0606030504020204" pitchFamily="34" charset="0"/>
                <a:cs typeface="Open Sans" panose="020B0606030504020204" pitchFamily="34" charset="0"/>
              </a:rPr>
              <a:t>The research of Myra </a:t>
            </a:r>
            <a:r>
              <a:rPr lang="en-GB" sz="1800" dirty="0" err="1">
                <a:latin typeface="Open Sans" panose="020B0606030504020204" pitchFamily="34" charset="0"/>
                <a:ea typeface="Open Sans" panose="020B0606030504020204" pitchFamily="34" charset="0"/>
                <a:cs typeface="Open Sans" panose="020B0606030504020204" pitchFamily="34" charset="0"/>
              </a:rPr>
              <a:t>Barrs</a:t>
            </a:r>
            <a:r>
              <a:rPr lang="en-GB" sz="1800" dirty="0">
                <a:latin typeface="Open Sans" panose="020B0606030504020204" pitchFamily="34" charset="0"/>
                <a:ea typeface="Open Sans" panose="020B0606030504020204" pitchFamily="34" charset="0"/>
                <a:cs typeface="Open Sans" panose="020B0606030504020204" pitchFamily="34" charset="0"/>
              </a:rPr>
              <a:t> (2000) acknowledged a symbiotic relationship between reading and writing. Readers make good writers because they have a sound understanding of what an audiences’ needs and expectations are. Conversely, writers are strong readers because they can inhabit the </a:t>
            </a:r>
            <a:r>
              <a:rPr lang="en-GB" sz="1800" dirty="0" err="1">
                <a:latin typeface="Open Sans" panose="020B0606030504020204" pitchFamily="34" charset="0"/>
                <a:ea typeface="Open Sans" panose="020B0606030504020204" pitchFamily="34" charset="0"/>
                <a:cs typeface="Open Sans" panose="020B0606030504020204" pitchFamily="34" charset="0"/>
              </a:rPr>
              <a:t>mindset</a:t>
            </a:r>
            <a:r>
              <a:rPr lang="en-GB" sz="1800" dirty="0">
                <a:latin typeface="Open Sans" panose="020B0606030504020204" pitchFamily="34" charset="0"/>
                <a:ea typeface="Open Sans" panose="020B0606030504020204" pitchFamily="34" charset="0"/>
                <a:cs typeface="Open Sans" panose="020B0606030504020204" pitchFamily="34" charset="0"/>
              </a:rPr>
              <a:t> and successfully decode the intentions of their fellow writers.</a:t>
            </a:r>
          </a:p>
          <a:p>
            <a:pPr algn="l">
              <a:spcAft>
                <a:spcPts val="600"/>
              </a:spcAft>
            </a:pPr>
            <a:r>
              <a:rPr lang="en-GB" sz="1800" b="1" dirty="0">
                <a:latin typeface="Open Sans" panose="020B0606030504020204" pitchFamily="34" charset="0"/>
                <a:ea typeface="Open Sans" panose="020B0606030504020204" pitchFamily="34" charset="0"/>
                <a:cs typeface="Open Sans" panose="020B0606030504020204" pitchFamily="34" charset="0"/>
              </a:rPr>
              <a:t>Be the writer in the reader.</a:t>
            </a:r>
          </a:p>
          <a:p>
            <a:pPr algn="l">
              <a:spcAft>
                <a:spcPts val="600"/>
              </a:spcAft>
            </a:pPr>
            <a:r>
              <a:rPr lang="en-GB" sz="1800" dirty="0">
                <a:latin typeface="Open Sans" panose="020B0606030504020204" pitchFamily="34" charset="0"/>
                <a:ea typeface="Open Sans" panose="020B0606030504020204" pitchFamily="34" charset="0"/>
                <a:cs typeface="Open Sans" panose="020B0606030504020204" pitchFamily="34" charset="0"/>
              </a:rPr>
              <a:t>You should all be experienced readers. Write instructions for somebody just starting school on how to tell a story.</a:t>
            </a:r>
          </a:p>
          <a:p>
            <a:pPr algn="l">
              <a:spcAft>
                <a:spcPts val="600"/>
              </a:spcAft>
            </a:pPr>
            <a:r>
              <a:rPr lang="en-GB" sz="1800" dirty="0">
                <a:latin typeface="Open Sans" panose="020B0606030504020204" pitchFamily="34" charset="0"/>
                <a:ea typeface="Open Sans" panose="020B0606030504020204" pitchFamily="34" charset="0"/>
                <a:cs typeface="Open Sans" panose="020B0606030504020204" pitchFamily="34" charset="0"/>
              </a:rPr>
              <a:t>You could include:</a:t>
            </a:r>
          </a:p>
          <a:p>
            <a:pPr marL="285750" indent="-285750" algn="l">
              <a:spcAft>
                <a:spcPts val="600"/>
              </a:spcAft>
              <a:buFont typeface="Arial" panose="020B0604020202020204" pitchFamily="34" charset="0"/>
              <a:buChar char="•"/>
            </a:pPr>
            <a:r>
              <a:rPr lang="en-GB" sz="1800" dirty="0">
                <a:latin typeface="Open Sans" panose="020B0606030504020204" pitchFamily="34" charset="0"/>
                <a:ea typeface="Open Sans" panose="020B0606030504020204" pitchFamily="34" charset="0"/>
                <a:cs typeface="Open Sans" panose="020B0606030504020204" pitchFamily="34" charset="0"/>
              </a:rPr>
              <a:t>how to begin;</a:t>
            </a:r>
          </a:p>
          <a:p>
            <a:pPr marL="285750" indent="-285750" algn="l">
              <a:spcAft>
                <a:spcPts val="600"/>
              </a:spcAft>
              <a:buFont typeface="Arial" panose="020B0604020202020204" pitchFamily="34" charset="0"/>
              <a:buChar char="•"/>
            </a:pPr>
            <a:r>
              <a:rPr lang="en-GB" sz="1800" dirty="0">
                <a:latin typeface="Open Sans" panose="020B0606030504020204" pitchFamily="34" charset="0"/>
                <a:ea typeface="Open Sans" panose="020B0606030504020204" pitchFamily="34" charset="0"/>
                <a:cs typeface="Open Sans" panose="020B0606030504020204" pitchFamily="34" charset="0"/>
              </a:rPr>
              <a:t>how to end;</a:t>
            </a:r>
          </a:p>
          <a:p>
            <a:pPr marL="285750" indent="-285750" algn="l">
              <a:spcAft>
                <a:spcPts val="600"/>
              </a:spcAft>
              <a:buFont typeface="Arial" panose="020B0604020202020204" pitchFamily="34" charset="0"/>
              <a:buChar char="•"/>
            </a:pPr>
            <a:r>
              <a:rPr lang="en-GB" sz="1800" dirty="0">
                <a:latin typeface="Open Sans" panose="020B0606030504020204" pitchFamily="34" charset="0"/>
                <a:ea typeface="Open Sans" panose="020B0606030504020204" pitchFamily="34" charset="0"/>
                <a:cs typeface="Open Sans" panose="020B0606030504020204" pitchFamily="34" charset="0"/>
              </a:rPr>
              <a:t>what makes a good setting;</a:t>
            </a:r>
          </a:p>
          <a:p>
            <a:pPr marL="285750" indent="-285750" algn="l">
              <a:spcAft>
                <a:spcPts val="600"/>
              </a:spcAft>
              <a:buFont typeface="Arial" panose="020B0604020202020204" pitchFamily="34" charset="0"/>
              <a:buChar char="•"/>
            </a:pPr>
            <a:r>
              <a:rPr lang="en-GB" sz="1800" dirty="0">
                <a:latin typeface="Open Sans" panose="020B0606030504020204" pitchFamily="34" charset="0"/>
                <a:ea typeface="Open Sans" panose="020B0606030504020204" pitchFamily="34" charset="0"/>
                <a:cs typeface="Open Sans" panose="020B0606030504020204" pitchFamily="34" charset="0"/>
              </a:rPr>
              <a:t>what makes a good character;</a:t>
            </a:r>
          </a:p>
          <a:p>
            <a:pPr marL="285750" indent="-285750" algn="l">
              <a:spcAft>
                <a:spcPts val="600"/>
              </a:spcAft>
              <a:buFont typeface="Arial" panose="020B0604020202020204" pitchFamily="34" charset="0"/>
              <a:buChar char="•"/>
            </a:pPr>
            <a:r>
              <a:rPr lang="en-GB" sz="1800" dirty="0">
                <a:latin typeface="Open Sans" panose="020B0606030504020204" pitchFamily="34" charset="0"/>
                <a:ea typeface="Open Sans" panose="020B0606030504020204" pitchFamily="34" charset="0"/>
                <a:cs typeface="Open Sans" panose="020B0606030504020204" pitchFamily="34" charset="0"/>
              </a:rPr>
              <a:t>what makes a good plot.</a:t>
            </a:r>
          </a:p>
          <a:p>
            <a:pPr algn="l">
              <a:spcAft>
                <a:spcPts val="600"/>
              </a:spcAft>
            </a:pPr>
            <a:r>
              <a:rPr lang="en-GB" sz="1800" b="1" dirty="0">
                <a:latin typeface="Open Sans" panose="020B0606030504020204" pitchFamily="34" charset="0"/>
                <a:ea typeface="Open Sans" panose="020B0606030504020204" pitchFamily="34" charset="0"/>
                <a:cs typeface="Open Sans" panose="020B0606030504020204" pitchFamily="34" charset="0"/>
              </a:rPr>
              <a:t>Remember who your audience is!</a:t>
            </a:r>
          </a:p>
        </p:txBody>
      </p:sp>
      <p:sp>
        <p:nvSpPr>
          <p:cNvPr id="4" name="Rectangle 3"/>
          <p:cNvSpPr/>
          <p:nvPr/>
        </p:nvSpPr>
        <p:spPr>
          <a:xfrm>
            <a:off x="4869713" y="4372911"/>
            <a:ext cx="4274288" cy="1748510"/>
          </a:xfrm>
          <a:prstGeom prst="rect">
            <a:avLst/>
          </a:prstGeom>
          <a:solidFill>
            <a:schemeClr val="accent2">
              <a:lumMod val="60000"/>
              <a:lumOff val="40000"/>
            </a:schemeClr>
          </a:solidFill>
        </p:spPr>
        <p:txBody>
          <a:bodyPr wrap="square" lIns="180000" tIns="180000" rIns="180000" bIns="180000" anchor="ctr" anchorCtr="0">
            <a:spAutoFit/>
          </a:bodyPr>
          <a:lstStyle/>
          <a:p>
            <a:r>
              <a:rPr lang="en-GB" b="1" dirty="0">
                <a:solidFill>
                  <a:schemeClr val="bg1"/>
                </a:solidFill>
                <a:latin typeface="Open Sans" panose="020B0606030504020204" pitchFamily="34" charset="0"/>
                <a:ea typeface="Open Sans" panose="020B0606030504020204" pitchFamily="34" charset="0"/>
                <a:cs typeface="Open Sans" panose="020B0606030504020204" pitchFamily="34" charset="0"/>
              </a:rPr>
              <a:t>Direct address</a:t>
            </a:r>
          </a:p>
          <a:p>
            <a:r>
              <a:rPr lang="en-GB" dirty="0">
                <a:solidFill>
                  <a:schemeClr val="bg1"/>
                </a:solidFill>
                <a:latin typeface="Open Sans" panose="020B0606030504020204" pitchFamily="34" charset="0"/>
                <a:ea typeface="Open Sans" panose="020B0606030504020204" pitchFamily="34" charset="0"/>
                <a:cs typeface="Open Sans" panose="020B0606030504020204" pitchFamily="34" charset="0"/>
              </a:rPr>
              <a:t>Writing as if you are speaking directly to your audience. This is a common feature of instructional and persuasive texts.</a:t>
            </a:r>
          </a:p>
        </p:txBody>
      </p:sp>
    </p:spTree>
    <p:extLst>
      <p:ext uri="{BB962C8B-B14F-4D97-AF65-F5344CB8AC3E}">
        <p14:creationId xmlns:p14="http://schemas.microsoft.com/office/powerpoint/2010/main" val="227034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0" y="603250"/>
            <a:ext cx="9144000" cy="620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defRPr>
            </a:lvl2pPr>
            <a:lvl3pPr algn="ctr" rtl="0" eaLnBrk="1" fontAlgn="base" hangingPunct="1">
              <a:spcBef>
                <a:spcPct val="0"/>
              </a:spcBef>
              <a:spcAft>
                <a:spcPct val="0"/>
              </a:spcAft>
              <a:defRPr sz="4400">
                <a:solidFill>
                  <a:schemeClr val="tx1"/>
                </a:solidFill>
                <a:latin typeface="Calibri" panose="020F0502020204030204" pitchFamily="34" charset="0"/>
              </a:defRPr>
            </a:lvl3pPr>
            <a:lvl4pPr algn="ctr" rtl="0" eaLnBrk="1" fontAlgn="base" hangingPunct="1">
              <a:spcBef>
                <a:spcPct val="0"/>
              </a:spcBef>
              <a:spcAft>
                <a:spcPct val="0"/>
              </a:spcAft>
              <a:defRPr sz="4400">
                <a:solidFill>
                  <a:schemeClr val="tx1"/>
                </a:solidFill>
                <a:latin typeface="Calibri" panose="020F0502020204030204" pitchFamily="34" charset="0"/>
              </a:defRPr>
            </a:lvl4pPr>
            <a:lvl5pPr algn="ctr" rtl="0" eaLnBrk="1" fontAlgn="base" hangingPunct="1">
              <a:spcBef>
                <a:spcPct val="0"/>
              </a:spcBef>
              <a:spcAft>
                <a:spcPct val="0"/>
              </a:spcAft>
              <a:defRPr sz="4400">
                <a:solidFill>
                  <a:schemeClr val="tx1"/>
                </a:solidFill>
                <a:latin typeface="Calibri" panose="020F0502020204030204" pitchFamily="34" charset="0"/>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r>
              <a:rPr lang="en-GB" sz="3600" b="1" dirty="0">
                <a:solidFill>
                  <a:srgbClr val="707070"/>
                </a:solidFill>
                <a:latin typeface="Open Sans" panose="020B0606030504020204" pitchFamily="34" charset="0"/>
                <a:ea typeface="Open Sans" panose="020B0606030504020204" pitchFamily="34" charset="0"/>
                <a:cs typeface="Open Sans" panose="020B0606030504020204" pitchFamily="34" charset="0"/>
              </a:rPr>
              <a:t>Captive Audience</a:t>
            </a:r>
            <a:endParaRPr lang="en-GB" altLang="en-US" sz="3600" b="1" dirty="0">
              <a:solidFill>
                <a:srgbClr val="70707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itle 1"/>
          <p:cNvSpPr txBox="1">
            <a:spLocks/>
          </p:cNvSpPr>
          <p:nvPr/>
        </p:nvSpPr>
        <p:spPr>
          <a:xfrm>
            <a:off x="431800" y="1298622"/>
            <a:ext cx="8280400" cy="723275"/>
          </a:xfrm>
          <a:prstGeom prst="rect">
            <a:avLst/>
          </a:prstGeom>
        </p:spPr>
        <p:txBody>
          <a:bodyPr lIns="0" rIns="0">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Aft>
                <a:spcPts val="600"/>
              </a:spcAft>
            </a:pPr>
            <a:r>
              <a:rPr lang="en-GB" sz="1800" dirty="0">
                <a:latin typeface="Open Sans" panose="020B0606030504020204" pitchFamily="34" charset="0"/>
                <a:ea typeface="Open Sans" panose="020B0606030504020204" pitchFamily="34" charset="0"/>
                <a:cs typeface="Open Sans" panose="020B0606030504020204" pitchFamily="34" charset="0"/>
              </a:rPr>
              <a:t>Has my audience been paying attention today?</a:t>
            </a:r>
          </a:p>
          <a:p>
            <a:pPr algn="l">
              <a:spcAft>
                <a:spcPts val="600"/>
              </a:spcAft>
            </a:pPr>
            <a:r>
              <a:rPr lang="en-GB" sz="1800" dirty="0">
                <a:latin typeface="Open Sans" panose="020B0606030504020204" pitchFamily="34" charset="0"/>
                <a:ea typeface="Open Sans" panose="020B0606030504020204" pitchFamily="34" charset="0"/>
                <a:cs typeface="Open Sans" panose="020B0606030504020204" pitchFamily="34" charset="0"/>
              </a:rPr>
              <a:t>Complete an exit pass showing five things that you know about audiences…</a:t>
            </a:r>
          </a:p>
        </p:txBody>
      </p:sp>
      <p:sp>
        <p:nvSpPr>
          <p:cNvPr id="10" name="Rectangle 9"/>
          <p:cNvSpPr/>
          <p:nvPr/>
        </p:nvSpPr>
        <p:spPr>
          <a:xfrm>
            <a:off x="691388" y="2568406"/>
            <a:ext cx="7761224" cy="3155738"/>
          </a:xfrm>
          <a:prstGeom prst="rect">
            <a:avLst/>
          </a:prstGeom>
          <a:solidFill>
            <a:schemeClr val="bg1">
              <a:lumMod val="95000"/>
            </a:schemeClr>
          </a:solidFill>
        </p:spPr>
        <p:txBody>
          <a:bodyPr wrap="square" lIns="180000" tIns="180000" rIns="180000" bIns="180000">
            <a:noAutofit/>
          </a:bodyPr>
          <a:lstStyle/>
          <a:p>
            <a:pPr algn="ctr"/>
            <a:r>
              <a:rPr lang="en-GB" b="1" dirty="0">
                <a:latin typeface="Open Sans" panose="020B0606030504020204" pitchFamily="34" charset="0"/>
                <a:ea typeface="Open Sans" panose="020B0606030504020204" pitchFamily="34" charset="0"/>
                <a:cs typeface="Open Sans" panose="020B0606030504020204" pitchFamily="34" charset="0"/>
              </a:rPr>
              <a:t>Exit Pass</a:t>
            </a:r>
          </a:p>
          <a:p>
            <a:pPr marL="342900" indent="-342900" algn="just">
              <a:spcAft>
                <a:spcPts val="1200"/>
              </a:spcAft>
              <a:buFont typeface="+mj-lt"/>
              <a:buAutoNum type="arabicPeriod"/>
            </a:pPr>
            <a:r>
              <a:rPr lang="en-GB" u="sng" dirty="0">
                <a:latin typeface="Open Sans" panose="020B0606030504020204" pitchFamily="34" charset="0"/>
                <a:ea typeface="Open Sans" panose="020B0606030504020204" pitchFamily="34" charset="0"/>
                <a:cs typeface="Open Sans" panose="020B0606030504020204" pitchFamily="34" charset="0"/>
              </a:rPr>
              <a:t>								</a:t>
            </a:r>
          </a:p>
          <a:p>
            <a:pPr marL="342900" indent="-342900" algn="just">
              <a:spcAft>
                <a:spcPts val="1200"/>
              </a:spcAft>
              <a:buFont typeface="+mj-lt"/>
              <a:buAutoNum type="arabicPeriod"/>
            </a:pPr>
            <a:r>
              <a:rPr lang="en-GB" u="sng" dirty="0">
                <a:latin typeface="Open Sans" panose="020B0606030504020204" pitchFamily="34" charset="0"/>
                <a:ea typeface="Open Sans" panose="020B0606030504020204" pitchFamily="34" charset="0"/>
                <a:cs typeface="Open Sans" panose="020B0606030504020204" pitchFamily="34" charset="0"/>
              </a:rPr>
              <a:t>								</a:t>
            </a:r>
          </a:p>
          <a:p>
            <a:pPr marL="342900" indent="-342900" algn="just">
              <a:spcAft>
                <a:spcPts val="1200"/>
              </a:spcAft>
              <a:buFont typeface="+mj-lt"/>
              <a:buAutoNum type="arabicPeriod"/>
            </a:pPr>
            <a:r>
              <a:rPr lang="en-GB" u="sng" dirty="0">
                <a:latin typeface="Open Sans" panose="020B0606030504020204" pitchFamily="34" charset="0"/>
                <a:ea typeface="Open Sans" panose="020B0606030504020204" pitchFamily="34" charset="0"/>
                <a:cs typeface="Open Sans" panose="020B0606030504020204" pitchFamily="34" charset="0"/>
              </a:rPr>
              <a:t>								</a:t>
            </a:r>
          </a:p>
          <a:p>
            <a:pPr marL="342900" indent="-342900" algn="just">
              <a:spcAft>
                <a:spcPts val="1200"/>
              </a:spcAft>
              <a:buFont typeface="+mj-lt"/>
              <a:buAutoNum type="arabicPeriod"/>
            </a:pPr>
            <a:r>
              <a:rPr lang="en-GB" u="sng" dirty="0">
                <a:latin typeface="Open Sans" panose="020B0606030504020204" pitchFamily="34" charset="0"/>
                <a:ea typeface="Open Sans" panose="020B0606030504020204" pitchFamily="34" charset="0"/>
                <a:cs typeface="Open Sans" panose="020B0606030504020204" pitchFamily="34" charset="0"/>
              </a:rPr>
              <a:t>								</a:t>
            </a:r>
          </a:p>
          <a:p>
            <a:pPr marL="342900" indent="-342900" algn="just">
              <a:spcAft>
                <a:spcPts val="1200"/>
              </a:spcAft>
              <a:buFont typeface="+mj-lt"/>
              <a:buAutoNum type="arabicPeriod"/>
            </a:pPr>
            <a:r>
              <a:rPr lang="en-GB" u="sng" dirty="0">
                <a:latin typeface="Open Sans" panose="020B0606030504020204" pitchFamily="34" charset="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881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p:nvSpPr>
        <p:spPr>
          <a:xfrm>
            <a:off x="3767328" y="3099816"/>
            <a:ext cx="1627632" cy="658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609D5ED6-341D-4640-A2F0-759B9D02BE57}" vid="{2DF60B07-4D9C-4F6F-8255-221FE77A23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Beyond - English PowerPoint Template</Template>
  <TotalTime>96</TotalTime>
  <Words>828</Words>
  <Application>Microsoft Office PowerPoint</Application>
  <PresentationFormat>On-screen Show (4:3)</PresentationFormat>
  <Paragraphs>71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Arial</vt:lpstr>
      <vt:lpstr>Twinkl Light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Jade Pashley</dc:creator>
  <cp:lastModifiedBy>Jade Pashley</cp:lastModifiedBy>
  <cp:revision>12</cp:revision>
  <dcterms:created xsi:type="dcterms:W3CDTF">2020-01-20T11:10:16Z</dcterms:created>
  <dcterms:modified xsi:type="dcterms:W3CDTF">2020-01-20T14:49:12Z</dcterms:modified>
</cp:coreProperties>
</file>