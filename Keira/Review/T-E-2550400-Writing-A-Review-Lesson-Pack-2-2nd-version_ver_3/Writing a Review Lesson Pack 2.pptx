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13"/>
  </p:handoutMasterIdLst>
  <p:sldIdLst>
    <p:sldId id="256" r:id="rId2"/>
    <p:sldId id="266" r:id="rId3"/>
    <p:sldId id="267" r:id="rId4"/>
    <p:sldId id="268" r:id="rId5"/>
    <p:sldId id="269" r:id="rId6"/>
    <p:sldId id="275" r:id="rId7"/>
    <p:sldId id="276" r:id="rId8"/>
    <p:sldId id="272" r:id="rId9"/>
    <p:sldId id="273" r:id="rId10"/>
    <p:sldId id="274" r:id="rId11"/>
    <p:sldId id="258" r:id="rId12"/>
  </p:sldIdLst>
  <p:sldSz cx="9144000" cy="6858000" type="screen4x3"/>
  <p:notesSz cx="6858000" cy="9144000"/>
  <p:embeddedFontLs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Twinkl Light" pitchFamily="2" charset="0"/>
      <p:regular r:id="rId22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9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488" userDrawn="1">
          <p15:clr>
            <a:srgbClr val="A4A3A4"/>
          </p15:clr>
        </p15:guide>
        <p15:guide id="4" pos="272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orient="horz" pos="4042" userDrawn="1">
          <p15:clr>
            <a:srgbClr val="A4A3A4"/>
          </p15:clr>
        </p15:guide>
        <p15:guide id="7" userDrawn="1">
          <p15:clr>
            <a:srgbClr val="A4A3A4"/>
          </p15:clr>
        </p15:guide>
        <p15:guide id="8" pos="5760" userDrawn="1">
          <p15:clr>
            <a:srgbClr val="A4A3A4"/>
          </p15:clr>
        </p15:guide>
        <p15:guide id="9" orient="horz" userDrawn="1">
          <p15:clr>
            <a:srgbClr val="A4A3A4"/>
          </p15:clr>
        </p15:guide>
        <p15:guide id="10" orient="horz" pos="4320" userDrawn="1">
          <p15:clr>
            <a:srgbClr val="A4A3A4"/>
          </p15:clr>
        </p15:guide>
        <p15:guide id="12" orient="horz" pos="686" userDrawn="1">
          <p15:clr>
            <a:srgbClr val="A4A3A4"/>
          </p15:clr>
        </p15:guide>
        <p15:guide id="13" orient="horz" pos="867" userDrawn="1">
          <p15:clr>
            <a:srgbClr val="A4A3A4"/>
          </p15:clr>
        </p15:guide>
        <p15:guide id="14" orient="horz" pos="2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6A70"/>
    <a:srgbClr val="E8DEA2"/>
    <a:srgbClr val="E1D487"/>
    <a:srgbClr val="E3F4F9"/>
    <a:srgbClr val="F1F4F5"/>
    <a:srgbClr val="384A4E"/>
    <a:srgbClr val="19596C"/>
    <a:srgbClr val="BEE4F0"/>
    <a:srgbClr val="237D99"/>
    <a:srgbClr val="3E69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6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668" y="96"/>
      </p:cViewPr>
      <p:guideLst>
        <p:guide orient="horz" pos="459"/>
        <p:guide pos="2880"/>
        <p:guide pos="5488"/>
        <p:guide pos="272"/>
        <p:guide orient="horz" pos="2160"/>
        <p:guide orient="horz" pos="4042"/>
        <p:guide/>
        <p:guide pos="5760"/>
        <p:guide orient="horz"/>
        <p:guide orient="horz" pos="4320"/>
        <p:guide orient="horz" pos="686"/>
        <p:guide orient="horz" pos="867"/>
        <p:guide orient="horz" pos="27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0" d="100"/>
          <a:sy n="90" d="100"/>
        </p:scale>
        <p:origin x="369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E23B0-7AFB-419F-88ED-9863E094EC0D}" type="datetimeFigureOut">
              <a:rPr lang="en-GB" smtClean="0"/>
              <a:t>19/06/2020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15618-F096-47F9-A2E0-5659E59688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240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%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" y="0"/>
            <a:ext cx="9137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96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%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" y="0"/>
            <a:ext cx="9137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557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%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" y="0"/>
            <a:ext cx="9137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298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%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" y="0"/>
            <a:ext cx="9137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39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%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" y="0"/>
            <a:ext cx="9137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45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%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" y="0"/>
            <a:ext cx="9137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60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064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75463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FC5A4305-8538-4AC5-A69B-BA0518FA21B2}" type="datetimeFigureOut">
              <a:rPr lang="en-GB"/>
              <a:pPr>
                <a:defRPr/>
              </a:pPr>
              <a:t>19/06/2020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7" r:id="rId2"/>
    <p:sldLayoutId id="2147483712" r:id="rId3"/>
    <p:sldLayoutId id="2147483713" r:id="rId4"/>
    <p:sldLayoutId id="2147483716" r:id="rId5"/>
    <p:sldLayoutId id="2147483714" r:id="rId6"/>
    <p:sldLayoutId id="2147483715" r:id="rId7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inkl.co.uk/resources/keystage3-ks3/keystage3-ks3-english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inkl.co.uk/resources/keystage3-ks3/keystage3-ks3-english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 bwMode="auto">
          <a:xfrm>
            <a:off x="1653441" y="2065210"/>
            <a:ext cx="5837115" cy="2173581"/>
          </a:xfrm>
          <a:prstGeom prst="rect">
            <a:avLst/>
          </a:prstGeom>
          <a:noFill/>
          <a:ln w="1905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720000" tIns="360000" rIns="720000" bIns="360000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en-GB" altLang="en-US" sz="2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English Language: </a:t>
            </a:r>
            <a:br>
              <a:rPr lang="en-GB" altLang="en-US" sz="2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altLang="en-US" sz="28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Transactional Writing</a:t>
            </a:r>
            <a:endParaRPr lang="en-GB" altLang="en-US" sz="2800" dirty="0">
              <a:solidFill>
                <a:schemeClr val="bg1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altLang="en-US" sz="28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Review Writing Lesson 2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2312377" y="3335960"/>
            <a:ext cx="456320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hlinkClick r:id="rId3"/>
          </p:cNvPr>
          <p:cNvSpPr/>
          <p:nvPr/>
        </p:nvSpPr>
        <p:spPr>
          <a:xfrm>
            <a:off x="3798277" y="5644662"/>
            <a:ext cx="1556238" cy="5627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 bwMode="auto">
          <a:xfrm>
            <a:off x="479426" y="1013337"/>
            <a:ext cx="8196263" cy="1510056"/>
          </a:xfrm>
          <a:prstGeom prst="roundRect">
            <a:avLst>
              <a:gd name="adj" fmla="val 0"/>
            </a:avLst>
          </a:prstGeom>
          <a:solidFill>
            <a:srgbClr val="F1F4F5">
              <a:alpha val="94902"/>
            </a:srgbClr>
          </a:solidFill>
          <a:ln w="254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solidFill>
                  <a:prstClr val="white"/>
                </a:solidFill>
                <a:latin typeface="Twinkl Light" pitchFamily="2" charset="0"/>
              </a:rPr>
              <a:t> </a:t>
            </a:r>
          </a:p>
        </p:txBody>
      </p:sp>
      <p:sp>
        <p:nvSpPr>
          <p:cNvPr id="11" name="Rounded Rectangle 10"/>
          <p:cNvSpPr/>
          <p:nvPr/>
        </p:nvSpPr>
        <p:spPr bwMode="auto">
          <a:xfrm>
            <a:off x="479426" y="2992164"/>
            <a:ext cx="8196263" cy="2317389"/>
          </a:xfrm>
          <a:prstGeom prst="roundRect">
            <a:avLst>
              <a:gd name="adj" fmla="val 0"/>
            </a:avLst>
          </a:prstGeom>
          <a:solidFill>
            <a:srgbClr val="F1F4F5">
              <a:alpha val="94902"/>
            </a:srgbClr>
          </a:solidFill>
          <a:ln w="2540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solidFill>
                  <a:prstClr val="white"/>
                </a:solidFill>
                <a:latin typeface="Twinkl Light" pitchFamily="2" charset="0"/>
              </a:rPr>
              <a:t> </a:t>
            </a:r>
          </a:p>
        </p:txBody>
      </p:sp>
      <p:sp>
        <p:nvSpPr>
          <p:cNvPr id="12" name="Content Placeholder 15"/>
          <p:cNvSpPr txBox="1">
            <a:spLocks/>
          </p:cNvSpPr>
          <p:nvPr/>
        </p:nvSpPr>
        <p:spPr bwMode="auto">
          <a:xfrm>
            <a:off x="684212" y="3835741"/>
            <a:ext cx="7775575" cy="1004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altLang="en-US" dirty="0">
                <a:solidFill>
                  <a:srgbClr val="1C1C1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identify modal verbs and understand how they are used.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altLang="en-US" dirty="0">
                <a:solidFill>
                  <a:srgbClr val="1C1C1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understand how to use review-specific techniques in my work.</a:t>
            </a:r>
          </a:p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altLang="en-US" dirty="0">
                <a:solidFill>
                  <a:srgbClr val="1C1C1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create a review using my knowledge of review writing features.</a:t>
            </a:r>
          </a:p>
        </p:txBody>
      </p:sp>
      <p:sp>
        <p:nvSpPr>
          <p:cNvPr id="13" name="Content Placeholder 15"/>
          <p:cNvSpPr txBox="1">
            <a:spLocks/>
          </p:cNvSpPr>
          <p:nvPr/>
        </p:nvSpPr>
        <p:spPr bwMode="auto">
          <a:xfrm>
            <a:off x="479425" y="1878101"/>
            <a:ext cx="8196263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lear Sans Light" panose="020B03030302020203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 altLang="en-US" dirty="0">
                <a:solidFill>
                  <a:srgbClr val="1C1C1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use the features of review writing in my work.</a:t>
            </a:r>
            <a:endParaRPr lang="en-GB" altLang="en-US" i="1" dirty="0">
              <a:solidFill>
                <a:srgbClr val="1C1C1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Content Placeholder 15"/>
          <p:cNvSpPr txBox="1">
            <a:spLocks/>
          </p:cNvSpPr>
          <p:nvPr/>
        </p:nvSpPr>
        <p:spPr>
          <a:xfrm>
            <a:off x="479427" y="1108147"/>
            <a:ext cx="8196263" cy="696912"/>
          </a:xfrm>
          <a:prstGeom prst="rect">
            <a:avLst/>
          </a:prstGeom>
          <a:noFill/>
          <a:ln w="25400">
            <a:noFill/>
          </a:ln>
        </p:spPr>
        <p:txBody>
          <a:bodyPr lIns="252000" tIns="216000" rIns="252000" bIns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GB" sz="32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Learning Objective</a:t>
            </a:r>
          </a:p>
        </p:txBody>
      </p:sp>
      <p:sp>
        <p:nvSpPr>
          <p:cNvPr id="19" name="Content Placeholder 15"/>
          <p:cNvSpPr txBox="1">
            <a:spLocks/>
          </p:cNvSpPr>
          <p:nvPr/>
        </p:nvSpPr>
        <p:spPr>
          <a:xfrm>
            <a:off x="479427" y="3120077"/>
            <a:ext cx="8196263" cy="698500"/>
          </a:xfrm>
          <a:prstGeom prst="rect">
            <a:avLst/>
          </a:prstGeom>
          <a:noFill/>
          <a:ln w="25400">
            <a:noFill/>
          </a:ln>
        </p:spPr>
        <p:txBody>
          <a:bodyPr lIns="252000" tIns="216000" rIns="252000" bIns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GB" sz="32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Success Criteria</a:t>
            </a:r>
          </a:p>
        </p:txBody>
      </p:sp>
    </p:spTree>
    <p:extLst>
      <p:ext uri="{BB962C8B-B14F-4D97-AF65-F5344CB8AC3E}">
        <p14:creationId xmlns:p14="http://schemas.microsoft.com/office/powerpoint/2010/main" val="315429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0" y="576874"/>
            <a:ext cx="9144000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GB" sz="36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Starter Task</a:t>
            </a:r>
            <a:endParaRPr lang="en-GB" altLang="en-US" sz="3600" b="1" dirty="0">
              <a:solidFill>
                <a:srgbClr val="506A7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31800" y="3290501"/>
            <a:ext cx="5555762" cy="2769989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Draw a scale in your books with </a:t>
            </a:r>
            <a:r>
              <a:rPr lang="en-GB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least certain </a:t>
            </a: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one end and </a:t>
            </a:r>
            <a:r>
              <a:rPr lang="en-GB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most certain </a:t>
            </a: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other. </a:t>
            </a:r>
          </a:p>
          <a:p>
            <a:pPr algn="l">
              <a:spcAft>
                <a:spcPts val="1800"/>
              </a:spcAft>
            </a:pP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Order the verbs in terms of strength, from least to most certain.</a:t>
            </a:r>
          </a:p>
          <a:p>
            <a:pPr algn="l">
              <a:spcAft>
                <a:spcPts val="600"/>
              </a:spcAft>
            </a:pPr>
            <a:r>
              <a:rPr lang="en-GB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Extension</a:t>
            </a:r>
            <a:endParaRPr lang="en-GB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>
              <a:spcAft>
                <a:spcPts val="600"/>
              </a:spcAft>
            </a:pP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Explain how different modal verbs change the following sentence:</a:t>
            </a:r>
          </a:p>
          <a:p>
            <a:pPr algn="l">
              <a:spcAft>
                <a:spcPts val="600"/>
              </a:spcAft>
            </a:pPr>
            <a:r>
              <a:rPr lang="en-GB" sz="1800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film __________ appeal to a teenage audience.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87733"/>
            <a:ext cx="4572000" cy="1491141"/>
          </a:xfrm>
          <a:prstGeom prst="rect">
            <a:avLst/>
          </a:prstGeom>
          <a:solidFill>
            <a:srgbClr val="506A7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44000" tIns="144000" rIns="144000" bIns="144000">
            <a:spAutoFit/>
          </a:bodyPr>
          <a:lstStyle/>
          <a:p>
            <a:pPr algn="r"/>
            <a:r>
              <a:rPr lang="en-GB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modal verbs</a:t>
            </a:r>
          </a:p>
          <a:p>
            <a:pPr algn="r"/>
            <a:r>
              <a:rPr lang="en-GB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Modal verbs are used before another verb to express how possible or necessary it is.</a:t>
            </a:r>
            <a:endParaRPr lang="en-GB" sz="1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06307" y="1978269"/>
            <a:ext cx="1802422" cy="365405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506A70"/>
            </a:solidFill>
          </a:ln>
        </p:spPr>
        <p:txBody>
          <a:bodyPr wrap="square" lIns="108000" tIns="72000" rIns="108000" bIns="7200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GB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would</a:t>
            </a:r>
          </a:p>
          <a:p>
            <a:pPr algn="ctr">
              <a:spcAft>
                <a:spcPts val="1200"/>
              </a:spcAft>
            </a:pPr>
            <a:r>
              <a:rPr lang="en-GB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could</a:t>
            </a:r>
          </a:p>
          <a:p>
            <a:pPr algn="ctr">
              <a:spcAft>
                <a:spcPts val="1200"/>
              </a:spcAft>
            </a:pPr>
            <a:r>
              <a:rPr lang="en-GB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should</a:t>
            </a:r>
          </a:p>
          <a:p>
            <a:pPr algn="ctr">
              <a:spcAft>
                <a:spcPts val="1200"/>
              </a:spcAft>
            </a:pPr>
            <a:r>
              <a:rPr lang="en-GB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must</a:t>
            </a:r>
          </a:p>
          <a:p>
            <a:pPr algn="ctr">
              <a:spcAft>
                <a:spcPts val="1200"/>
              </a:spcAft>
            </a:pPr>
            <a:r>
              <a:rPr lang="en-GB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might</a:t>
            </a:r>
          </a:p>
          <a:p>
            <a:pPr algn="ctr">
              <a:spcAft>
                <a:spcPts val="1200"/>
              </a:spcAft>
            </a:pPr>
            <a:r>
              <a:rPr lang="en-GB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may</a:t>
            </a:r>
          </a:p>
          <a:p>
            <a:pPr algn="ctr">
              <a:spcAft>
                <a:spcPts val="1200"/>
              </a:spcAft>
            </a:pPr>
            <a:r>
              <a:rPr lang="en-GB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will</a:t>
            </a:r>
          </a:p>
        </p:txBody>
      </p:sp>
    </p:spTree>
    <p:extLst>
      <p:ext uri="{BB962C8B-B14F-4D97-AF65-F5344CB8AC3E}">
        <p14:creationId xmlns:p14="http://schemas.microsoft.com/office/powerpoint/2010/main" val="3137722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0" y="603250"/>
            <a:ext cx="9144000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GB" sz="36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Modal Verbs</a:t>
            </a:r>
            <a:endParaRPr lang="en-GB" altLang="en-US" sz="3600" b="1" dirty="0">
              <a:solidFill>
                <a:srgbClr val="506A7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31800" y="1298622"/>
            <a:ext cx="8280400" cy="723275"/>
          </a:xfrm>
          <a:prstGeom prst="rect">
            <a:avLst/>
          </a:prstGeom>
        </p:spPr>
        <p:txBody>
          <a:bodyPr lIns="0" r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Read the example review below. </a:t>
            </a:r>
          </a:p>
          <a:p>
            <a:pPr algn="l">
              <a:spcAft>
                <a:spcPts val="600"/>
              </a:spcAft>
            </a:pP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you identify the modal verbs being used? 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9527" y="2215386"/>
            <a:ext cx="6944946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506A70"/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driving scenes are littered with ludicrous slow-motion pans and zooms when they should be a frenzy of fast, kinetic action. The races, which could have been exhilarating, are too often slowed down by this stop-start approach. Throw in poor CGI and over-the-top rap music and you have</a:t>
            </a:r>
            <a:r>
              <a:rPr lang="en-GB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Revved and Ready. S</a:t>
            </a:r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ome might consider cartoons more realistic!</a:t>
            </a:r>
            <a:r>
              <a:rPr lang="en-GB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endParaRPr lang="en-GB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things considered, </a:t>
            </a:r>
            <a:r>
              <a:rPr lang="en-GB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Revved and Ready </a:t>
            </a:r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should have challenged the </a:t>
            </a:r>
            <a:r>
              <a:rPr lang="en-GB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 and Furious </a:t>
            </a:r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franchise</a:t>
            </a:r>
            <a:r>
              <a:rPr lang="en-GB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first place. It could still race, but it will never take the lead.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130" y="4816137"/>
            <a:ext cx="5064369" cy="128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26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0" y="603250"/>
            <a:ext cx="9144000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GB" sz="36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 Puns!</a:t>
            </a:r>
            <a:endParaRPr lang="en-GB" altLang="en-US" sz="3600" b="1" dirty="0">
              <a:solidFill>
                <a:srgbClr val="506A7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31800" y="1298622"/>
            <a:ext cx="8280400" cy="1200329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Film reviews have an entertaining tone that makes </a:t>
            </a:r>
            <a:b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them fun and interesting to read. </a:t>
            </a:r>
          </a:p>
          <a:p>
            <a:pPr algn="l"/>
            <a:endParaRPr lang="en-GB" sz="1800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18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example:</a:t>
            </a:r>
          </a:p>
        </p:txBody>
      </p:sp>
      <p:sp>
        <p:nvSpPr>
          <p:cNvPr id="4" name="Rectangle 3"/>
          <p:cNvSpPr/>
          <p:nvPr/>
        </p:nvSpPr>
        <p:spPr>
          <a:xfrm rot="20660347">
            <a:off x="634673" y="3443420"/>
            <a:ext cx="2244871" cy="1049106"/>
          </a:xfrm>
          <a:prstGeom prst="rect">
            <a:avLst/>
          </a:prstGeom>
          <a:solidFill>
            <a:schemeClr val="bg1"/>
          </a:solidFill>
          <a:ln w="19050">
            <a:solidFill>
              <a:srgbClr val="506A70"/>
            </a:solidFill>
          </a:ln>
        </p:spPr>
        <p:txBody>
          <a:bodyPr wrap="square" lIns="108000" tIns="108000" rIns="108000" bIns="108000">
            <a:spAutoFit/>
          </a:bodyPr>
          <a:lstStyle/>
          <a:p>
            <a:pPr algn="ctr"/>
            <a:r>
              <a:rPr lang="en-GB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Toy Story </a:t>
            </a:r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will take you to infinity </a:t>
            </a:r>
            <a:b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beyond!</a:t>
            </a:r>
          </a:p>
        </p:txBody>
      </p:sp>
      <p:sp>
        <p:nvSpPr>
          <p:cNvPr id="5" name="Rectangle 4"/>
          <p:cNvSpPr/>
          <p:nvPr/>
        </p:nvSpPr>
        <p:spPr>
          <a:xfrm rot="812649">
            <a:off x="6290146" y="3429000"/>
            <a:ext cx="2138029" cy="1049106"/>
          </a:xfrm>
          <a:prstGeom prst="rect">
            <a:avLst/>
          </a:prstGeom>
          <a:solidFill>
            <a:schemeClr val="bg1"/>
          </a:solidFill>
          <a:ln w="19050">
            <a:solidFill>
              <a:srgbClr val="506A70"/>
            </a:solidFill>
          </a:ln>
        </p:spPr>
        <p:txBody>
          <a:bodyPr wrap="square" lIns="108000" tIns="108000" rIns="108000" bIns="108000">
            <a:spAutoFit/>
          </a:bodyPr>
          <a:lstStyle/>
          <a:p>
            <a:pPr algn="ctr"/>
            <a:r>
              <a:rPr lang="en-GB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 and Furious </a:t>
            </a:r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will quickly make your blood boil!</a:t>
            </a:r>
          </a:p>
        </p:txBody>
      </p:sp>
      <p:sp>
        <p:nvSpPr>
          <p:cNvPr id="6" name="Rectangle 5"/>
          <p:cNvSpPr/>
          <p:nvPr/>
        </p:nvSpPr>
        <p:spPr>
          <a:xfrm>
            <a:off x="3212839" y="2695367"/>
            <a:ext cx="2718322" cy="1049106"/>
          </a:xfrm>
          <a:prstGeom prst="rect">
            <a:avLst/>
          </a:prstGeom>
          <a:solidFill>
            <a:schemeClr val="bg1"/>
          </a:solidFill>
          <a:ln w="19050">
            <a:solidFill>
              <a:srgbClr val="506A70"/>
            </a:solidFill>
          </a:ln>
        </p:spPr>
        <p:txBody>
          <a:bodyPr wrap="square" lIns="108000" tIns="108000" rIns="108000" bIns="10800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You’ll have an </a:t>
            </a:r>
            <a:r>
              <a:rPr lang="en-GB" dirty="0" err="1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abba-solutely</a:t>
            </a:r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fantastic time watching </a:t>
            </a:r>
            <a:r>
              <a:rPr lang="en-GB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Mamma Mia</a:t>
            </a:r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!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8654" y="5147187"/>
            <a:ext cx="6088184" cy="6463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en-GB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turn: </a:t>
            </a:r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puns for some of your favourite films and be ready to share them!</a:t>
            </a:r>
          </a:p>
        </p:txBody>
      </p:sp>
    </p:spTree>
    <p:extLst>
      <p:ext uri="{BB962C8B-B14F-4D97-AF65-F5344CB8AC3E}">
        <p14:creationId xmlns:p14="http://schemas.microsoft.com/office/powerpoint/2010/main" val="1092402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0" y="603250"/>
            <a:ext cx="9144000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GB" sz="36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Meaningful Metaphors!</a:t>
            </a:r>
            <a:endParaRPr lang="en-GB" altLang="en-US" sz="3600" b="1" dirty="0">
              <a:solidFill>
                <a:srgbClr val="506A7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31800" y="1298622"/>
            <a:ext cx="8280400" cy="1200329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Metaphors can be a sophisticated way to let the </a:t>
            </a:r>
            <a:b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reader know what the review is about!</a:t>
            </a:r>
          </a:p>
          <a:p>
            <a:endParaRPr lang="en-GB" sz="1800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18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example:</a:t>
            </a:r>
          </a:p>
        </p:txBody>
      </p:sp>
      <p:sp>
        <p:nvSpPr>
          <p:cNvPr id="4" name="Rectangle 3"/>
          <p:cNvSpPr/>
          <p:nvPr/>
        </p:nvSpPr>
        <p:spPr>
          <a:xfrm rot="20660347">
            <a:off x="739531" y="3429000"/>
            <a:ext cx="2138029" cy="1049106"/>
          </a:xfrm>
          <a:prstGeom prst="rect">
            <a:avLst/>
          </a:prstGeom>
          <a:solidFill>
            <a:schemeClr val="bg1"/>
          </a:solidFill>
          <a:ln w="19050">
            <a:solidFill>
              <a:srgbClr val="506A70"/>
            </a:solidFill>
          </a:ln>
        </p:spPr>
        <p:txBody>
          <a:bodyPr wrap="square" lIns="108000" tIns="108000" rIns="108000" bIns="10800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is a rollercoaster ride of emotions. </a:t>
            </a:r>
          </a:p>
        </p:txBody>
      </p:sp>
      <p:sp>
        <p:nvSpPr>
          <p:cNvPr id="5" name="Rectangle 4"/>
          <p:cNvSpPr/>
          <p:nvPr/>
        </p:nvSpPr>
        <p:spPr>
          <a:xfrm rot="812649">
            <a:off x="6290146" y="3429000"/>
            <a:ext cx="2138029" cy="1049106"/>
          </a:xfrm>
          <a:prstGeom prst="rect">
            <a:avLst/>
          </a:prstGeom>
          <a:solidFill>
            <a:schemeClr val="bg1"/>
          </a:solidFill>
          <a:ln w="19050">
            <a:solidFill>
              <a:srgbClr val="506A70"/>
            </a:solidFill>
          </a:ln>
        </p:spPr>
        <p:txBody>
          <a:bodyPr wrap="square" lIns="108000" tIns="108000" rIns="108000" bIns="10800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superheroes exploded on to our screens.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85" y="2695367"/>
            <a:ext cx="2194430" cy="1049106"/>
          </a:xfrm>
          <a:prstGeom prst="rect">
            <a:avLst/>
          </a:prstGeom>
          <a:solidFill>
            <a:schemeClr val="bg1"/>
          </a:solidFill>
          <a:ln w="19050">
            <a:solidFill>
              <a:srgbClr val="506A70"/>
            </a:solidFill>
          </a:ln>
        </p:spPr>
        <p:txBody>
          <a:bodyPr wrap="square" lIns="108000" tIns="108000" rIns="108000" bIns="108000">
            <a:spAutoFit/>
          </a:bodyPr>
          <a:lstStyle/>
          <a:p>
            <a:pPr algn="ctr"/>
            <a:r>
              <a:rPr lang="en-GB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Monsters Inc. </a:t>
            </a:r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will consume you in seconds!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8654" y="5507672"/>
            <a:ext cx="6088184" cy="6463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en-GB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turn: </a:t>
            </a:r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 metaphors you could use for some of your favourite films and be ready to share them!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8706" y="4222653"/>
            <a:ext cx="2190509" cy="1049106"/>
          </a:xfrm>
          <a:prstGeom prst="rect">
            <a:avLst/>
          </a:prstGeom>
          <a:solidFill>
            <a:schemeClr val="bg1"/>
          </a:solidFill>
          <a:ln w="19050">
            <a:solidFill>
              <a:srgbClr val="506A70"/>
            </a:solidFill>
          </a:ln>
        </p:spPr>
        <p:txBody>
          <a:bodyPr wrap="square" lIns="108000" tIns="108000" rIns="108000" bIns="10800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film is a sandy beach on a beautiful day.</a:t>
            </a:r>
          </a:p>
        </p:txBody>
      </p:sp>
    </p:spTree>
    <p:extLst>
      <p:ext uri="{BB962C8B-B14F-4D97-AF65-F5344CB8AC3E}">
        <p14:creationId xmlns:p14="http://schemas.microsoft.com/office/powerpoint/2010/main" val="324232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0" y="603250"/>
            <a:ext cx="9144000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GB" sz="36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Entertaining Extras</a:t>
            </a:r>
            <a:endParaRPr lang="en-GB" altLang="en-US" sz="3600" b="1" dirty="0">
              <a:solidFill>
                <a:srgbClr val="506A7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31800" y="1298622"/>
            <a:ext cx="8280400" cy="1200329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Embedded clauses can be used to add extra </a:t>
            </a:r>
            <a:b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detail to your sentences about the films.</a:t>
            </a:r>
          </a:p>
          <a:p>
            <a:pPr algn="l"/>
            <a:endParaRPr lang="en-GB" sz="1800" dirty="0">
              <a:solidFill>
                <a:srgbClr val="0070C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18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example:</a:t>
            </a:r>
          </a:p>
        </p:txBody>
      </p:sp>
      <p:sp>
        <p:nvSpPr>
          <p:cNvPr id="4" name="Rectangle 3"/>
          <p:cNvSpPr/>
          <p:nvPr/>
        </p:nvSpPr>
        <p:spPr>
          <a:xfrm>
            <a:off x="730737" y="3520824"/>
            <a:ext cx="3731942" cy="1049106"/>
          </a:xfrm>
          <a:prstGeom prst="rect">
            <a:avLst/>
          </a:prstGeom>
          <a:solidFill>
            <a:schemeClr val="bg1"/>
          </a:solidFill>
          <a:ln w="19050">
            <a:solidFill>
              <a:srgbClr val="506A70"/>
            </a:solidFill>
          </a:ln>
        </p:spPr>
        <p:txBody>
          <a:bodyPr wrap="square" lIns="108000" tIns="108000" rIns="108000" bIns="10800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Ryan Reynolds, who has previously starred in comedies, brings his humour to </a:t>
            </a:r>
            <a:r>
              <a:rPr lang="en-GB" b="1" dirty="0" err="1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Deadpool</a:t>
            </a:r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677509" y="3518858"/>
            <a:ext cx="3744546" cy="1049106"/>
          </a:xfrm>
          <a:prstGeom prst="rect">
            <a:avLst/>
          </a:prstGeom>
          <a:solidFill>
            <a:schemeClr val="bg1"/>
          </a:solidFill>
          <a:ln w="19050">
            <a:solidFill>
              <a:srgbClr val="506A70"/>
            </a:solidFill>
          </a:ln>
        </p:spPr>
        <p:txBody>
          <a:bodyPr wrap="square" lIns="108000" tIns="108000" rIns="108000" bIns="10800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previous instalment, which came out last summer, took cinemas by storm. </a:t>
            </a:r>
          </a:p>
        </p:txBody>
      </p:sp>
      <p:sp>
        <p:nvSpPr>
          <p:cNvPr id="6" name="Rectangle 5"/>
          <p:cNvSpPr/>
          <p:nvPr/>
        </p:nvSpPr>
        <p:spPr>
          <a:xfrm>
            <a:off x="2916473" y="2273336"/>
            <a:ext cx="3311053" cy="1049106"/>
          </a:xfrm>
          <a:prstGeom prst="rect">
            <a:avLst/>
          </a:prstGeom>
          <a:solidFill>
            <a:schemeClr val="bg1"/>
          </a:solidFill>
          <a:ln w="19050">
            <a:solidFill>
              <a:srgbClr val="506A70"/>
            </a:solidFill>
          </a:ln>
        </p:spPr>
        <p:txBody>
          <a:bodyPr wrap="square" lIns="108000" tIns="108000" rIns="108000" bIns="108000">
            <a:spAutoFit/>
          </a:bodyPr>
          <a:lstStyle/>
          <a:p>
            <a:pPr algn="ctr"/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director, responsible for </a:t>
            </a:r>
            <a:r>
              <a:rPr lang="en-GB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Jaws</a:t>
            </a:r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</a:t>
            </a:r>
            <a:r>
              <a:rPr lang="en-GB" b="1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Jurassic Park</a:t>
            </a:r>
            <a:r>
              <a:rPr lang="en-GB" dirty="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has released another hit.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1800" y="4827996"/>
            <a:ext cx="8280400" cy="1708160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</a:pPr>
            <a:r>
              <a:rPr lang="en-GB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Your turn: </a:t>
            </a:r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more detail to one of the sentences below with an embedded clause. Don’t forget your commas!</a:t>
            </a:r>
          </a:p>
          <a:p>
            <a:pPr>
              <a:spcAft>
                <a:spcPts val="600"/>
              </a:spcAft>
            </a:pPr>
            <a:r>
              <a:rPr lang="en-GB" b="1" dirty="0" err="1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Gnomeo</a:t>
            </a:r>
            <a:r>
              <a:rPr lang="en-GB" b="1" dirty="0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and Juliet </a:t>
            </a:r>
            <a:r>
              <a:rPr lang="en-GB" dirty="0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a modern day love story</a:t>
            </a:r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Leonardo DiCaprio stars as the hero of the film. </a:t>
            </a:r>
          </a:p>
          <a:p>
            <a:pPr>
              <a:spcAft>
                <a:spcPts val="600"/>
              </a:spcAft>
            </a:pPr>
            <a:r>
              <a:rPr lang="en-GB" dirty="0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Audiences have been disappointed with the film. </a:t>
            </a:r>
          </a:p>
        </p:txBody>
      </p:sp>
    </p:spTree>
    <p:extLst>
      <p:ext uri="{BB962C8B-B14F-4D97-AF65-F5344CB8AC3E}">
        <p14:creationId xmlns:p14="http://schemas.microsoft.com/office/powerpoint/2010/main" val="72948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0" y="260760"/>
            <a:ext cx="9144000" cy="62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GB" sz="36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Apply Your Knowledge!</a:t>
            </a:r>
            <a:endParaRPr lang="en-GB" altLang="en-US" sz="3600" b="1" dirty="0">
              <a:solidFill>
                <a:srgbClr val="506A7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31800" y="894760"/>
            <a:ext cx="8280400" cy="646331"/>
          </a:xfrm>
          <a:prstGeom prst="rect">
            <a:avLst/>
          </a:prstGeom>
        </p:spPr>
        <p:txBody>
          <a:bodyPr lIns="0" r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Write your own review about a film you have seen recently that you enjoyed!</a:t>
            </a:r>
          </a:p>
          <a:p>
            <a:pPr algn="l"/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Make sure you use your success criteria list to help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431802" y="1692467"/>
            <a:ext cx="3533530" cy="162273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506A70"/>
            </a:solidFill>
          </a:ln>
        </p:spPr>
        <p:txBody>
          <a:bodyPr wrap="square" lIns="72000" tIns="72000" rIns="72000" bIns="72000">
            <a:spAutoFit/>
          </a:bodyPr>
          <a:lstStyle/>
          <a:p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Introduction: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Overview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Reception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are critics saying?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Factual detail about director/</a:t>
            </a:r>
            <a:b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earnings and other film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80791" y="1692467"/>
            <a:ext cx="4141179" cy="13765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506A70"/>
            </a:solidFill>
          </a:ln>
        </p:spPr>
        <p:txBody>
          <a:bodyPr wrap="square" lIns="72000" tIns="72000" rIns="72000" bIns="72000">
            <a:spAutoFit/>
          </a:bodyPr>
          <a:lstStyle/>
          <a:p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Plot: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Rough story line (don’t give the ending away)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events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Rhetorical questions to build suspense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5331" y="3616065"/>
            <a:ext cx="4746869" cy="11302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506A70"/>
            </a:solidFill>
          </a:ln>
        </p:spPr>
        <p:txBody>
          <a:bodyPr wrap="square" lIns="72000" tIns="72000" rIns="72000" bIns="72000">
            <a:spAutoFit/>
          </a:bodyPr>
          <a:lstStyle/>
          <a:p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Plot 2: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 characters (hero, villain, love interest etc.)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Show off your AFOREST skills: list of three, alliteration and exaggeration are key!</a:t>
            </a:r>
          </a:p>
        </p:txBody>
      </p:sp>
      <p:sp>
        <p:nvSpPr>
          <p:cNvPr id="7" name="Rectangle 6"/>
          <p:cNvSpPr/>
          <p:nvPr/>
        </p:nvSpPr>
        <p:spPr>
          <a:xfrm>
            <a:off x="5732096" y="5286385"/>
            <a:ext cx="2988408" cy="11302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506A70"/>
            </a:solidFill>
          </a:ln>
        </p:spPr>
        <p:txBody>
          <a:bodyPr wrap="square" lIns="72000" tIns="72000" rIns="72000" bIns="72000">
            <a:spAutoFit/>
          </a:bodyPr>
          <a:lstStyle/>
          <a:p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Character/actor performance: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good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bad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Award nominations etc.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799" y="5282156"/>
            <a:ext cx="4687645" cy="11302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506A70"/>
            </a:solidFill>
          </a:ln>
        </p:spPr>
        <p:txBody>
          <a:bodyPr wrap="square" lIns="72000" tIns="72000" rIns="72000" bIns="72000">
            <a:spAutoFit/>
          </a:bodyPr>
          <a:lstStyle/>
          <a:p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Overall opinion: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Avoid ‘I’ (‘Families will love this action-packed adventure!’)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Summarise using outstanding noun phrases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35669" y="2279611"/>
            <a:ext cx="474785" cy="252574"/>
          </a:xfrm>
          <a:prstGeom prst="rightArrow">
            <a:avLst/>
          </a:prstGeom>
          <a:solidFill>
            <a:srgbClr val="506A7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ight Arrow 13"/>
          <p:cNvSpPr/>
          <p:nvPr/>
        </p:nvSpPr>
        <p:spPr>
          <a:xfrm rot="5400000">
            <a:off x="6925946" y="4892755"/>
            <a:ext cx="380175" cy="243002"/>
          </a:xfrm>
          <a:prstGeom prst="rightArrow">
            <a:avLst/>
          </a:prstGeom>
          <a:solidFill>
            <a:srgbClr val="506A7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Arrow 15"/>
          <p:cNvSpPr/>
          <p:nvPr/>
        </p:nvSpPr>
        <p:spPr>
          <a:xfrm rot="10800000">
            <a:off x="5188376" y="5750416"/>
            <a:ext cx="474785" cy="245937"/>
          </a:xfrm>
          <a:prstGeom prst="rightArrow">
            <a:avLst/>
          </a:prstGeom>
          <a:solidFill>
            <a:srgbClr val="506A7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0" y="3698514"/>
            <a:ext cx="3296139" cy="1200329"/>
          </a:xfrm>
          <a:prstGeom prst="rect">
            <a:avLst/>
          </a:prstGeom>
          <a:solidFill>
            <a:srgbClr val="E8DEA2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Paragraph length should be varied for effect.</a:t>
            </a:r>
          </a:p>
          <a:p>
            <a:pPr algn="ctr"/>
            <a:r>
              <a:rPr lang="en-GB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1.5 pages minimum!</a:t>
            </a:r>
          </a:p>
          <a:p>
            <a:pPr algn="ctr"/>
            <a:r>
              <a:rPr lang="en-GB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Pack a punch with AFOREST!</a:t>
            </a:r>
          </a:p>
        </p:txBody>
      </p:sp>
      <p:sp>
        <p:nvSpPr>
          <p:cNvPr id="19" name="Right Arrow 18"/>
          <p:cNvSpPr/>
          <p:nvPr/>
        </p:nvSpPr>
        <p:spPr>
          <a:xfrm rot="5400000">
            <a:off x="6930340" y="3224552"/>
            <a:ext cx="380175" cy="243002"/>
          </a:xfrm>
          <a:prstGeom prst="rightArrow">
            <a:avLst/>
          </a:prstGeom>
          <a:solidFill>
            <a:srgbClr val="506A7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283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431800" y="603250"/>
            <a:ext cx="4939009" cy="1164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en-GB" sz="36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Checkpoint: Peer Assessment</a:t>
            </a:r>
            <a:endParaRPr lang="en-GB" altLang="en-US" sz="3600" b="1" dirty="0">
              <a:solidFill>
                <a:srgbClr val="506A7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31800" y="1859339"/>
            <a:ext cx="4403969" cy="3139321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Swap your work with someone sitting near to you or next to you. </a:t>
            </a:r>
          </a:p>
          <a:p>
            <a:pPr algn="l"/>
            <a:endParaRPr lang="en-GB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Highlight and label any review writing features you can see being used. </a:t>
            </a:r>
          </a:p>
          <a:p>
            <a:pPr algn="l"/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 one target for them to make their work even better.</a:t>
            </a:r>
          </a:p>
          <a:p>
            <a:pPr algn="l"/>
            <a:endParaRPr lang="en-GB" sz="1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l"/>
            <a:r>
              <a:rPr lang="en-GB" sz="1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Rapid Response!</a:t>
            </a:r>
          </a:p>
          <a:p>
            <a:pPr algn="l"/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Address your target straight away to make rapid progress!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809" y="0"/>
            <a:ext cx="37731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431800" y="603250"/>
            <a:ext cx="4939009" cy="1076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/>
            <a:r>
              <a:rPr lang="en-GB" sz="3600" b="1" dirty="0">
                <a:solidFill>
                  <a:srgbClr val="506A7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End Point: Self Assessment</a:t>
            </a:r>
            <a:endParaRPr lang="en-GB" altLang="en-US" sz="3600" b="1" dirty="0">
              <a:solidFill>
                <a:srgbClr val="506A7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31800" y="1951672"/>
            <a:ext cx="4245708" cy="1631216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1200"/>
              </a:spcAft>
            </a:pP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your Review Writing Knowledge Organiser to check your work. </a:t>
            </a:r>
          </a:p>
          <a:p>
            <a:pPr algn="l">
              <a:spcAft>
                <a:spcPts val="1200"/>
              </a:spcAft>
            </a:pPr>
            <a:r>
              <a:rPr lang="en-GB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Highlight any features from the Knowledge Organiser that you have used in your own work.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809" y="0"/>
            <a:ext cx="37731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46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3"/>
          </p:cNvPr>
          <p:cNvSpPr/>
          <p:nvPr/>
        </p:nvSpPr>
        <p:spPr>
          <a:xfrm>
            <a:off x="3798277" y="3147646"/>
            <a:ext cx="1556238" cy="5627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609D5ED6-341D-4640-A2F0-759B9D02BE57}" vid="{2DF60B07-4D9C-4F6F-8255-221FE77A23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Beyond - English PowerPoint Template</Template>
  <TotalTime>304</TotalTime>
  <Words>709</Words>
  <Application>Microsoft Office PowerPoint</Application>
  <PresentationFormat>On-screen Show (4:3)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Open Sans</vt:lpstr>
      <vt:lpstr>Calibri</vt:lpstr>
      <vt:lpstr>Arial</vt:lpstr>
      <vt:lpstr>Twinkl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Jade Pashley</dc:creator>
  <cp:lastModifiedBy>Jade Pashley</cp:lastModifiedBy>
  <cp:revision>17</cp:revision>
  <dcterms:created xsi:type="dcterms:W3CDTF">2020-05-21T08:58:13Z</dcterms:created>
  <dcterms:modified xsi:type="dcterms:W3CDTF">2020-06-19T13:44:47Z</dcterms:modified>
</cp:coreProperties>
</file>