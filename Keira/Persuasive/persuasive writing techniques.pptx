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4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pos="5420">
          <p15:clr>
            <a:srgbClr val="A4A3A4"/>
          </p15:clr>
        </p15:guide>
        <p15:guide id="6" orient="horz" pos="346">
          <p15:clr>
            <a:srgbClr val="A4A3A4"/>
          </p15:clr>
        </p15:guide>
        <p15:guide id="7" pos="476">
          <p15:clr>
            <a:srgbClr val="A4A3A4"/>
          </p15:clr>
        </p15:guide>
        <p15:guide id="8" orient="horz" pos="482">
          <p15:clr>
            <a:srgbClr val="A4A3A4"/>
          </p15:clr>
        </p15:guide>
        <p15:guide id="9" orient="horz" pos="3861">
          <p15:clr>
            <a:srgbClr val="A4A3A4"/>
          </p15:clr>
        </p15:guide>
        <p15:guide id="10" pos="5284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6" roundtripDataSignature="AMtx7mg7hXj4EFuzVXLjSdHDhxL8E/Jr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340"/>
        <p:guide pos="3974" orient="horz"/>
        <p:guide pos="5420"/>
        <p:guide pos="346" orient="horz"/>
        <p:guide pos="476"/>
        <p:guide pos="482" orient="horz"/>
        <p:guide pos="3861" orient="horz"/>
        <p:guide pos="528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3288" y="6196013"/>
            <a:ext cx="576262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/>
          <p:nvPr/>
        </p:nvSpPr>
        <p:spPr>
          <a:xfrm>
            <a:off x="457200" y="438150"/>
            <a:ext cx="8220075" cy="5957888"/>
          </a:xfrm>
          <a:prstGeom prst="roundRect">
            <a:avLst>
              <a:gd fmla="val 2649" name="adj"/>
            </a:avLst>
          </a:prstGeom>
          <a:solidFill>
            <a:schemeClr val="lt1">
              <a:alpha val="89803"/>
            </a:schemeClr>
          </a:solidFill>
          <a:ln cap="rnd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" name="Google Shape;16;p23"/>
          <p:cNvSpPr/>
          <p:nvPr>
            <p:ph type="title"/>
          </p:nvPr>
        </p:nvSpPr>
        <p:spPr>
          <a:xfrm>
            <a:off x="457198" y="478895"/>
            <a:ext cx="8220075" cy="994306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3288" y="6196013"/>
            <a:ext cx="576262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Box">
  <p:cSld name="Title Slide with Box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/>
          <p:nvPr/>
        </p:nvSpPr>
        <p:spPr>
          <a:xfrm>
            <a:off x="457200" y="438150"/>
            <a:ext cx="8220075" cy="5957888"/>
          </a:xfrm>
          <a:prstGeom prst="roundRect">
            <a:avLst>
              <a:gd fmla="val 2649" name="adj"/>
            </a:avLst>
          </a:prstGeom>
          <a:solidFill>
            <a:schemeClr val="lt1">
              <a:alpha val="89803"/>
            </a:schemeClr>
          </a:solidFill>
          <a:ln cap="rnd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1" name="Google Shape;2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72438" y="5734050"/>
            <a:ext cx="576262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ims Slide">
  <p:cSld name="Aims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/>
          <p:nvPr/>
        </p:nvSpPr>
        <p:spPr>
          <a:xfrm>
            <a:off x="503238" y="2930525"/>
            <a:ext cx="8137525" cy="3414713"/>
          </a:xfrm>
          <a:prstGeom prst="roundRect">
            <a:avLst>
              <a:gd fmla="val 6409" name="adj"/>
            </a:avLst>
          </a:prstGeom>
          <a:solidFill>
            <a:srgbClr val="FFF9E7"/>
          </a:solidFill>
          <a:ln cap="rnd" cmpd="sng" w="25400">
            <a:solidFill>
              <a:srgbClr val="FEFBD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4" name="Google Shape;24;p26"/>
          <p:cNvSpPr/>
          <p:nvPr/>
        </p:nvSpPr>
        <p:spPr>
          <a:xfrm>
            <a:off x="503238" y="512763"/>
            <a:ext cx="8137525" cy="2192337"/>
          </a:xfrm>
          <a:prstGeom prst="roundRect">
            <a:avLst>
              <a:gd fmla="val 6409" name="adj"/>
            </a:avLst>
          </a:prstGeom>
          <a:solidFill>
            <a:srgbClr val="FFF9E7"/>
          </a:solidFill>
          <a:ln cap="rnd" cmpd="sng" w="25400">
            <a:solidFill>
              <a:srgbClr val="FEFBD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5" name="Google Shape;25;p26"/>
          <p:cNvSpPr txBox="1"/>
          <p:nvPr/>
        </p:nvSpPr>
        <p:spPr>
          <a:xfrm>
            <a:off x="628650" y="3071813"/>
            <a:ext cx="7886700" cy="53975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endParaRPr/>
          </a:p>
        </p:txBody>
      </p:sp>
      <p:sp>
        <p:nvSpPr>
          <p:cNvPr id="26" name="Google Shape;26;p26"/>
          <p:cNvSpPr txBox="1"/>
          <p:nvPr/>
        </p:nvSpPr>
        <p:spPr>
          <a:xfrm>
            <a:off x="628650" y="735013"/>
            <a:ext cx="7886700" cy="53975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/>
          </a:p>
        </p:txBody>
      </p:sp>
      <p:sp>
        <p:nvSpPr>
          <p:cNvPr id="27" name="Google Shape;27;p26"/>
          <p:cNvSpPr txBox="1"/>
          <p:nvPr/>
        </p:nvSpPr>
        <p:spPr>
          <a:xfrm>
            <a:off x="628650" y="3467100"/>
            <a:ext cx="78867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252000" wrap="square" tIns="2520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Statement 1 Lorem ipsum dolor sit amet, consectetur adipiscing elit.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</a:pPr>
            <a:r>
              <a:rPr b="0" i="0" lang="en-GB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Statement 2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Sub statement</a:t>
            </a:r>
            <a:endParaRPr/>
          </a:p>
        </p:txBody>
      </p:sp>
      <p:sp>
        <p:nvSpPr>
          <p:cNvPr id="28" name="Google Shape;28;p26"/>
          <p:cNvSpPr/>
          <p:nvPr>
            <p:ph idx="1" type="body"/>
          </p:nvPr>
        </p:nvSpPr>
        <p:spPr>
          <a:xfrm>
            <a:off x="628650" y="1127760"/>
            <a:ext cx="7886700" cy="1409700"/>
          </a:xfrm>
          <a:prstGeom prst="roundRect">
            <a:avLst>
              <a:gd fmla="val 2583" name="adj"/>
            </a:avLst>
          </a:prstGeom>
          <a:noFill/>
          <a:ln>
            <a:noFill/>
          </a:ln>
        </p:spPr>
        <p:txBody>
          <a:bodyPr anchorCtr="0" anchor="t" bIns="252000" lIns="252000" spcFirstLastPara="1" rIns="252000" wrap="square" tIns="2520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 sz="1665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600"/>
              <a:buChar char="•"/>
              <a:defRPr sz="148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>
            <p:ph type="title"/>
          </p:nvPr>
        </p:nvSpPr>
        <p:spPr>
          <a:xfrm>
            <a:off x="490538" y="695325"/>
            <a:ext cx="8162925" cy="1150938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/>
          <p:nvPr>
            <p:ph idx="1" type="body"/>
          </p:nvPr>
        </p:nvSpPr>
        <p:spPr>
          <a:xfrm>
            <a:off x="490538" y="1957388"/>
            <a:ext cx="8162925" cy="4387850"/>
          </a:xfrm>
          <a:prstGeom prst="roundRect">
            <a:avLst>
              <a:gd fmla="val 2583" name="adj"/>
            </a:avLst>
          </a:prstGeom>
          <a:noFill/>
          <a:ln>
            <a:noFill/>
          </a:ln>
        </p:spPr>
        <p:txBody>
          <a:bodyPr anchorCtr="0" anchor="t" bIns="252000" lIns="252000" spcFirstLastPara="1" rIns="252000" wrap="square" tIns="252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Persuasive Devices</a:t>
            </a:r>
            <a:endParaRPr/>
          </a:p>
        </p:txBody>
      </p:sp>
      <p:grpSp>
        <p:nvGrpSpPr>
          <p:cNvPr id="38" name="Google Shape;38;p2"/>
          <p:cNvGrpSpPr/>
          <p:nvPr/>
        </p:nvGrpSpPr>
        <p:grpSpPr>
          <a:xfrm>
            <a:off x="755650" y="1668463"/>
            <a:ext cx="4762500" cy="981075"/>
            <a:chOff x="1498601" y="1405412"/>
            <a:chExt cx="4761730" cy="981036"/>
          </a:xfrm>
        </p:grpSpPr>
        <p:sp>
          <p:nvSpPr>
            <p:cNvPr id="39" name="Google Shape;39;p2"/>
            <p:cNvSpPr/>
            <p:nvPr/>
          </p:nvSpPr>
          <p:spPr>
            <a:xfrm>
              <a:off x="1498601" y="1405412"/>
              <a:ext cx="4761730" cy="981036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687083" y="1475841"/>
              <a:ext cx="4573248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Persuasive devices are language features typically used in a persuasive piece of text.</a:t>
              </a:r>
              <a:endParaRPr/>
            </a:p>
          </p:txBody>
        </p:sp>
      </p:grp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4388" y="3741738"/>
            <a:ext cx="2405062" cy="1698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2"/>
          <p:cNvGrpSpPr/>
          <p:nvPr/>
        </p:nvGrpSpPr>
        <p:grpSpPr>
          <a:xfrm>
            <a:off x="755650" y="2863850"/>
            <a:ext cx="4789488" cy="1081088"/>
            <a:chOff x="1498600" y="2330586"/>
            <a:chExt cx="6239934" cy="1080949"/>
          </a:xfrm>
        </p:grpSpPr>
        <p:sp>
          <p:nvSpPr>
            <p:cNvPr id="43" name="Google Shape;43;p2"/>
            <p:cNvSpPr/>
            <p:nvPr/>
          </p:nvSpPr>
          <p:spPr>
            <a:xfrm>
              <a:off x="1498600" y="2352808"/>
              <a:ext cx="6239934" cy="1058727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744135" y="2330586"/>
              <a:ext cx="5994399" cy="1049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written persuasive text is intended to persuade the reader to think in a particular way.</a:t>
              </a: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755650" y="4178300"/>
            <a:ext cx="4789488" cy="798513"/>
            <a:chOff x="1498601" y="3473670"/>
            <a:chExt cx="4790017" cy="797814"/>
          </a:xfrm>
        </p:grpSpPr>
        <p:sp>
          <p:nvSpPr>
            <p:cNvPr id="46" name="Google Shape;46;p2"/>
            <p:cNvSpPr/>
            <p:nvPr/>
          </p:nvSpPr>
          <p:spPr>
            <a:xfrm>
              <a:off x="1498601" y="3497462"/>
              <a:ext cx="4790017" cy="774022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687082" y="3473670"/>
              <a:ext cx="4594030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can be achieved by using persuasive devices/techniques.</a:t>
              </a:r>
              <a:endParaRPr/>
            </a:p>
          </p:txBody>
        </p:sp>
      </p:grpSp>
      <p:pic>
        <p:nvPicPr>
          <p:cNvPr id="48" name="Google Shape;4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9050" y="1473200"/>
            <a:ext cx="1455738" cy="206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Persuasive Devices</a:t>
            </a: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2414588" y="1819275"/>
            <a:ext cx="4316412" cy="703263"/>
            <a:chOff x="1498602" y="1523373"/>
            <a:chExt cx="4315883" cy="702975"/>
          </a:xfrm>
        </p:grpSpPr>
        <p:sp>
          <p:nvSpPr>
            <p:cNvPr id="55" name="Google Shape;55;p3"/>
            <p:cNvSpPr/>
            <p:nvPr/>
          </p:nvSpPr>
          <p:spPr>
            <a:xfrm>
              <a:off x="1498602" y="1523373"/>
              <a:ext cx="4315883" cy="702975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576990" y="1627306"/>
              <a:ext cx="4237495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 through</a:t>
              </a:r>
              <a:endParaRPr/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2230438" y="3051175"/>
            <a:ext cx="4640262" cy="688975"/>
            <a:chOff x="1258615" y="2483285"/>
            <a:chExt cx="6044160" cy="688319"/>
          </a:xfrm>
        </p:grpSpPr>
        <p:sp>
          <p:nvSpPr>
            <p:cNvPr id="58" name="Google Shape;58;p3"/>
            <p:cNvSpPr/>
            <p:nvPr/>
          </p:nvSpPr>
          <p:spPr>
            <a:xfrm>
              <a:off x="1498479" y="2483285"/>
              <a:ext cx="5622330" cy="688319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258615" y="2613644"/>
              <a:ext cx="6044160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FOREST</a:t>
              </a:r>
              <a:endParaRPr/>
            </a:p>
          </p:txBody>
        </p:sp>
      </p:grpSp>
      <p:grpSp>
        <p:nvGrpSpPr>
          <p:cNvPr id="60" name="Google Shape;60;p3"/>
          <p:cNvGrpSpPr/>
          <p:nvPr/>
        </p:nvGrpSpPr>
        <p:grpSpPr>
          <a:xfrm>
            <a:off x="2414588" y="4235450"/>
            <a:ext cx="4316412" cy="977900"/>
            <a:chOff x="1498601" y="3496733"/>
            <a:chExt cx="4315883" cy="977323"/>
          </a:xfrm>
        </p:grpSpPr>
        <p:sp>
          <p:nvSpPr>
            <p:cNvPr id="61" name="Google Shape;61;p3"/>
            <p:cNvSpPr/>
            <p:nvPr/>
          </p:nvSpPr>
          <p:spPr>
            <a:xfrm>
              <a:off x="1498601" y="3496733"/>
              <a:ext cx="4315883" cy="977323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74284" y="3599340"/>
              <a:ext cx="3962399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 be heard, get noticed and to draw in the reader to your writing.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Persuasive Devices</a:t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982663" y="1457325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1379538" y="1549400"/>
            <a:ext cx="2641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lliteration</a:t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982663" y="1998663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982663" y="2524125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982663" y="3114675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982663" y="3717925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982663" y="4306888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982663" y="4910138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1363663" y="2105025"/>
            <a:ext cx="2641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acts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1363663" y="2638425"/>
            <a:ext cx="26416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pinions</a:t>
            </a:r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1379538" y="3241675"/>
            <a:ext cx="64182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epetition (&amp;    hetorical Questions)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1363663" y="3843338"/>
            <a:ext cx="67564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motive Language (&amp;   xaggeration) 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1363663" y="4435475"/>
            <a:ext cx="26416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tatistics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1363663" y="5056188"/>
            <a:ext cx="26416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hree (rule of)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4567238" y="3725863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3294063" y="3114675"/>
            <a:ext cx="7953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Alliteration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38188" y="1473200"/>
            <a:ext cx="76501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Alliteration is the stylistic device of using a series of words that begin with the same sound.</a:t>
            </a:r>
            <a:endParaRPr/>
          </a:p>
        </p:txBody>
      </p:sp>
      <p:grpSp>
        <p:nvGrpSpPr>
          <p:cNvPr id="90" name="Google Shape;90;p5"/>
          <p:cNvGrpSpPr/>
          <p:nvPr/>
        </p:nvGrpSpPr>
        <p:grpSpPr>
          <a:xfrm>
            <a:off x="2259013" y="3344863"/>
            <a:ext cx="3798887" cy="688975"/>
            <a:chOff x="1498600" y="2525620"/>
            <a:chExt cx="4949482" cy="688319"/>
          </a:xfrm>
        </p:grpSpPr>
        <p:sp>
          <p:nvSpPr>
            <p:cNvPr id="91" name="Google Shape;91;p5"/>
            <p:cNvSpPr/>
            <p:nvPr/>
          </p:nvSpPr>
          <p:spPr>
            <a:xfrm>
              <a:off x="1498600" y="2525620"/>
              <a:ext cx="4949482" cy="688319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2356143" y="2607584"/>
              <a:ext cx="402576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9326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alking </a:t>
              </a: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ombats </a:t>
              </a: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obble.</a:t>
              </a:r>
              <a:endParaRPr/>
            </a:p>
          </p:txBody>
        </p:sp>
      </p:grpSp>
      <p:grpSp>
        <p:nvGrpSpPr>
          <p:cNvPr id="93" name="Google Shape;93;p5"/>
          <p:cNvGrpSpPr/>
          <p:nvPr/>
        </p:nvGrpSpPr>
        <p:grpSpPr>
          <a:xfrm>
            <a:off x="2413000" y="5018088"/>
            <a:ext cx="3614738" cy="687387"/>
            <a:chOff x="2117367" y="3640325"/>
            <a:chExt cx="3615267" cy="688319"/>
          </a:xfrm>
        </p:grpSpPr>
        <p:sp>
          <p:nvSpPr>
            <p:cNvPr id="94" name="Google Shape;94;p5"/>
            <p:cNvSpPr/>
            <p:nvPr/>
          </p:nvSpPr>
          <p:spPr>
            <a:xfrm>
              <a:off x="2117367" y="3640325"/>
              <a:ext cx="3615267" cy="688319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192867" y="3702783"/>
              <a:ext cx="3198283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i="0" lang="en-GB" sz="1800" u="none" cap="none" strike="noStrike">
                  <a:solidFill>
                    <a:srgbClr val="0175B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articularly </a:t>
              </a:r>
              <a:r>
                <a:rPr b="1" i="0" lang="en-GB" sz="1800" u="none" cap="none" strike="noStrike">
                  <a:solidFill>
                    <a:srgbClr val="0175B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erfect </a:t>
              </a:r>
              <a:r>
                <a:rPr b="1" i="0" lang="en-GB" sz="1800" u="none" cap="none" strike="noStrike">
                  <a:solidFill>
                    <a:srgbClr val="0175B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izza!</a:t>
              </a:r>
              <a:endParaRPr/>
            </a:p>
          </p:txBody>
        </p:sp>
      </p:grp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6600" y="4141788"/>
            <a:ext cx="1970088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263" y="2792413"/>
            <a:ext cx="1768475" cy="1646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Alliteration</a:t>
            </a:r>
            <a:endParaRPr/>
          </a:p>
        </p:txBody>
      </p:sp>
      <p:grpSp>
        <p:nvGrpSpPr>
          <p:cNvPr id="103" name="Google Shape;103;p6"/>
          <p:cNvGrpSpPr/>
          <p:nvPr/>
        </p:nvGrpSpPr>
        <p:grpSpPr>
          <a:xfrm>
            <a:off x="755650" y="1606550"/>
            <a:ext cx="6196013" cy="858838"/>
            <a:chOff x="1498602" y="1486315"/>
            <a:chExt cx="6195484" cy="859450"/>
          </a:xfrm>
        </p:grpSpPr>
        <p:sp>
          <p:nvSpPr>
            <p:cNvPr id="104" name="Google Shape;104;p6"/>
            <p:cNvSpPr/>
            <p:nvPr/>
          </p:nvSpPr>
          <p:spPr>
            <a:xfrm>
              <a:off x="1498602" y="1486315"/>
              <a:ext cx="6195484" cy="859450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1669698" y="1560025"/>
              <a:ext cx="5025322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 you think of an alliterative phrase which includes an animal or pet?</a:t>
              </a:r>
              <a:endParaRPr/>
            </a:p>
          </p:txBody>
        </p:sp>
      </p:grpSp>
      <p:grpSp>
        <p:nvGrpSpPr>
          <p:cNvPr id="106" name="Google Shape;106;p6"/>
          <p:cNvGrpSpPr/>
          <p:nvPr/>
        </p:nvGrpSpPr>
        <p:grpSpPr>
          <a:xfrm>
            <a:off x="755650" y="2886075"/>
            <a:ext cx="6196013" cy="1169988"/>
            <a:chOff x="1498600" y="2326540"/>
            <a:chExt cx="8070827" cy="1169773"/>
          </a:xfrm>
        </p:grpSpPr>
        <p:sp>
          <p:nvSpPr>
            <p:cNvPr id="107" name="Google Shape;107;p6"/>
            <p:cNvSpPr/>
            <p:nvPr/>
          </p:nvSpPr>
          <p:spPr>
            <a:xfrm>
              <a:off x="1498600" y="2326540"/>
              <a:ext cx="8070827" cy="1169773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1721485" y="2368875"/>
              <a:ext cx="6852532" cy="1049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Think about how they act, what they look like, how they move, sounds they make, their environment etc.</a:t>
              </a:r>
              <a:endParaRPr/>
            </a:p>
          </p:txBody>
        </p:sp>
      </p:grpSp>
      <p:grpSp>
        <p:nvGrpSpPr>
          <p:cNvPr id="109" name="Google Shape;109;p6"/>
          <p:cNvGrpSpPr/>
          <p:nvPr/>
        </p:nvGrpSpPr>
        <p:grpSpPr>
          <a:xfrm>
            <a:off x="755650" y="4441825"/>
            <a:ext cx="6196013" cy="857250"/>
            <a:chOff x="1498601" y="3564283"/>
            <a:chExt cx="6195484" cy="857570"/>
          </a:xfrm>
        </p:grpSpPr>
        <p:sp>
          <p:nvSpPr>
            <p:cNvPr id="110" name="Google Shape;110;p6"/>
            <p:cNvSpPr/>
            <p:nvPr/>
          </p:nvSpPr>
          <p:spPr>
            <a:xfrm>
              <a:off x="1498601" y="3564283"/>
              <a:ext cx="6195484" cy="857570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1733551" y="3564283"/>
              <a:ext cx="5596467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 example: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cute cuddly koala came close quickly.</a:t>
              </a:r>
              <a:endParaRPr/>
            </a:p>
          </p:txBody>
        </p:sp>
      </p:grpSp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6925" y="3197225"/>
            <a:ext cx="1493838" cy="3262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488" y="2432050"/>
            <a:ext cx="1354137" cy="202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Facts</a:t>
            </a: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35013" y="2330450"/>
            <a:ext cx="7615237" cy="644525"/>
            <a:chOff x="1497936" y="1643484"/>
            <a:chExt cx="7536181" cy="645141"/>
          </a:xfrm>
        </p:grpSpPr>
        <p:sp>
          <p:nvSpPr>
            <p:cNvPr id="120" name="Google Shape;120;p7"/>
            <p:cNvSpPr/>
            <p:nvPr/>
          </p:nvSpPr>
          <p:spPr>
            <a:xfrm>
              <a:off x="1497936" y="1643484"/>
              <a:ext cx="7536181" cy="645141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1669698" y="1698524"/>
              <a:ext cx="502532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triangle has three straight sides.</a:t>
              </a:r>
              <a:endParaRPr/>
            </a:p>
          </p:txBody>
        </p:sp>
      </p:grpSp>
      <p:grpSp>
        <p:nvGrpSpPr>
          <p:cNvPr id="122" name="Google Shape;122;p7"/>
          <p:cNvGrpSpPr/>
          <p:nvPr/>
        </p:nvGrpSpPr>
        <p:grpSpPr>
          <a:xfrm>
            <a:off x="755650" y="3687763"/>
            <a:ext cx="7632700" cy="649287"/>
            <a:chOff x="1498600" y="3201062"/>
            <a:chExt cx="9943081" cy="648151"/>
          </a:xfrm>
        </p:grpSpPr>
        <p:sp>
          <p:nvSpPr>
            <p:cNvPr id="123" name="Google Shape;123;p7"/>
            <p:cNvSpPr/>
            <p:nvPr/>
          </p:nvSpPr>
          <p:spPr>
            <a:xfrm>
              <a:off x="1498600" y="3201062"/>
              <a:ext cx="9943081" cy="648151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1721486" y="3266616"/>
              <a:ext cx="685253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Cats have whiskers.</a:t>
              </a:r>
              <a:endParaRPr/>
            </a:p>
          </p:txBody>
        </p:sp>
      </p:grpSp>
      <p:grpSp>
        <p:nvGrpSpPr>
          <p:cNvPr id="125" name="Google Shape;125;p7"/>
          <p:cNvGrpSpPr/>
          <p:nvPr/>
        </p:nvGrpSpPr>
        <p:grpSpPr>
          <a:xfrm>
            <a:off x="755650" y="5222875"/>
            <a:ext cx="7632700" cy="649288"/>
            <a:chOff x="1498601" y="3626260"/>
            <a:chExt cx="7632700" cy="648151"/>
          </a:xfrm>
        </p:grpSpPr>
        <p:sp>
          <p:nvSpPr>
            <p:cNvPr id="126" name="Google Shape;126;p7"/>
            <p:cNvSpPr/>
            <p:nvPr/>
          </p:nvSpPr>
          <p:spPr>
            <a:xfrm>
              <a:off x="1498601" y="3626260"/>
              <a:ext cx="7632700" cy="648151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1733551" y="3702782"/>
              <a:ext cx="5596467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People need water to survive.</a:t>
              </a:r>
              <a:endParaRPr/>
            </a:p>
          </p:txBody>
        </p:sp>
      </p:grpSp>
      <p:sp>
        <p:nvSpPr>
          <p:cNvPr id="128" name="Google Shape;128;p7"/>
          <p:cNvSpPr/>
          <p:nvPr/>
        </p:nvSpPr>
        <p:spPr>
          <a:xfrm>
            <a:off x="755650" y="14462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fact is something which is truthful and can be proven. </a:t>
            </a:r>
            <a:b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Facts can be used to support a point being made. </a:t>
            </a:r>
            <a:endParaRPr/>
          </a:p>
        </p:txBody>
      </p:sp>
      <p:grpSp>
        <p:nvGrpSpPr>
          <p:cNvPr id="129" name="Google Shape;129;p7"/>
          <p:cNvGrpSpPr/>
          <p:nvPr/>
        </p:nvGrpSpPr>
        <p:grpSpPr>
          <a:xfrm>
            <a:off x="5046663" y="2092325"/>
            <a:ext cx="3157537" cy="993775"/>
            <a:chOff x="5046252" y="2092943"/>
            <a:chExt cx="3157350" cy="993042"/>
          </a:xfrm>
        </p:grpSpPr>
        <p:pic>
          <p:nvPicPr>
            <p:cNvPr id="130" name="Google Shape;13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46252" y="2092943"/>
              <a:ext cx="1140767" cy="99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7"/>
            <p:cNvSpPr/>
            <p:nvPr/>
          </p:nvSpPr>
          <p:spPr>
            <a:xfrm>
              <a:off x="6630921" y="2385143"/>
              <a:ext cx="1572681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085C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A085C"/>
                  </a:solidFill>
                  <a:latin typeface="Arial"/>
                  <a:ea typeface="Arial"/>
                  <a:cs typeface="Arial"/>
                  <a:sym typeface="Arial"/>
                </a:rPr>
                <a:t>FACT</a:t>
              </a:r>
              <a:endParaRPr/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4343400" y="3165475"/>
            <a:ext cx="3860800" cy="1693863"/>
            <a:chOff x="4343400" y="3164978"/>
            <a:chExt cx="3860202" cy="1694835"/>
          </a:xfrm>
        </p:grpSpPr>
        <p:pic>
          <p:nvPicPr>
            <p:cNvPr id="133" name="Google Shape;13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35504" y="3164978"/>
              <a:ext cx="1810669" cy="16948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7"/>
            <p:cNvSpPr/>
            <p:nvPr/>
          </p:nvSpPr>
          <p:spPr>
            <a:xfrm>
              <a:off x="6630921" y="3753875"/>
              <a:ext cx="1572681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9326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FACT</a:t>
              </a:r>
              <a:endParaRPr/>
            </a:p>
          </p:txBody>
        </p:sp>
        <p:cxnSp>
          <p:nvCxnSpPr>
            <p:cNvPr id="135" name="Google Shape;135;p7"/>
            <p:cNvCxnSpPr/>
            <p:nvPr/>
          </p:nvCxnSpPr>
          <p:spPr>
            <a:xfrm>
              <a:off x="4343400" y="3827346"/>
              <a:ext cx="388878" cy="4765"/>
            </a:xfrm>
            <a:prstGeom prst="straightConnector1">
              <a:avLst/>
            </a:prstGeom>
            <a:noFill/>
            <a:ln cap="flat" cmpd="sng" w="38100">
              <a:solidFill>
                <a:srgbClr val="6A9326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6" name="Google Shape;136;p7"/>
          <p:cNvGrpSpPr/>
          <p:nvPr/>
        </p:nvGrpSpPr>
        <p:grpSpPr>
          <a:xfrm>
            <a:off x="5254625" y="4932363"/>
            <a:ext cx="2949575" cy="1230312"/>
            <a:chOff x="5254486" y="4931769"/>
            <a:chExt cx="2949714" cy="1231499"/>
          </a:xfrm>
        </p:grpSpPr>
        <p:sp>
          <p:nvSpPr>
            <p:cNvPr id="137" name="Google Shape;137;p7"/>
            <p:cNvSpPr/>
            <p:nvPr/>
          </p:nvSpPr>
          <p:spPr>
            <a:xfrm>
              <a:off x="6631484" y="5300217"/>
              <a:ext cx="1572716" cy="495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75B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175B0"/>
                  </a:solidFill>
                  <a:latin typeface="Arial"/>
                  <a:ea typeface="Arial"/>
                  <a:cs typeface="Arial"/>
                  <a:sym typeface="Arial"/>
                </a:rPr>
                <a:t>FACT</a:t>
              </a:r>
              <a:endParaRPr/>
            </a:p>
          </p:txBody>
        </p:sp>
        <p:pic>
          <p:nvPicPr>
            <p:cNvPr id="138" name="Google Shape;13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54486" y="4931769"/>
              <a:ext cx="573074" cy="12314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8"/>
          <p:cNvGrpSpPr/>
          <p:nvPr/>
        </p:nvGrpSpPr>
        <p:grpSpPr>
          <a:xfrm>
            <a:off x="750888" y="4792663"/>
            <a:ext cx="7632700" cy="1414462"/>
            <a:chOff x="750888" y="4791951"/>
            <a:chExt cx="7632700" cy="1414395"/>
          </a:xfrm>
        </p:grpSpPr>
        <p:grpSp>
          <p:nvGrpSpPr>
            <p:cNvPr id="144" name="Google Shape;144;p8"/>
            <p:cNvGrpSpPr/>
            <p:nvPr/>
          </p:nvGrpSpPr>
          <p:grpSpPr>
            <a:xfrm>
              <a:off x="750888" y="4853860"/>
              <a:ext cx="7632700" cy="1185807"/>
              <a:chOff x="1493836" y="3460291"/>
              <a:chExt cx="7632700" cy="1185295"/>
            </a:xfrm>
          </p:grpSpPr>
          <p:sp>
            <p:nvSpPr>
              <p:cNvPr id="145" name="Google Shape;145;p8"/>
              <p:cNvSpPr/>
              <p:nvPr/>
            </p:nvSpPr>
            <p:spPr>
              <a:xfrm>
                <a:off x="1493836" y="3460291"/>
                <a:ext cx="7632700" cy="1185295"/>
              </a:xfrm>
              <a:prstGeom prst="rect">
                <a:avLst/>
              </a:prstGeom>
              <a:solidFill>
                <a:srgbClr val="AFDEF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1669697" y="3515522"/>
                <a:ext cx="5596467" cy="495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8000" lIns="108000" spcFirstLastPara="1" rIns="108000" wrap="square" tIns="1080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People need water to survive.</a:t>
                </a:r>
                <a:endParaRPr/>
              </a:p>
            </p:txBody>
          </p:sp>
        </p:grpSp>
        <p:sp>
          <p:nvSpPr>
            <p:cNvPr id="147" name="Google Shape;147;p8"/>
            <p:cNvSpPr/>
            <p:nvPr/>
          </p:nvSpPr>
          <p:spPr>
            <a:xfrm>
              <a:off x="6631573" y="4944042"/>
              <a:ext cx="1572626" cy="495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75B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0175B0"/>
                  </a:solidFill>
                  <a:latin typeface="Arial"/>
                  <a:ea typeface="Arial"/>
                  <a:cs typeface="Arial"/>
                  <a:sym typeface="Arial"/>
                </a:rPr>
                <a:t>FACT</a:t>
              </a:r>
              <a:endParaRPr/>
            </a:p>
          </p:txBody>
        </p:sp>
        <p:pic>
          <p:nvPicPr>
            <p:cNvPr id="148" name="Google Shape;14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35037" y="4791951"/>
              <a:ext cx="664522" cy="14143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" name="Google Shape;149;p8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Facts</a:t>
            </a:r>
            <a:endParaRPr/>
          </a:p>
        </p:txBody>
      </p:sp>
      <p:grpSp>
        <p:nvGrpSpPr>
          <p:cNvPr id="150" name="Google Shape;150;p8"/>
          <p:cNvGrpSpPr/>
          <p:nvPr/>
        </p:nvGrpSpPr>
        <p:grpSpPr>
          <a:xfrm>
            <a:off x="760413" y="2219325"/>
            <a:ext cx="7615237" cy="941388"/>
            <a:chOff x="1497936" y="1694285"/>
            <a:chExt cx="7536181" cy="941381"/>
          </a:xfrm>
        </p:grpSpPr>
        <p:sp>
          <p:nvSpPr>
            <p:cNvPr id="151" name="Google Shape;151;p8"/>
            <p:cNvSpPr/>
            <p:nvPr/>
          </p:nvSpPr>
          <p:spPr>
            <a:xfrm>
              <a:off x="1497936" y="1694285"/>
              <a:ext cx="7536181" cy="941381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1669698" y="1698524"/>
              <a:ext cx="502532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triangle has three straight sides.</a:t>
              </a:r>
              <a:endParaRPr/>
            </a:p>
          </p:txBody>
        </p:sp>
      </p:grpSp>
      <p:grpSp>
        <p:nvGrpSpPr>
          <p:cNvPr id="153" name="Google Shape;153;p8"/>
          <p:cNvGrpSpPr/>
          <p:nvPr/>
        </p:nvGrpSpPr>
        <p:grpSpPr>
          <a:xfrm>
            <a:off x="750888" y="3546475"/>
            <a:ext cx="7632700" cy="957263"/>
            <a:chOff x="1492393" y="3229198"/>
            <a:chExt cx="9943081" cy="956160"/>
          </a:xfrm>
        </p:grpSpPr>
        <p:sp>
          <p:nvSpPr>
            <p:cNvPr id="154" name="Google Shape;154;p8"/>
            <p:cNvSpPr/>
            <p:nvPr/>
          </p:nvSpPr>
          <p:spPr>
            <a:xfrm>
              <a:off x="1492393" y="3229198"/>
              <a:ext cx="9943081" cy="956160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1721486" y="3266616"/>
              <a:ext cx="685253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Cats have whiskers.</a:t>
              </a:r>
              <a:endParaRPr/>
            </a:p>
          </p:txBody>
        </p:sp>
      </p:grpSp>
      <p:sp>
        <p:nvSpPr>
          <p:cNvPr id="156" name="Google Shape;156;p8"/>
          <p:cNvSpPr/>
          <p:nvPr/>
        </p:nvSpPr>
        <p:spPr>
          <a:xfrm>
            <a:off x="755650" y="13700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opinion is someone’s point of view of/about something that is not based on fact or knowledge.</a:t>
            </a:r>
            <a:endParaRPr/>
          </a:p>
        </p:txBody>
      </p:sp>
      <p:grpSp>
        <p:nvGrpSpPr>
          <p:cNvPr id="157" name="Google Shape;157;p8"/>
          <p:cNvGrpSpPr/>
          <p:nvPr/>
        </p:nvGrpSpPr>
        <p:grpSpPr>
          <a:xfrm>
            <a:off x="4808538" y="2168525"/>
            <a:ext cx="3421062" cy="992188"/>
            <a:chOff x="4782611" y="2329243"/>
            <a:chExt cx="3420991" cy="993042"/>
          </a:xfrm>
        </p:grpSpPr>
        <p:pic>
          <p:nvPicPr>
            <p:cNvPr id="158" name="Google Shape;15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82611" y="2329243"/>
              <a:ext cx="1140767" cy="993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8"/>
            <p:cNvSpPr/>
            <p:nvPr/>
          </p:nvSpPr>
          <p:spPr>
            <a:xfrm>
              <a:off x="6630921" y="2385143"/>
              <a:ext cx="1572681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085C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A085C"/>
                  </a:solidFill>
                  <a:latin typeface="Arial"/>
                  <a:ea typeface="Arial"/>
                  <a:cs typeface="Arial"/>
                  <a:sym typeface="Arial"/>
                </a:rPr>
                <a:t>FACT</a:t>
              </a:r>
              <a:endParaRPr/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4635500" y="3311525"/>
            <a:ext cx="3568700" cy="1370013"/>
            <a:chOff x="4635505" y="3490078"/>
            <a:chExt cx="3568097" cy="1369735"/>
          </a:xfrm>
        </p:grpSpPr>
        <p:pic>
          <p:nvPicPr>
            <p:cNvPr id="161" name="Google Shape;16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35505" y="3490078"/>
              <a:ext cx="1463350" cy="13697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8"/>
            <p:cNvSpPr/>
            <p:nvPr/>
          </p:nvSpPr>
          <p:spPr>
            <a:xfrm>
              <a:off x="6630921" y="3753875"/>
              <a:ext cx="1572681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9326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FACT</a:t>
              </a:r>
              <a:endParaRPr/>
            </a:p>
          </p:txBody>
        </p:sp>
      </p:grpSp>
      <p:sp>
        <p:nvSpPr>
          <p:cNvPr id="163" name="Google Shape;163;p8"/>
          <p:cNvSpPr/>
          <p:nvPr/>
        </p:nvSpPr>
        <p:spPr>
          <a:xfrm>
            <a:off x="933450" y="2668588"/>
            <a:ext cx="29749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Triangles are easy to draw.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27100" y="4041775"/>
            <a:ext cx="15827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Cats are cute.</a:t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27100" y="5391150"/>
            <a:ext cx="36449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drink 2-3 litres of water each day to survive.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656388" y="2622550"/>
            <a:ext cx="15732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637338" y="3965575"/>
            <a:ext cx="15732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326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630988" y="5522913"/>
            <a:ext cx="1573212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75B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175B0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Facts and Opinions</a:t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668588" y="3249613"/>
            <a:ext cx="3806825" cy="700087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and list the facts and opinions relating to the pictures.</a:t>
            </a:r>
            <a:endParaRPr/>
          </a:p>
        </p:txBody>
      </p:sp>
      <p:grpSp>
        <p:nvGrpSpPr>
          <p:cNvPr id="175" name="Google Shape;175;p9"/>
          <p:cNvGrpSpPr/>
          <p:nvPr/>
        </p:nvGrpSpPr>
        <p:grpSpPr>
          <a:xfrm>
            <a:off x="823913" y="1409700"/>
            <a:ext cx="7531100" cy="4551363"/>
            <a:chOff x="823499" y="1409172"/>
            <a:chExt cx="7531514" cy="4551891"/>
          </a:xfrm>
        </p:grpSpPr>
        <p:pic>
          <p:nvPicPr>
            <p:cNvPr id="176" name="Google Shape;17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04869" y="3335175"/>
              <a:ext cx="1889182" cy="2625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45732" y="1595943"/>
              <a:ext cx="2109281" cy="15180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96382" y="4394253"/>
              <a:ext cx="2871304" cy="15668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13711" y="1464041"/>
              <a:ext cx="1207045" cy="162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90691" y="1409172"/>
              <a:ext cx="1761798" cy="1767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23499" y="3591190"/>
              <a:ext cx="1987468" cy="22374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Repetition</a:t>
            </a:r>
            <a:endParaRPr/>
          </a:p>
        </p:txBody>
      </p:sp>
      <p:grpSp>
        <p:nvGrpSpPr>
          <p:cNvPr id="187" name="Google Shape;187;p10"/>
          <p:cNvGrpSpPr/>
          <p:nvPr/>
        </p:nvGrpSpPr>
        <p:grpSpPr>
          <a:xfrm>
            <a:off x="760413" y="2219325"/>
            <a:ext cx="7615237" cy="941388"/>
            <a:chOff x="1497936" y="1694285"/>
            <a:chExt cx="7536181" cy="941381"/>
          </a:xfrm>
        </p:grpSpPr>
        <p:sp>
          <p:nvSpPr>
            <p:cNvPr id="188" name="Google Shape;188;p10"/>
            <p:cNvSpPr/>
            <p:nvPr/>
          </p:nvSpPr>
          <p:spPr>
            <a:xfrm>
              <a:off x="1497936" y="1694285"/>
              <a:ext cx="7536181" cy="941381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/>
            <p:nvPr/>
          </p:nvSpPr>
          <p:spPr>
            <a:xfrm>
              <a:off x="1497936" y="1778921"/>
              <a:ext cx="5823488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085C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CA085C"/>
                  </a:solidFill>
                  <a:latin typeface="Arial"/>
                  <a:ea typeface="Arial"/>
                  <a:cs typeface="Arial"/>
                  <a:sym typeface="Arial"/>
                </a:rPr>
                <a:t>Cats are the best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! They make great pets and are very friendly, </a:t>
              </a:r>
              <a:r>
                <a:rPr b="1" i="0" lang="en-GB" sz="1800" u="none" cap="none" strike="noStrike">
                  <a:solidFill>
                    <a:srgbClr val="CA085C"/>
                  </a:solidFill>
                  <a:latin typeface="Arial"/>
                  <a:ea typeface="Arial"/>
                  <a:cs typeface="Arial"/>
                  <a:sym typeface="Arial"/>
                </a:rPr>
                <a:t>cats are the best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90" name="Google Shape;190;p10"/>
          <p:cNvSpPr/>
          <p:nvPr/>
        </p:nvSpPr>
        <p:spPr>
          <a:xfrm>
            <a:off x="760413" y="3268663"/>
            <a:ext cx="7627937" cy="132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meaning can be retained but stated in a different way using the same words:</a:t>
            </a:r>
            <a:endParaRPr/>
          </a:p>
        </p:txBody>
      </p:sp>
      <p:grpSp>
        <p:nvGrpSpPr>
          <p:cNvPr id="191" name="Google Shape;191;p10"/>
          <p:cNvGrpSpPr/>
          <p:nvPr/>
        </p:nvGrpSpPr>
        <p:grpSpPr>
          <a:xfrm>
            <a:off x="742950" y="4768850"/>
            <a:ext cx="7632700" cy="936625"/>
            <a:chOff x="1485190" y="3374883"/>
            <a:chExt cx="7632700" cy="935954"/>
          </a:xfrm>
        </p:grpSpPr>
        <p:sp>
          <p:nvSpPr>
            <p:cNvPr id="192" name="Google Shape;192;p10"/>
            <p:cNvSpPr/>
            <p:nvPr/>
          </p:nvSpPr>
          <p:spPr>
            <a:xfrm>
              <a:off x="1485190" y="3374883"/>
              <a:ext cx="7632700" cy="935954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1498601" y="3467847"/>
              <a:ext cx="7277454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9326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Cats are the best!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They make great pets and are very friendly. You should choose a </a:t>
              </a: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cat</a:t>
              </a:r>
              <a:r>
                <a:rPr b="0" i="0" lang="en-GB" sz="1800" u="none" cap="none" strike="noStrik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because they make the </a:t>
              </a:r>
              <a:r>
                <a:rPr b="1" i="0" lang="en-GB" sz="1800" u="none" cap="none" strike="noStrike">
                  <a:solidFill>
                    <a:srgbClr val="6A9326"/>
                  </a:solidFill>
                  <a:latin typeface="Arial"/>
                  <a:ea typeface="Arial"/>
                  <a:cs typeface="Arial"/>
                  <a:sym typeface="Arial"/>
                </a:rPr>
                <a:t>best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pets.</a:t>
              </a:r>
              <a:endParaRPr/>
            </a:p>
          </p:txBody>
        </p:sp>
      </p:grpSp>
      <p:sp>
        <p:nvSpPr>
          <p:cNvPr id="194" name="Google Shape;194;p10"/>
          <p:cNvSpPr/>
          <p:nvPr/>
        </p:nvSpPr>
        <p:spPr>
          <a:xfrm>
            <a:off x="755650" y="13700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repeat the same thing more than once. This can be done by repeating the words or sentence in the same way:</a:t>
            </a:r>
            <a:endParaRPr/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1975" y="1944688"/>
            <a:ext cx="1463675" cy="1370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Repetition</a:t>
            </a:r>
            <a:endParaRPr/>
          </a:p>
        </p:txBody>
      </p:sp>
      <p:grpSp>
        <p:nvGrpSpPr>
          <p:cNvPr id="201" name="Google Shape;201;p11"/>
          <p:cNvGrpSpPr/>
          <p:nvPr/>
        </p:nvGrpSpPr>
        <p:grpSpPr>
          <a:xfrm>
            <a:off x="763588" y="3324225"/>
            <a:ext cx="7620000" cy="719138"/>
            <a:chOff x="1493402" y="1694285"/>
            <a:chExt cx="7540715" cy="718243"/>
          </a:xfrm>
        </p:grpSpPr>
        <p:sp>
          <p:nvSpPr>
            <p:cNvPr id="202" name="Google Shape;202;p11"/>
            <p:cNvSpPr/>
            <p:nvPr/>
          </p:nvSpPr>
          <p:spPr>
            <a:xfrm>
              <a:off x="1498114" y="1694285"/>
              <a:ext cx="7536003" cy="718243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1493402" y="1797006"/>
              <a:ext cx="5823488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These cupcakes are delicious. </a:t>
              </a:r>
              <a:endParaRPr/>
            </a:p>
          </p:txBody>
        </p:sp>
      </p:grpSp>
      <p:sp>
        <p:nvSpPr>
          <p:cNvPr id="204" name="Google Shape;204;p11"/>
          <p:cNvSpPr/>
          <p:nvPr/>
        </p:nvSpPr>
        <p:spPr>
          <a:xfrm>
            <a:off x="755650" y="4456113"/>
            <a:ext cx="4697413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repeating the words and then restating what you are saying in a different way.</a:t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755650" y="13700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you are trying to sell some cupcakes. </a:t>
            </a:r>
            <a:b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you use repetition to get this point across?</a:t>
            </a:r>
            <a:endParaRPr/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0188" y="2208213"/>
            <a:ext cx="1670050" cy="186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538" y="2208213"/>
            <a:ext cx="1677987" cy="186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4163" y="2381250"/>
            <a:ext cx="1677987" cy="186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Rhetorical Questions</a:t>
            </a:r>
            <a:endParaRPr/>
          </a:p>
        </p:txBody>
      </p:sp>
      <p:grpSp>
        <p:nvGrpSpPr>
          <p:cNvPr id="214" name="Google Shape;214;p12"/>
          <p:cNvGrpSpPr/>
          <p:nvPr/>
        </p:nvGrpSpPr>
        <p:grpSpPr>
          <a:xfrm>
            <a:off x="750888" y="2076450"/>
            <a:ext cx="7615237" cy="941388"/>
            <a:chOff x="1488686" y="1550394"/>
            <a:chExt cx="7536181" cy="941381"/>
          </a:xfrm>
        </p:grpSpPr>
        <p:sp>
          <p:nvSpPr>
            <p:cNvPr id="215" name="Google Shape;215;p12"/>
            <p:cNvSpPr/>
            <p:nvPr/>
          </p:nvSpPr>
          <p:spPr>
            <a:xfrm>
              <a:off x="1488686" y="1550394"/>
              <a:ext cx="7536181" cy="941381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1578767" y="1722197"/>
              <a:ext cx="502532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 you really afford to ignore this warning?</a:t>
              </a:r>
              <a:endParaRPr/>
            </a:p>
          </p:txBody>
        </p:sp>
      </p:grpSp>
      <p:grpSp>
        <p:nvGrpSpPr>
          <p:cNvPr id="217" name="Google Shape;217;p12"/>
          <p:cNvGrpSpPr/>
          <p:nvPr/>
        </p:nvGrpSpPr>
        <p:grpSpPr>
          <a:xfrm>
            <a:off x="741363" y="3444875"/>
            <a:ext cx="7632700" cy="955675"/>
            <a:chOff x="1492393" y="3229198"/>
            <a:chExt cx="9943081" cy="956160"/>
          </a:xfrm>
        </p:grpSpPr>
        <p:sp>
          <p:nvSpPr>
            <p:cNvPr id="218" name="Google Shape;218;p12"/>
            <p:cNvSpPr/>
            <p:nvPr/>
          </p:nvSpPr>
          <p:spPr>
            <a:xfrm>
              <a:off x="1492393" y="3229198"/>
              <a:ext cx="9943081" cy="956160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2"/>
            <p:cNvSpPr/>
            <p:nvPr/>
          </p:nvSpPr>
          <p:spPr>
            <a:xfrm>
              <a:off x="4427653" y="3469528"/>
              <a:ext cx="685253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Will you let this bargain pass you by?</a:t>
              </a:r>
              <a:endParaRPr/>
            </a:p>
          </p:txBody>
        </p:sp>
      </p:grpSp>
      <p:grpSp>
        <p:nvGrpSpPr>
          <p:cNvPr id="220" name="Google Shape;220;p12"/>
          <p:cNvGrpSpPr/>
          <p:nvPr/>
        </p:nvGrpSpPr>
        <p:grpSpPr>
          <a:xfrm>
            <a:off x="741363" y="4827588"/>
            <a:ext cx="7632700" cy="955675"/>
            <a:chOff x="1416052" y="4686355"/>
            <a:chExt cx="7632700" cy="956160"/>
          </a:xfrm>
        </p:grpSpPr>
        <p:sp>
          <p:nvSpPr>
            <p:cNvPr id="221" name="Google Shape;221;p12"/>
            <p:cNvSpPr/>
            <p:nvPr/>
          </p:nvSpPr>
          <p:spPr>
            <a:xfrm>
              <a:off x="1416052" y="4686355"/>
              <a:ext cx="7632700" cy="956160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1516068" y="4778381"/>
              <a:ext cx="5596467" cy="772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How will you ever forgive yourself if you don’t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buy this product?</a:t>
              </a:r>
              <a:endParaRPr/>
            </a:p>
          </p:txBody>
        </p:sp>
      </p:grpSp>
      <p:sp>
        <p:nvSpPr>
          <p:cNvPr id="223" name="Google Shape;223;p12"/>
          <p:cNvSpPr/>
          <p:nvPr/>
        </p:nvSpPr>
        <p:spPr>
          <a:xfrm>
            <a:off x="755650" y="1370013"/>
            <a:ext cx="7632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rhetorical question is one that does not require an answer.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25" y="4497388"/>
            <a:ext cx="1208088" cy="1708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2"/>
          <p:cNvGrpSpPr/>
          <p:nvPr/>
        </p:nvGrpSpPr>
        <p:grpSpPr>
          <a:xfrm>
            <a:off x="1066800" y="3140075"/>
            <a:ext cx="2032000" cy="1431925"/>
            <a:chOff x="5434022" y="3048319"/>
            <a:chExt cx="2030942" cy="1432684"/>
          </a:xfrm>
        </p:grpSpPr>
        <p:pic>
          <p:nvPicPr>
            <p:cNvPr id="226" name="Google Shape;22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34022" y="3048319"/>
              <a:ext cx="1396105" cy="1432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98213" y="3255805"/>
              <a:ext cx="981541" cy="3596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2"/>
            <p:cNvSpPr txBox="1"/>
            <p:nvPr/>
          </p:nvSpPr>
          <p:spPr>
            <a:xfrm>
              <a:off x="6824829" y="3276946"/>
              <a:ext cx="64013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$1</a:t>
              </a:r>
              <a:endParaRPr/>
            </a:p>
          </p:txBody>
        </p:sp>
      </p:grpSp>
      <p:pic>
        <p:nvPicPr>
          <p:cNvPr id="229" name="Google Shape;22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6513" y="1677988"/>
            <a:ext cx="1782762" cy="178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Rhetorical Questions</a:t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755650" y="13700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were trying to persuade the reader in a particular way, what rhetorical questions could you ask about this topic?</a:t>
            </a:r>
            <a:endParaRPr/>
          </a:p>
        </p:txBody>
      </p:sp>
      <p:grpSp>
        <p:nvGrpSpPr>
          <p:cNvPr id="236" name="Google Shape;236;p13"/>
          <p:cNvGrpSpPr/>
          <p:nvPr/>
        </p:nvGrpSpPr>
        <p:grpSpPr>
          <a:xfrm>
            <a:off x="1249363" y="2216150"/>
            <a:ext cx="6805612" cy="3913188"/>
            <a:chOff x="1249223" y="2215731"/>
            <a:chExt cx="6805717" cy="3913607"/>
          </a:xfrm>
        </p:grpSpPr>
        <p:grpSp>
          <p:nvGrpSpPr>
            <p:cNvPr id="237" name="Google Shape;237;p13"/>
            <p:cNvGrpSpPr/>
            <p:nvPr/>
          </p:nvGrpSpPr>
          <p:grpSpPr>
            <a:xfrm>
              <a:off x="1817988" y="3428711"/>
              <a:ext cx="5395565" cy="514405"/>
              <a:chOff x="1646944" y="1711950"/>
              <a:chExt cx="5340828" cy="515077"/>
            </a:xfrm>
          </p:grpSpPr>
          <p:sp>
            <p:nvSpPr>
              <p:cNvPr id="238" name="Google Shape;238;p13"/>
              <p:cNvSpPr/>
              <p:nvPr/>
            </p:nvSpPr>
            <p:spPr>
              <a:xfrm>
                <a:off x="2106943" y="1711950"/>
                <a:ext cx="4880829" cy="515077"/>
              </a:xfrm>
              <a:prstGeom prst="rect">
                <a:avLst/>
              </a:prstGeom>
              <a:solidFill>
                <a:srgbClr val="EEBCD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1646944" y="1712239"/>
                <a:ext cx="5025322" cy="495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8000" lIns="108000" spcFirstLastPara="1" rIns="108000" wrap="square" tIns="1080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People waste so much food.</a:t>
                </a:r>
                <a:endParaRPr/>
              </a:p>
            </p:txBody>
          </p:sp>
        </p:grpSp>
        <p:pic>
          <p:nvPicPr>
            <p:cNvPr id="240" name="Google Shape;24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9223" y="2331201"/>
              <a:ext cx="1548518" cy="3798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15059" y="2215731"/>
              <a:ext cx="2139881" cy="380423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Emotive Language</a:t>
            </a:r>
            <a:endParaRPr/>
          </a:p>
        </p:txBody>
      </p:sp>
      <p:grpSp>
        <p:nvGrpSpPr>
          <p:cNvPr id="247" name="Google Shape;247;p14"/>
          <p:cNvGrpSpPr/>
          <p:nvPr/>
        </p:nvGrpSpPr>
        <p:grpSpPr>
          <a:xfrm>
            <a:off x="750888" y="3108325"/>
            <a:ext cx="7632700" cy="2763838"/>
            <a:chOff x="1504112" y="2893409"/>
            <a:chExt cx="9943081" cy="2764044"/>
          </a:xfrm>
        </p:grpSpPr>
        <p:sp>
          <p:nvSpPr>
            <p:cNvPr id="248" name="Google Shape;248;p14"/>
            <p:cNvSpPr/>
            <p:nvPr/>
          </p:nvSpPr>
          <p:spPr>
            <a:xfrm>
              <a:off x="1504112" y="2893409"/>
              <a:ext cx="9943081" cy="2764044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1946021" y="3352518"/>
              <a:ext cx="5594669" cy="1603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 Christmas every year, there are thousands of abandoned puppies left to wander the streets, scared and alone.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C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Only your support can rescue them.</a:t>
              </a:r>
              <a:endParaRPr/>
            </a:p>
          </p:txBody>
        </p:sp>
      </p:grpSp>
      <p:sp>
        <p:nvSpPr>
          <p:cNvPr id="250" name="Google Shape;250;p14"/>
          <p:cNvSpPr/>
          <p:nvPr/>
        </p:nvSpPr>
        <p:spPr>
          <a:xfrm>
            <a:off x="755650" y="1370013"/>
            <a:ext cx="7632700" cy="153035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 writers deliberately choose words to be emotive.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Emotive language means words that create an emotion in the reader.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this make you feel?  What are the emotive words? </a:t>
            </a:r>
            <a:endParaRPr/>
          </a:p>
        </p:txBody>
      </p:sp>
      <p:pic>
        <p:nvPicPr>
          <p:cNvPr id="251" name="Google Shape;2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850" y="2963863"/>
            <a:ext cx="2382838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Exaggeration</a:t>
            </a:r>
            <a:endParaRPr/>
          </a:p>
        </p:txBody>
      </p:sp>
      <p:grpSp>
        <p:nvGrpSpPr>
          <p:cNvPr id="257" name="Google Shape;257;p15"/>
          <p:cNvGrpSpPr/>
          <p:nvPr/>
        </p:nvGrpSpPr>
        <p:grpSpPr>
          <a:xfrm>
            <a:off x="750888" y="2076450"/>
            <a:ext cx="7615237" cy="941388"/>
            <a:chOff x="1488686" y="1550394"/>
            <a:chExt cx="7536181" cy="941381"/>
          </a:xfrm>
        </p:grpSpPr>
        <p:sp>
          <p:nvSpPr>
            <p:cNvPr id="258" name="Google Shape;258;p15"/>
            <p:cNvSpPr/>
            <p:nvPr/>
          </p:nvSpPr>
          <p:spPr>
            <a:xfrm>
              <a:off x="1488686" y="1550394"/>
              <a:ext cx="7536181" cy="941381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1578767" y="1722197"/>
              <a:ext cx="502532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could eat a horse I’m that hungry!</a:t>
              </a:r>
              <a:endParaRPr/>
            </a:p>
          </p:txBody>
        </p:sp>
      </p:grpSp>
      <p:grpSp>
        <p:nvGrpSpPr>
          <p:cNvPr id="260" name="Google Shape;260;p15"/>
          <p:cNvGrpSpPr/>
          <p:nvPr/>
        </p:nvGrpSpPr>
        <p:grpSpPr>
          <a:xfrm>
            <a:off x="741363" y="3444875"/>
            <a:ext cx="7632700" cy="955675"/>
            <a:chOff x="1492393" y="3229198"/>
            <a:chExt cx="9943081" cy="956160"/>
          </a:xfrm>
        </p:grpSpPr>
        <p:sp>
          <p:nvSpPr>
            <p:cNvPr id="261" name="Google Shape;261;p15"/>
            <p:cNvSpPr/>
            <p:nvPr/>
          </p:nvSpPr>
          <p:spPr>
            <a:xfrm>
              <a:off x="1492393" y="3229198"/>
              <a:ext cx="9943081" cy="956160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4427653" y="3469528"/>
              <a:ext cx="685253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will explode if I am asked to do that again!</a:t>
              </a:r>
              <a:endParaRPr/>
            </a:p>
          </p:txBody>
        </p:sp>
      </p:grpSp>
      <p:grpSp>
        <p:nvGrpSpPr>
          <p:cNvPr id="263" name="Google Shape;263;p15"/>
          <p:cNvGrpSpPr/>
          <p:nvPr/>
        </p:nvGrpSpPr>
        <p:grpSpPr>
          <a:xfrm>
            <a:off x="741363" y="4827588"/>
            <a:ext cx="7632700" cy="955675"/>
            <a:chOff x="1416052" y="4686355"/>
            <a:chExt cx="7632700" cy="956160"/>
          </a:xfrm>
        </p:grpSpPr>
        <p:sp>
          <p:nvSpPr>
            <p:cNvPr id="264" name="Google Shape;264;p15"/>
            <p:cNvSpPr/>
            <p:nvPr/>
          </p:nvSpPr>
          <p:spPr>
            <a:xfrm>
              <a:off x="1416052" y="4686355"/>
              <a:ext cx="7632700" cy="956160"/>
            </a:xfrm>
            <a:prstGeom prst="rect">
              <a:avLst/>
            </a:prstGeom>
            <a:solidFill>
              <a:srgbClr val="AFDE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516068" y="4916880"/>
              <a:ext cx="6058428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motorbike travelled faster than the speed of light.</a:t>
              </a:r>
              <a:endParaRPr/>
            </a:p>
          </p:txBody>
        </p:sp>
      </p:grpSp>
      <p:sp>
        <p:nvSpPr>
          <p:cNvPr id="266" name="Google Shape;266;p15"/>
          <p:cNvSpPr/>
          <p:nvPr/>
        </p:nvSpPr>
        <p:spPr>
          <a:xfrm>
            <a:off x="755650" y="1370013"/>
            <a:ext cx="7632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statement/information that is untrue or over the top.</a:t>
            </a:r>
            <a:endParaRPr/>
          </a:p>
        </p:txBody>
      </p:sp>
      <p:pic>
        <p:nvPicPr>
          <p:cNvPr id="267" name="Google Shape;2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175" y="1773238"/>
            <a:ext cx="1901825" cy="15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675" y="3092450"/>
            <a:ext cx="1408113" cy="156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1763" y="4510088"/>
            <a:ext cx="1884362" cy="1541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Exaggeration</a:t>
            </a:r>
            <a:endParaRPr/>
          </a:p>
        </p:txBody>
      </p:sp>
      <p:grpSp>
        <p:nvGrpSpPr>
          <p:cNvPr id="275" name="Google Shape;275;p16"/>
          <p:cNvGrpSpPr/>
          <p:nvPr/>
        </p:nvGrpSpPr>
        <p:grpSpPr>
          <a:xfrm>
            <a:off x="750888" y="2219325"/>
            <a:ext cx="1662112" cy="941388"/>
            <a:chOff x="1488688" y="1550394"/>
            <a:chExt cx="1644972" cy="941381"/>
          </a:xfrm>
        </p:grpSpPr>
        <p:sp>
          <p:nvSpPr>
            <p:cNvPr id="276" name="Google Shape;276;p16"/>
            <p:cNvSpPr/>
            <p:nvPr/>
          </p:nvSpPr>
          <p:spPr>
            <a:xfrm>
              <a:off x="1488688" y="1550394"/>
              <a:ext cx="1644972" cy="941381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1493402" y="1722197"/>
              <a:ext cx="1630542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happy</a:t>
              </a:r>
              <a:endParaRPr/>
            </a:p>
          </p:txBody>
        </p:sp>
      </p:grpSp>
      <p:sp>
        <p:nvSpPr>
          <p:cNvPr id="278" name="Google Shape;278;p16"/>
          <p:cNvSpPr/>
          <p:nvPr/>
        </p:nvSpPr>
        <p:spPr>
          <a:xfrm>
            <a:off x="755650" y="1370013"/>
            <a:ext cx="7632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words below to create your own exaggerated statement. 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782638" y="5299075"/>
            <a:ext cx="7632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think of any other exaggerated statements you have heard used? </a:t>
            </a:r>
            <a:endParaRPr/>
          </a:p>
        </p:txBody>
      </p:sp>
      <p:grpSp>
        <p:nvGrpSpPr>
          <p:cNvPr id="280" name="Google Shape;280;p16"/>
          <p:cNvGrpSpPr/>
          <p:nvPr/>
        </p:nvGrpSpPr>
        <p:grpSpPr>
          <a:xfrm>
            <a:off x="741363" y="3756025"/>
            <a:ext cx="1662112" cy="941388"/>
            <a:chOff x="1488688" y="1550394"/>
            <a:chExt cx="1644972" cy="941381"/>
          </a:xfrm>
        </p:grpSpPr>
        <p:sp>
          <p:nvSpPr>
            <p:cNvPr id="281" name="Google Shape;281;p16"/>
            <p:cNvSpPr/>
            <p:nvPr/>
          </p:nvSpPr>
          <p:spPr>
            <a:xfrm>
              <a:off x="1488688" y="1550394"/>
              <a:ext cx="1644972" cy="941381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1503117" y="1722197"/>
              <a:ext cx="1630543" cy="4951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000" lIns="108000" spcFirstLastPara="1" rIns="108000" wrap="square" tIns="108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bored</a:t>
              </a:r>
              <a:endParaRPr/>
            </a:p>
          </p:txBody>
        </p:sp>
      </p:grpSp>
      <p:grpSp>
        <p:nvGrpSpPr>
          <p:cNvPr id="283" name="Google Shape;283;p16"/>
          <p:cNvGrpSpPr/>
          <p:nvPr/>
        </p:nvGrpSpPr>
        <p:grpSpPr>
          <a:xfrm>
            <a:off x="2503488" y="3529013"/>
            <a:ext cx="5870575" cy="1354137"/>
            <a:chOff x="2504017" y="3199065"/>
            <a:chExt cx="5870571" cy="1354667"/>
          </a:xfrm>
        </p:grpSpPr>
        <p:grpSp>
          <p:nvGrpSpPr>
            <p:cNvPr id="284" name="Google Shape;284;p16"/>
            <p:cNvGrpSpPr/>
            <p:nvPr/>
          </p:nvGrpSpPr>
          <p:grpSpPr>
            <a:xfrm>
              <a:off x="2504017" y="3443636"/>
              <a:ext cx="5870571" cy="956049"/>
              <a:chOff x="3787909" y="3228655"/>
              <a:chExt cx="7647564" cy="956049"/>
            </a:xfrm>
          </p:grpSpPr>
          <p:sp>
            <p:nvSpPr>
              <p:cNvPr id="285" name="Google Shape;285;p16"/>
              <p:cNvSpPr/>
              <p:nvPr/>
            </p:nvSpPr>
            <p:spPr>
              <a:xfrm>
                <a:off x="3787909" y="3228655"/>
                <a:ext cx="7647564" cy="956049"/>
              </a:xfrm>
              <a:prstGeom prst="rect">
                <a:avLst/>
              </a:prstGeom>
              <a:solidFill>
                <a:srgbClr val="CEDF9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6"/>
              <p:cNvSpPr/>
              <p:nvPr/>
            </p:nvSpPr>
            <p:spPr>
              <a:xfrm>
                <a:off x="4050614" y="3382776"/>
                <a:ext cx="4846703" cy="495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8000" lIns="108000" spcFirstLastPara="1" rIns="108000" wrap="square" tIns="1080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 was so bored I could have died!</a:t>
                </a:r>
                <a:endParaRPr/>
              </a:p>
            </p:txBody>
          </p:sp>
        </p:grpSp>
        <p:pic>
          <p:nvPicPr>
            <p:cNvPr id="287" name="Google Shape;28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48339" y="3199065"/>
              <a:ext cx="881812" cy="13546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16"/>
          <p:cNvGrpSpPr/>
          <p:nvPr/>
        </p:nvGrpSpPr>
        <p:grpSpPr>
          <a:xfrm>
            <a:off x="2503488" y="2019300"/>
            <a:ext cx="5870575" cy="1238250"/>
            <a:chOff x="2503488" y="2019887"/>
            <a:chExt cx="5871074" cy="1237595"/>
          </a:xfrm>
        </p:grpSpPr>
        <p:grpSp>
          <p:nvGrpSpPr>
            <p:cNvPr id="289" name="Google Shape;289;p16"/>
            <p:cNvGrpSpPr/>
            <p:nvPr/>
          </p:nvGrpSpPr>
          <p:grpSpPr>
            <a:xfrm>
              <a:off x="2503488" y="2211874"/>
              <a:ext cx="5871074" cy="940889"/>
              <a:chOff x="2504018" y="2067973"/>
              <a:chExt cx="5870571" cy="941602"/>
            </a:xfrm>
          </p:grpSpPr>
          <p:sp>
            <p:nvSpPr>
              <p:cNvPr id="290" name="Google Shape;290;p16"/>
              <p:cNvSpPr/>
              <p:nvPr/>
            </p:nvSpPr>
            <p:spPr>
              <a:xfrm>
                <a:off x="2504018" y="2067973"/>
                <a:ext cx="5870571" cy="941602"/>
              </a:xfrm>
              <a:prstGeom prst="rect">
                <a:avLst/>
              </a:prstGeom>
              <a:solidFill>
                <a:srgbClr val="EEBCD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6"/>
              <p:cNvSpPr/>
              <p:nvPr/>
            </p:nvSpPr>
            <p:spPr>
              <a:xfrm>
                <a:off x="2705680" y="2324480"/>
                <a:ext cx="348685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 was as happy as a pig in mud.</a:t>
                </a:r>
                <a:endParaRPr/>
              </a:p>
            </p:txBody>
          </p:sp>
        </p:grpSp>
        <p:pic>
          <p:nvPicPr>
            <p:cNvPr id="292" name="Google Shape;29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23580" y="2019887"/>
              <a:ext cx="1719221" cy="123759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Statistics</a:t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755650" y="1370013"/>
            <a:ext cx="76327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Factual data used to convince the reader.</a:t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2257425" y="5162550"/>
            <a:ext cx="4629150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data could you use if you were trying to persuade people to eat healthily?</a:t>
            </a:r>
            <a:endParaRPr/>
          </a:p>
        </p:txBody>
      </p:sp>
      <p:grpSp>
        <p:nvGrpSpPr>
          <p:cNvPr id="300" name="Google Shape;300;p17"/>
          <p:cNvGrpSpPr/>
          <p:nvPr/>
        </p:nvGrpSpPr>
        <p:grpSpPr>
          <a:xfrm>
            <a:off x="755650" y="1585913"/>
            <a:ext cx="7618413" cy="1822450"/>
            <a:chOff x="755650" y="1586463"/>
            <a:chExt cx="7618939" cy="1821511"/>
          </a:xfrm>
        </p:grpSpPr>
        <p:grpSp>
          <p:nvGrpSpPr>
            <p:cNvPr id="301" name="Google Shape;301;p17"/>
            <p:cNvGrpSpPr/>
            <p:nvPr/>
          </p:nvGrpSpPr>
          <p:grpSpPr>
            <a:xfrm>
              <a:off x="755650" y="2110068"/>
              <a:ext cx="7618939" cy="940902"/>
              <a:chOff x="755650" y="2067733"/>
              <a:chExt cx="7618939" cy="940902"/>
            </a:xfrm>
          </p:grpSpPr>
          <p:sp>
            <p:nvSpPr>
              <p:cNvPr id="302" name="Google Shape;302;p17"/>
              <p:cNvSpPr/>
              <p:nvPr/>
            </p:nvSpPr>
            <p:spPr>
              <a:xfrm>
                <a:off x="755650" y="2067733"/>
                <a:ext cx="7618939" cy="940902"/>
              </a:xfrm>
              <a:prstGeom prst="rect">
                <a:avLst/>
              </a:prstGeom>
              <a:solidFill>
                <a:srgbClr val="EEBCD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7"/>
              <p:cNvSpPr/>
              <p:nvPr/>
            </p:nvSpPr>
            <p:spPr>
              <a:xfrm>
                <a:off x="962254" y="2193829"/>
                <a:ext cx="512527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95% of people agreed it was the best pizza they had ever tasted.</a:t>
                </a:r>
                <a:endParaRPr/>
              </a:p>
            </p:txBody>
          </p:sp>
        </p:grpSp>
        <p:pic>
          <p:nvPicPr>
            <p:cNvPr id="304" name="Google Shape;30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85985" y="1586463"/>
              <a:ext cx="1802337" cy="18215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17"/>
          <p:cNvGrpSpPr/>
          <p:nvPr/>
        </p:nvGrpSpPr>
        <p:grpSpPr>
          <a:xfrm>
            <a:off x="755650" y="3624263"/>
            <a:ext cx="7618413" cy="1538287"/>
            <a:chOff x="755651" y="3624123"/>
            <a:chExt cx="7618938" cy="1538719"/>
          </a:xfrm>
        </p:grpSpPr>
        <p:grpSp>
          <p:nvGrpSpPr>
            <p:cNvPr id="306" name="Google Shape;306;p17"/>
            <p:cNvGrpSpPr/>
            <p:nvPr/>
          </p:nvGrpSpPr>
          <p:grpSpPr>
            <a:xfrm>
              <a:off x="755651" y="3774977"/>
              <a:ext cx="7618938" cy="955943"/>
              <a:chOff x="1510321" y="3229790"/>
              <a:chExt cx="9925153" cy="955943"/>
            </a:xfrm>
          </p:grpSpPr>
          <p:sp>
            <p:nvSpPr>
              <p:cNvPr id="307" name="Google Shape;307;p17"/>
              <p:cNvSpPr/>
              <p:nvPr/>
            </p:nvSpPr>
            <p:spPr>
              <a:xfrm>
                <a:off x="1510321" y="3229790"/>
                <a:ext cx="9925153" cy="955943"/>
              </a:xfrm>
              <a:prstGeom prst="rect">
                <a:avLst/>
              </a:prstGeom>
              <a:solidFill>
                <a:srgbClr val="CEDF9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7"/>
              <p:cNvSpPr/>
              <p:nvPr/>
            </p:nvSpPr>
            <p:spPr>
              <a:xfrm>
                <a:off x="1626193" y="3432839"/>
                <a:ext cx="8241719" cy="495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8000" lIns="108000" spcFirstLastPara="1" rIns="108000" wrap="square" tIns="1080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GB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85% of children believe homework should be abolished.</a:t>
                </a:r>
                <a:endParaRPr/>
              </a:p>
            </p:txBody>
          </p:sp>
        </p:grpSp>
        <p:grpSp>
          <p:nvGrpSpPr>
            <p:cNvPr id="309" name="Google Shape;309;p17"/>
            <p:cNvGrpSpPr/>
            <p:nvPr/>
          </p:nvGrpSpPr>
          <p:grpSpPr>
            <a:xfrm>
              <a:off x="6245138" y="3624123"/>
              <a:ext cx="2084029" cy="1538719"/>
              <a:chOff x="6245138" y="3624123"/>
              <a:chExt cx="2084029" cy="1538719"/>
            </a:xfrm>
          </p:grpSpPr>
          <p:pic>
            <p:nvPicPr>
              <p:cNvPr id="310" name="Google Shape;310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245138" y="3624123"/>
                <a:ext cx="2084029" cy="153871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11" name="Google Shape;311;p17"/>
              <p:cNvCxnSpPr/>
              <p:nvPr/>
            </p:nvCxnSpPr>
            <p:spPr>
              <a:xfrm>
                <a:off x="6469457" y="3700344"/>
                <a:ext cx="1717794" cy="146249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17"/>
              <p:cNvCxnSpPr/>
              <p:nvPr/>
            </p:nvCxnSpPr>
            <p:spPr>
              <a:xfrm flipH="1">
                <a:off x="6469457" y="3635238"/>
                <a:ext cx="1717794" cy="1462499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8"/>
          <p:cNvGrpSpPr/>
          <p:nvPr/>
        </p:nvGrpSpPr>
        <p:grpSpPr>
          <a:xfrm>
            <a:off x="755650" y="1939925"/>
            <a:ext cx="7618413" cy="1743075"/>
            <a:chOff x="755650" y="1939394"/>
            <a:chExt cx="7618413" cy="1743607"/>
          </a:xfrm>
        </p:grpSpPr>
        <p:sp>
          <p:nvSpPr>
            <p:cNvPr id="318" name="Google Shape;318;p18"/>
            <p:cNvSpPr/>
            <p:nvPr/>
          </p:nvSpPr>
          <p:spPr>
            <a:xfrm>
              <a:off x="755650" y="2260167"/>
              <a:ext cx="7618413" cy="941675"/>
            </a:xfrm>
            <a:prstGeom prst="rect">
              <a:avLst/>
            </a:prstGeom>
            <a:solidFill>
              <a:srgbClr val="EEBC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5971" y="1939394"/>
              <a:ext cx="1322947" cy="174360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0" name="Google Shape;320;p18"/>
          <p:cNvGrpSpPr/>
          <p:nvPr/>
        </p:nvGrpSpPr>
        <p:grpSpPr>
          <a:xfrm>
            <a:off x="755650" y="4603750"/>
            <a:ext cx="7632700" cy="957263"/>
            <a:chOff x="755650" y="4604278"/>
            <a:chExt cx="7632700" cy="956160"/>
          </a:xfrm>
        </p:grpSpPr>
        <p:sp>
          <p:nvSpPr>
            <p:cNvPr id="321" name="Google Shape;321;p18"/>
            <p:cNvSpPr/>
            <p:nvPr/>
          </p:nvSpPr>
          <p:spPr>
            <a:xfrm>
              <a:off x="755650" y="4604278"/>
              <a:ext cx="7618413" cy="956160"/>
            </a:xfrm>
            <a:prstGeom prst="rect">
              <a:avLst/>
            </a:prstGeom>
            <a:solidFill>
              <a:srgbClr val="CEDF9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" name="Google Shape;32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95971" y="4741502"/>
              <a:ext cx="1792379" cy="627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18"/>
          <p:cNvSpPr/>
          <p:nvPr/>
        </p:nvSpPr>
        <p:spPr>
          <a:xfrm>
            <a:off x="919163" y="2419350"/>
            <a:ext cx="51260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“Stop, look and listen when crossing the road.”</a:t>
            </a:r>
            <a:endParaRPr/>
          </a:p>
        </p:txBody>
      </p:sp>
      <p:sp>
        <p:nvSpPr>
          <p:cNvPr id="324" name="Google Shape;324;p18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Three (rule of)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755650" y="13700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believed that a person is more likely to remember things if they are grouped in three.</a:t>
            </a:r>
            <a:endParaRPr/>
          </a:p>
        </p:txBody>
      </p:sp>
      <p:sp>
        <p:nvSpPr>
          <p:cNvPr id="326" name="Google Shape;326;p18"/>
          <p:cNvSpPr txBox="1"/>
          <p:nvPr/>
        </p:nvSpPr>
        <p:spPr>
          <a:xfrm>
            <a:off x="1160463" y="2735263"/>
            <a:ext cx="3381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1747838" y="2727325"/>
            <a:ext cx="3381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919163" y="2414588"/>
            <a:ext cx="51260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look and listen when crossing the road.”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2743200" y="2744788"/>
            <a:ext cx="33813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085C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919163" y="2417763"/>
            <a:ext cx="51260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look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listen when crossing the road.”</a:t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920750" y="2416175"/>
            <a:ext cx="5124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look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800" u="none" cap="none" strike="noStrike">
                <a:solidFill>
                  <a:srgbClr val="CA085C"/>
                </a:solidFill>
                <a:latin typeface="Arial"/>
                <a:ea typeface="Arial"/>
                <a:cs typeface="Arial"/>
                <a:sym typeface="Arial"/>
              </a:rPr>
              <a:t>listen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crossing the road.”</a:t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844550" y="3684588"/>
            <a:ext cx="7632700" cy="700087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using this in persuasive writing choose an order so the word having the biggest impact is at the end.</a:t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844550" y="4808538"/>
            <a:ext cx="6326188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Twinkl chocolate is smooth, velvety and tastes divine!</a:t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844550" y="4808538"/>
            <a:ext cx="6326188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Twinkl chocolate is </a:t>
            </a: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smooth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velvety and tastes divine!</a:t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844550" y="4819650"/>
            <a:ext cx="6326188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Twinkl chocolate is </a:t>
            </a: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smooth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velvety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tastes divine!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850900" y="4818063"/>
            <a:ext cx="63277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Twinkl chocolate is </a:t>
            </a: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smooth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velvety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tastes divine!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3184525" y="5164138"/>
            <a:ext cx="33813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326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4041775" y="5146675"/>
            <a:ext cx="33813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326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5576888" y="5184775"/>
            <a:ext cx="3381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326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6A932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/>
          <p:nvPr>
            <p:ph type="title"/>
          </p:nvPr>
        </p:nvSpPr>
        <p:spPr>
          <a:xfrm>
            <a:off x="457200" y="479425"/>
            <a:ext cx="8220075" cy="993775"/>
          </a:xfrm>
          <a:prstGeom prst="roundRect">
            <a:avLst>
              <a:gd fmla="val 9639" name="adj"/>
            </a:avLst>
          </a:prstGeom>
          <a:noFill/>
          <a:ln>
            <a:noFill/>
          </a:ln>
        </p:spPr>
        <p:txBody>
          <a:bodyPr anchorCtr="1" anchor="ctr" bIns="252000" lIns="252000" spcFirstLastPara="1" rIns="252000" wrap="square" tIns="252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latin typeface="Arial"/>
                <a:ea typeface="Arial"/>
                <a:cs typeface="Arial"/>
                <a:sym typeface="Arial"/>
              </a:rPr>
              <a:t>Three (rule of)</a:t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755650" y="2386013"/>
            <a:ext cx="76327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your own Rule of Three text for one of the pictures/text below and discuss your idea with a partner.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755650" y="1473200"/>
            <a:ext cx="7632700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0" spcFirstLastPara="1" rIns="0" wrap="square" tIns="72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internet to search for ‘Rule of Three’ examples – how many do </a:t>
            </a:r>
            <a:b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recognise?</a:t>
            </a:r>
            <a:endParaRPr/>
          </a:p>
        </p:txBody>
      </p:sp>
      <p:grpSp>
        <p:nvGrpSpPr>
          <p:cNvPr id="347" name="Google Shape;347;p19"/>
          <p:cNvGrpSpPr/>
          <p:nvPr/>
        </p:nvGrpSpPr>
        <p:grpSpPr>
          <a:xfrm>
            <a:off x="838200" y="3298825"/>
            <a:ext cx="2878138" cy="2552700"/>
            <a:chOff x="838753" y="3298341"/>
            <a:chExt cx="2877561" cy="2552628"/>
          </a:xfrm>
        </p:grpSpPr>
        <p:pic>
          <p:nvPicPr>
            <p:cNvPr id="348" name="Google Shape;34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753" y="3298341"/>
              <a:ext cx="2877561" cy="21276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19"/>
            <p:cNvSpPr/>
            <p:nvPr/>
          </p:nvSpPr>
          <p:spPr>
            <a:xfrm>
              <a:off x="1584119" y="5481637"/>
              <a:ext cx="12442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homework</a:t>
              </a:r>
              <a:endParaRPr/>
            </a:p>
          </p:txBody>
        </p:sp>
      </p:grpSp>
      <p:pic>
        <p:nvPicPr>
          <p:cNvPr id="350" name="Google Shape;3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9800" y="3698875"/>
            <a:ext cx="2811463" cy="186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6225" y="3084513"/>
            <a:ext cx="1762125" cy="29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winkl Template">
      <a:dk1>
        <a:srgbClr val="1C1C1C"/>
      </a:dk1>
      <a:lt1>
        <a:srgbClr val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2017-10-03T11:20:19Z</dcterms:created>
  <dc:creator>Laura Buckland</dc:creator>
</cp:coreProperties>
</file>