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72" r:id="rId2"/>
  </p:sldMasterIdLst>
  <p:notesMasterIdLst>
    <p:notesMasterId r:id="rId23"/>
  </p:notesMasterIdLst>
  <p:handoutMasterIdLst>
    <p:handoutMasterId r:id="rId24"/>
  </p:handoutMasterIdLst>
  <p:sldIdLst>
    <p:sldId id="268" r:id="rId3"/>
    <p:sldId id="264"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70" r:id="rId22"/>
  </p:sldIdLst>
  <p:sldSz cx="9144000" cy="6858000" type="screen4x3"/>
  <p:notesSz cx="6858000" cy="9144000"/>
  <p:embeddedFontLst>
    <p:embeddedFont>
      <p:font typeface="Calibri" panose="020F0502020204030204" pitchFamily="34" charset="0"/>
      <p:regular r:id="rId25"/>
      <p:bold r:id="rId26"/>
      <p:italic r:id="rId27"/>
      <p:boldItalic r:id="rId28"/>
    </p:embeddedFont>
    <p:embeddedFont>
      <p:font typeface="Roboto" panose="020B0604020202020204" charset="0"/>
      <p:regular r:id="rId29"/>
      <p:bold r:id="rId30"/>
      <p:italic r:id="rId31"/>
      <p:boldItalic r:id="rId32"/>
    </p:embeddedFont>
    <p:embeddedFont>
      <p:font typeface="Twinkl" panose="020B0604020202020204" charset="0"/>
      <p:regular r:id="rId33"/>
      <p:bold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CBC0"/>
    <a:srgbClr val="009386"/>
    <a:srgbClr val="25B7BC"/>
    <a:srgbClr val="BDE1DB"/>
    <a:srgbClr val="21A6F9"/>
    <a:srgbClr val="4DB1E3"/>
    <a:srgbClr val="E34192"/>
    <a:srgbClr val="18A0DB"/>
    <a:srgbClr val="DE1E5A"/>
    <a:srgbClr val="BC01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528" autoAdjust="0"/>
    <p:restoredTop sz="94660"/>
  </p:normalViewPr>
  <p:slideViewPr>
    <p:cSldViewPr snapToGrid="0" showGuides="1">
      <p:cViewPr varScale="1">
        <p:scale>
          <a:sx n="76" d="100"/>
          <a:sy n="76" d="100"/>
        </p:scale>
        <p:origin x="990" y="96"/>
      </p:cViewPr>
      <p:guideLst>
        <p:guide orient="horz" pos="2160"/>
        <p:guide pos="2880"/>
        <p:guide pos="340"/>
        <p:guide orient="horz" pos="3974"/>
        <p:guide pos="5420"/>
        <p:guide orient="horz" pos="346"/>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58" d="100"/>
          <a:sy n="58" d="100"/>
        </p:scale>
        <p:origin x="196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25/03/2023</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25/03/2023</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https://www.twinkl.co.uk/"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hyperlink" Target="https://www.twinkl.co.uk/"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hlinkClick r:id="rId2"/>
          </p:cNvPr>
          <p:cNvSpPr/>
          <p:nvPr userDrawn="1"/>
        </p:nvSpPr>
        <p:spPr>
          <a:xfrm>
            <a:off x="4137660" y="3152488"/>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A6AF19F4-F3F7-4C42-9D77-CE6A3BA4EF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38151"/>
            <a:ext cx="8220075" cy="994306"/>
          </a:xfrm>
          <a:prstGeom prst="roundRect">
            <a:avLst>
              <a:gd name="adj" fmla="val 9641"/>
            </a:avLst>
          </a:prstGeom>
        </p:spPr>
        <p:txBody>
          <a:bodyPr>
            <a:noAutofit/>
          </a:bodyPr>
          <a:lstStyle>
            <a:lvl1pPr>
              <a:defRPr sz="3600">
                <a:latin typeface="Twinkl" pitchFamily="2" charset="0"/>
              </a:defRPr>
            </a:lvl1pPr>
          </a:lstStyle>
          <a:p>
            <a:r>
              <a:rPr lang="en-US"/>
              <a:t>Click to edit Master title style</a:t>
            </a:r>
            <a:endParaRPr lang="en-GB" dirty="0"/>
          </a:p>
        </p:txBody>
      </p:sp>
    </p:spTree>
    <p:extLst>
      <p:ext uri="{BB962C8B-B14F-4D97-AF65-F5344CB8AC3E}">
        <p14:creationId xmlns:p14="http://schemas.microsoft.com/office/powerpoint/2010/main" val="26107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
        <p:nvSpPr>
          <p:cNvPr id="2" name="Rounded Rectangle 24">
            <a:extLst>
              <a:ext uri="{FF2B5EF4-FFF2-40B4-BE49-F238E27FC236}">
                <a16:creationId xmlns:a16="http://schemas.microsoft.com/office/drawing/2014/main" id="{D00ECC8E-1AC3-4E6C-A19B-0A141ABB9071}"/>
              </a:ext>
            </a:extLst>
          </p:cNvPr>
          <p:cNvSpPr/>
          <p:nvPr userDrawn="1"/>
        </p:nvSpPr>
        <p:spPr bwMode="auto">
          <a:xfrm>
            <a:off x="503239" y="2930434"/>
            <a:ext cx="8137524" cy="3414803"/>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3" name="Rounded Rectangle 23">
            <a:extLst>
              <a:ext uri="{FF2B5EF4-FFF2-40B4-BE49-F238E27FC236}">
                <a16:creationId xmlns:a16="http://schemas.microsoft.com/office/drawing/2014/main" id="{D34100E7-28EA-4EB7-A437-37BB3EE7034D}"/>
              </a:ext>
            </a:extLst>
          </p:cNvPr>
          <p:cNvSpPr/>
          <p:nvPr userDrawn="1"/>
        </p:nvSpPr>
        <p:spPr bwMode="auto">
          <a:xfrm>
            <a:off x="503239" y="512763"/>
            <a:ext cx="8137524" cy="2193019"/>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2" name="Text Placeholder 9">
            <a:extLst>
              <a:ext uri="{FF2B5EF4-FFF2-40B4-BE49-F238E27FC236}">
                <a16:creationId xmlns:a16="http://schemas.microsoft.com/office/drawing/2014/main" id="{BAFFD08E-D8F1-4950-9C0C-AB7477306E53}"/>
              </a:ext>
            </a:extLst>
          </p:cNvPr>
          <p:cNvSpPr>
            <a:spLocks noGrp="1"/>
          </p:cNvSpPr>
          <p:nvPr>
            <p:ph type="body" sz="quarter" idx="10" hasCustomPrompt="1"/>
          </p:nvPr>
        </p:nvSpPr>
        <p:spPr>
          <a:xfrm>
            <a:off x="755651" y="1037017"/>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3" name="Text Placeholder 9">
            <a:extLst>
              <a:ext uri="{FF2B5EF4-FFF2-40B4-BE49-F238E27FC236}">
                <a16:creationId xmlns:a16="http://schemas.microsoft.com/office/drawing/2014/main" id="{D99DBCE3-B6AA-4708-994C-5096C6F0D38E}"/>
              </a:ext>
            </a:extLst>
          </p:cNvPr>
          <p:cNvSpPr>
            <a:spLocks noGrp="1"/>
          </p:cNvSpPr>
          <p:nvPr>
            <p:ph type="body" sz="quarter" idx="11" hasCustomPrompt="1"/>
          </p:nvPr>
        </p:nvSpPr>
        <p:spPr>
          <a:xfrm>
            <a:off x="755651" y="3445623"/>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5" name="Text Placeholder 8">
            <a:extLst>
              <a:ext uri="{FF2B5EF4-FFF2-40B4-BE49-F238E27FC236}">
                <a16:creationId xmlns:a16="http://schemas.microsoft.com/office/drawing/2014/main" id="{E9191366-6C10-435F-A2F8-6CBD1318FD96}"/>
              </a:ext>
            </a:extLst>
          </p:cNvPr>
          <p:cNvSpPr>
            <a:spLocks noGrp="1"/>
          </p:cNvSpPr>
          <p:nvPr>
            <p:ph type="body" sz="quarter" idx="12" hasCustomPrompt="1"/>
          </p:nvPr>
        </p:nvSpPr>
        <p:spPr>
          <a:xfrm>
            <a:off x="755650" y="512763"/>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Aim</a:t>
            </a:r>
            <a:endParaRPr lang="en-GB" dirty="0"/>
          </a:p>
        </p:txBody>
      </p:sp>
      <p:sp>
        <p:nvSpPr>
          <p:cNvPr id="17" name="Text Placeholder 8">
            <a:extLst>
              <a:ext uri="{FF2B5EF4-FFF2-40B4-BE49-F238E27FC236}">
                <a16:creationId xmlns:a16="http://schemas.microsoft.com/office/drawing/2014/main" id="{6758EDAF-8492-4BF5-93A1-EA11C5D83003}"/>
              </a:ext>
            </a:extLst>
          </p:cNvPr>
          <p:cNvSpPr>
            <a:spLocks noGrp="1"/>
          </p:cNvSpPr>
          <p:nvPr>
            <p:ph type="body" sz="quarter" idx="13" hasCustomPrompt="1"/>
          </p:nvPr>
        </p:nvSpPr>
        <p:spPr>
          <a:xfrm>
            <a:off x="755649" y="2930434"/>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Success Criteria</a:t>
            </a:r>
            <a:endParaRPr lang="en-GB" dirty="0"/>
          </a:p>
        </p:txBody>
      </p:sp>
    </p:spTree>
    <p:extLst>
      <p:ext uri="{BB962C8B-B14F-4D97-AF65-F5344CB8AC3E}">
        <p14:creationId xmlns:p14="http://schemas.microsoft.com/office/powerpoint/2010/main" val="2257523209"/>
      </p:ext>
    </p:extLst>
  </p:cSld>
  <p:clrMapOvr>
    <a:masterClrMapping/>
  </p:clrMapOvr>
  <p:extLst>
    <p:ext uri="{DCECCB84-F9BA-43D5-87BE-67443E8EF086}">
      <p15:sldGuideLst xmlns:p15="http://schemas.microsoft.com/office/powerpoint/2012/main">
        <p15:guide id="1" orient="horz" pos="640"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4" name="Rectangle 3">
            <a:hlinkClick r:id="rId2"/>
          </p:cNvPr>
          <p:cNvSpPr/>
          <p:nvPr userDrawn="1"/>
        </p:nvSpPr>
        <p:spPr>
          <a:xfrm>
            <a:off x="4137660" y="3152488"/>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2878789E-A3A8-4D88-944B-EAB30DC2EA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681973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udio/Video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7" name="Rectangle 6">
            <a:extLst>
              <a:ext uri="{FF2B5EF4-FFF2-40B4-BE49-F238E27FC236}">
                <a16:creationId xmlns:a16="http://schemas.microsoft.com/office/drawing/2014/main" id="{FFC63B62-F6F8-4A70-935A-0CBCE04C051B}"/>
              </a:ext>
            </a:extLst>
          </p:cNvPr>
          <p:cNvSpPr/>
          <p:nvPr userDrawn="1"/>
        </p:nvSpPr>
        <p:spPr>
          <a:xfrm>
            <a:off x="755650"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9" name="Rectangle 8">
            <a:extLst>
              <a:ext uri="{FF2B5EF4-FFF2-40B4-BE49-F238E27FC236}">
                <a16:creationId xmlns:a16="http://schemas.microsoft.com/office/drawing/2014/main" id="{F19AD57E-3485-41E5-86B7-DD796C8FF6EE}"/>
              </a:ext>
            </a:extLst>
          </p:cNvPr>
          <p:cNvSpPr/>
          <p:nvPr userDrawn="1"/>
        </p:nvSpPr>
        <p:spPr>
          <a:xfrm>
            <a:off x="3380669"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10" name="Rectangle 9">
            <a:extLst>
              <a:ext uri="{FF2B5EF4-FFF2-40B4-BE49-F238E27FC236}">
                <a16:creationId xmlns:a16="http://schemas.microsoft.com/office/drawing/2014/main" id="{2A702136-D7DD-49CD-A4E0-42B0D1BAFEFE}"/>
              </a:ext>
            </a:extLst>
          </p:cNvPr>
          <p:cNvSpPr/>
          <p:nvPr userDrawn="1"/>
        </p:nvSpPr>
        <p:spPr>
          <a:xfrm>
            <a:off x="6005688"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pic>
        <p:nvPicPr>
          <p:cNvPr id="12" name="Picture 1">
            <a:extLst>
              <a:ext uri="{FF2B5EF4-FFF2-40B4-BE49-F238E27FC236}">
                <a16:creationId xmlns:a16="http://schemas.microsoft.com/office/drawing/2014/main" id="{3124EECE-F7EF-4595-9620-68FD0E5E79FF}"/>
              </a:ext>
            </a:extLst>
          </p:cNvPr>
          <p:cNvPicPr>
            <a:picLocks noChangeAspect="1"/>
          </p:cNvPicPr>
          <p:nvPr userDrawn="1"/>
        </p:nvPicPr>
        <p:blipFill>
          <a:blip r:embed="rId2">
            <a:extLst>
              <a:ext uri="{28A0092B-C50C-407E-A947-70E740481C1C}">
                <a14:useLocalDpi xmlns:a14="http://schemas.microsoft.com/office/drawing/2010/main" val="0"/>
              </a:ext>
            </a:extLst>
          </a:blip>
          <a:srcRect l="14311" t="18852" r="58228" b="54654"/>
          <a:stretch>
            <a:fillRect/>
          </a:stretch>
        </p:blipFill>
        <p:spPr bwMode="auto">
          <a:xfrm>
            <a:off x="1088144" y="2435955"/>
            <a:ext cx="1717675" cy="1150938"/>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06CC5B3-3D32-4C6C-8E1F-3758561C1FA7}"/>
              </a:ext>
            </a:extLst>
          </p:cNvPr>
          <p:cNvPicPr>
            <a:picLocks noChangeAspect="1"/>
          </p:cNvPicPr>
          <p:nvPr userDrawn="1"/>
        </p:nvPicPr>
        <p:blipFill>
          <a:blip r:embed="rId3">
            <a:extLst>
              <a:ext uri="{28A0092B-C50C-407E-A947-70E740481C1C}">
                <a14:useLocalDpi xmlns:a14="http://schemas.microsoft.com/office/drawing/2010/main" val="0"/>
              </a:ext>
            </a:extLst>
          </a:blip>
          <a:srcRect l="15067" t="26003" r="44786" b="11296"/>
          <a:stretch>
            <a:fillRect/>
          </a:stretch>
        </p:blipFill>
        <p:spPr bwMode="auto">
          <a:xfrm>
            <a:off x="1088144" y="3771617"/>
            <a:ext cx="1717675" cy="185737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5" name="Rectangle 14">
            <a:extLst>
              <a:ext uri="{FF2B5EF4-FFF2-40B4-BE49-F238E27FC236}">
                <a16:creationId xmlns:a16="http://schemas.microsoft.com/office/drawing/2014/main" id="{BF1001AF-39AD-4F6C-8CC7-DE3F05F47402}"/>
              </a:ext>
            </a:extLst>
          </p:cNvPr>
          <p:cNvSpPr/>
          <p:nvPr userDrawn="1"/>
        </p:nvSpPr>
        <p:spPr>
          <a:xfrm>
            <a:off x="450762" y="5938338"/>
            <a:ext cx="8226000" cy="295275"/>
          </a:xfrm>
          <a:prstGeom prst="rect">
            <a:avLst/>
          </a:prstGeom>
          <a:solidFill>
            <a:srgbClr val="E34192"/>
          </a:solidFill>
          <a:ln>
            <a:solidFill>
              <a:srgbClr val="E3419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100" b="1" dirty="0">
                <a:solidFill>
                  <a:schemeClr val="bg1"/>
                </a:solidFill>
                <a:latin typeface="Roboto" panose="02000000000000000000" pitchFamily="2" charset="0"/>
                <a:ea typeface="Roboto" panose="02000000000000000000" pitchFamily="2" charset="0"/>
                <a:cs typeface="Arial" panose="020B0604020202020204" pitchFamily="34" charset="0"/>
              </a:rPr>
              <a:t>Please note the embedded audio may not be compatible with earlier versions of PowerPoint. </a:t>
            </a:r>
          </a:p>
        </p:txBody>
      </p:sp>
      <p:grpSp>
        <p:nvGrpSpPr>
          <p:cNvPr id="16" name="Group 15">
            <a:extLst>
              <a:ext uri="{FF2B5EF4-FFF2-40B4-BE49-F238E27FC236}">
                <a16:creationId xmlns:a16="http://schemas.microsoft.com/office/drawing/2014/main" id="{F4C02CD7-54FA-442D-8552-484866B452A3}"/>
              </a:ext>
            </a:extLst>
          </p:cNvPr>
          <p:cNvGrpSpPr/>
          <p:nvPr userDrawn="1"/>
        </p:nvGrpSpPr>
        <p:grpSpPr>
          <a:xfrm>
            <a:off x="653175" y="1186618"/>
            <a:ext cx="2485137" cy="4640495"/>
            <a:chOff x="653175" y="1293580"/>
            <a:chExt cx="2485137" cy="4640495"/>
          </a:xfrm>
        </p:grpSpPr>
        <p:sp>
          <p:nvSpPr>
            <p:cNvPr id="17" name="Rectangle 16">
              <a:extLst>
                <a:ext uri="{FF2B5EF4-FFF2-40B4-BE49-F238E27FC236}">
                  <a16:creationId xmlns:a16="http://schemas.microsoft.com/office/drawing/2014/main" id="{70129BA9-07CA-4E45-BE89-A3B3D8B06794}"/>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Open the downloaded folder and copy all the files.</a:t>
              </a:r>
            </a:p>
          </p:txBody>
        </p:sp>
        <p:sp>
          <p:nvSpPr>
            <p:cNvPr id="18" name="Oval 17">
              <a:extLst>
                <a:ext uri="{FF2B5EF4-FFF2-40B4-BE49-F238E27FC236}">
                  <a16:creationId xmlns:a16="http://schemas.microsoft.com/office/drawing/2014/main" id="{06AD645D-EF4C-43B9-BC02-E73591ACFEA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1</a:t>
              </a:r>
            </a:p>
          </p:txBody>
        </p:sp>
      </p:grpSp>
      <p:grpSp>
        <p:nvGrpSpPr>
          <p:cNvPr id="19" name="Group 18">
            <a:extLst>
              <a:ext uri="{FF2B5EF4-FFF2-40B4-BE49-F238E27FC236}">
                <a16:creationId xmlns:a16="http://schemas.microsoft.com/office/drawing/2014/main" id="{08DFAC45-3E54-4D6A-98C4-CF211C83922E}"/>
              </a:ext>
            </a:extLst>
          </p:cNvPr>
          <p:cNvGrpSpPr/>
          <p:nvPr userDrawn="1"/>
        </p:nvGrpSpPr>
        <p:grpSpPr>
          <a:xfrm>
            <a:off x="3278194" y="1186618"/>
            <a:ext cx="2485137" cy="4640495"/>
            <a:chOff x="653175" y="1293580"/>
            <a:chExt cx="2485137" cy="4640495"/>
          </a:xfrm>
        </p:grpSpPr>
        <p:sp>
          <p:nvSpPr>
            <p:cNvPr id="20" name="Rectangle 19">
              <a:extLst>
                <a:ext uri="{FF2B5EF4-FFF2-40B4-BE49-F238E27FC236}">
                  <a16:creationId xmlns:a16="http://schemas.microsoft.com/office/drawing/2014/main" id="{F0CD5D4D-4B63-46DB-9525-B34F30B13615}"/>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Paste the copied files into a new folder.</a:t>
              </a:r>
            </a:p>
          </p:txBody>
        </p:sp>
        <p:sp>
          <p:nvSpPr>
            <p:cNvPr id="21" name="Oval 20">
              <a:extLst>
                <a:ext uri="{FF2B5EF4-FFF2-40B4-BE49-F238E27FC236}">
                  <a16:creationId xmlns:a16="http://schemas.microsoft.com/office/drawing/2014/main" id="{E921D1FD-6ED8-4721-9B13-952826BF7583}"/>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2</a:t>
              </a:r>
            </a:p>
          </p:txBody>
        </p:sp>
      </p:grpSp>
      <p:grpSp>
        <p:nvGrpSpPr>
          <p:cNvPr id="22" name="Group 21">
            <a:extLst>
              <a:ext uri="{FF2B5EF4-FFF2-40B4-BE49-F238E27FC236}">
                <a16:creationId xmlns:a16="http://schemas.microsoft.com/office/drawing/2014/main" id="{2E64373C-29B9-44AD-BBFF-1C2B6CB8B856}"/>
              </a:ext>
            </a:extLst>
          </p:cNvPr>
          <p:cNvGrpSpPr/>
          <p:nvPr userDrawn="1"/>
        </p:nvGrpSpPr>
        <p:grpSpPr>
          <a:xfrm>
            <a:off x="5903213" y="1186618"/>
            <a:ext cx="2485137" cy="4640495"/>
            <a:chOff x="653175" y="1293580"/>
            <a:chExt cx="2485137" cy="4640495"/>
          </a:xfrm>
        </p:grpSpPr>
        <p:sp>
          <p:nvSpPr>
            <p:cNvPr id="23" name="Rectangle 22">
              <a:extLst>
                <a:ext uri="{FF2B5EF4-FFF2-40B4-BE49-F238E27FC236}">
                  <a16:creationId xmlns:a16="http://schemas.microsoft.com/office/drawing/2014/main" id="{3F8F64B4-C8AD-4F3A-AC24-CC1D1D7B43F0}"/>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To use the PowerPoint, enable editing and put into slide show mode.</a:t>
              </a:r>
            </a:p>
          </p:txBody>
        </p:sp>
        <p:sp>
          <p:nvSpPr>
            <p:cNvPr id="24" name="Oval 23">
              <a:extLst>
                <a:ext uri="{FF2B5EF4-FFF2-40B4-BE49-F238E27FC236}">
                  <a16:creationId xmlns:a16="http://schemas.microsoft.com/office/drawing/2014/main" id="{306893F1-C2B6-43EB-825A-DA5B276C890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3</a:t>
              </a:r>
            </a:p>
          </p:txBody>
        </p:sp>
      </p:grpSp>
      <p:pic>
        <p:nvPicPr>
          <p:cNvPr id="25" name="Picture 24">
            <a:extLst>
              <a:ext uri="{FF2B5EF4-FFF2-40B4-BE49-F238E27FC236}">
                <a16:creationId xmlns:a16="http://schemas.microsoft.com/office/drawing/2014/main" id="{F8E75E30-3E3D-4F9B-9EF6-9A9630C27CBB}"/>
              </a:ext>
            </a:extLst>
          </p:cNvPr>
          <p:cNvPicPr>
            <a:picLocks noChangeAspect="1"/>
          </p:cNvPicPr>
          <p:nvPr userDrawn="1"/>
        </p:nvPicPr>
        <p:blipFill>
          <a:blip r:embed="rId4">
            <a:extLst>
              <a:ext uri="{28A0092B-C50C-407E-A947-70E740481C1C}">
                <a14:useLocalDpi xmlns:a14="http://schemas.microsoft.com/office/drawing/2010/main" val="0"/>
              </a:ext>
            </a:extLst>
          </a:blip>
          <a:srcRect l="14085" t="17912" r="52493" b="25307"/>
          <a:stretch>
            <a:fillRect/>
          </a:stretch>
        </p:blipFill>
        <p:spPr bwMode="auto">
          <a:xfrm>
            <a:off x="3720306" y="2435955"/>
            <a:ext cx="1703388" cy="2003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E55EBE21-985E-4E8F-B68C-A7F9AB89D609}"/>
              </a:ext>
            </a:extLst>
          </p:cNvPr>
          <p:cNvPicPr>
            <a:picLocks noChangeAspect="1"/>
          </p:cNvPicPr>
          <p:nvPr userDrawn="1"/>
        </p:nvPicPr>
        <p:blipFill>
          <a:blip r:embed="rId5">
            <a:extLst>
              <a:ext uri="{28A0092B-C50C-407E-A947-70E740481C1C}">
                <a14:useLocalDpi xmlns:a14="http://schemas.microsoft.com/office/drawing/2010/main" val="0"/>
              </a:ext>
            </a:extLst>
          </a:blip>
          <a:srcRect t="65628"/>
          <a:stretch>
            <a:fillRect/>
          </a:stretch>
        </p:blipFill>
        <p:spPr bwMode="auto">
          <a:xfrm>
            <a:off x="6114362" y="3710564"/>
            <a:ext cx="2165314" cy="1601754"/>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2AA4B95-3CCC-45E1-B7B1-343CCBC6F42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114344" y="2435955"/>
            <a:ext cx="2165350" cy="225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EB959152-16E0-47A5-9814-E4CDFB5F1B4A}"/>
              </a:ext>
            </a:extLst>
          </p:cNvPr>
          <p:cNvGrpSpPr/>
          <p:nvPr userDrawn="1"/>
        </p:nvGrpSpPr>
        <p:grpSpPr>
          <a:xfrm>
            <a:off x="6114362" y="2862122"/>
            <a:ext cx="2165350" cy="690207"/>
            <a:chOff x="6137101" y="2837944"/>
            <a:chExt cx="2165350" cy="690207"/>
          </a:xfrm>
        </p:grpSpPr>
        <p:grpSp>
          <p:nvGrpSpPr>
            <p:cNvPr id="29" name="Group 28">
              <a:extLst>
                <a:ext uri="{FF2B5EF4-FFF2-40B4-BE49-F238E27FC236}">
                  <a16:creationId xmlns:a16="http://schemas.microsoft.com/office/drawing/2014/main" id="{2AA9C2EC-978E-419F-A507-D371B5CA5B55}"/>
                </a:ext>
              </a:extLst>
            </p:cNvPr>
            <p:cNvGrpSpPr>
              <a:grpSpLocks/>
            </p:cNvGrpSpPr>
            <p:nvPr/>
          </p:nvGrpSpPr>
          <p:grpSpPr bwMode="auto">
            <a:xfrm>
              <a:off x="6137101" y="2837944"/>
              <a:ext cx="2165350" cy="647700"/>
              <a:chOff x="6164808" y="2589878"/>
              <a:chExt cx="2165459" cy="647296"/>
            </a:xfrm>
          </p:grpSpPr>
          <p:pic>
            <p:nvPicPr>
              <p:cNvPr id="31" name="Picture 30">
                <a:extLst>
                  <a:ext uri="{FF2B5EF4-FFF2-40B4-BE49-F238E27FC236}">
                    <a16:creationId xmlns:a16="http://schemas.microsoft.com/office/drawing/2014/main" id="{B5145F20-A130-4EC9-B902-0B2D234C1C06}"/>
                  </a:ext>
                </a:extLst>
              </p:cNvPr>
              <p:cNvPicPr>
                <a:picLocks noChangeAspect="1"/>
              </p:cNvPicPr>
              <p:nvPr/>
            </p:nvPicPr>
            <p:blipFill>
              <a:blip r:embed="rId7">
                <a:extLst>
                  <a:ext uri="{28A0092B-C50C-407E-A947-70E740481C1C}">
                    <a14:useLocalDpi xmlns:a14="http://schemas.microsoft.com/office/drawing/2010/main" val="0"/>
                  </a:ext>
                </a:extLst>
              </a:blip>
              <a:srcRect t="60687"/>
              <a:stretch>
                <a:fillRect/>
              </a:stretch>
            </p:blipFill>
            <p:spPr bwMode="auto">
              <a:xfrm>
                <a:off x="6164808" y="2589878"/>
                <a:ext cx="2165459" cy="647296"/>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cxnSp>
            <p:nvCxnSpPr>
              <p:cNvPr id="32" name="Straight Arrow Connector 31">
                <a:extLst>
                  <a:ext uri="{FF2B5EF4-FFF2-40B4-BE49-F238E27FC236}">
                    <a16:creationId xmlns:a16="http://schemas.microsoft.com/office/drawing/2014/main" id="{7209CC96-78F3-4B82-BE38-23F76BEC0573}"/>
                  </a:ext>
                </a:extLst>
              </p:cNvPr>
              <p:cNvCxnSpPr/>
              <p:nvPr/>
            </p:nvCxnSpPr>
            <p:spPr>
              <a:xfrm flipH="1">
                <a:off x="7949742" y="2768837"/>
                <a:ext cx="79379" cy="287158"/>
              </a:xfrm>
              <a:prstGeom prst="straightConnector1">
                <a:avLst/>
              </a:prstGeom>
              <a:ln w="19050">
                <a:solidFill>
                  <a:srgbClr val="18A0DB"/>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a16="http://schemas.microsoft.com/office/drawing/2014/main" id="{289AD21C-A27E-4E30-8AB2-27CBD6E49F15}"/>
                </a:ext>
              </a:extLst>
            </p:cNvPr>
            <p:cNvSpPr/>
            <p:nvPr/>
          </p:nvSpPr>
          <p:spPr>
            <a:xfrm>
              <a:off x="7790917" y="3317748"/>
              <a:ext cx="210403" cy="210403"/>
            </a:xfrm>
            <a:prstGeom prst="ellipse">
              <a:avLst/>
            </a:prstGeom>
            <a:noFill/>
            <a:ln w="19050">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5" name="TextBox 44">
            <a:extLst>
              <a:ext uri="{FF2B5EF4-FFF2-40B4-BE49-F238E27FC236}">
                <a16:creationId xmlns:a16="http://schemas.microsoft.com/office/drawing/2014/main" id="{3642231C-A2F6-4367-90C6-0767E987F9A9}"/>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Guidance for Video/Audio in PowerPoints</a:t>
            </a:r>
            <a:endParaRPr lang="en-GB" sz="2800" b="1" dirty="0">
              <a:solidFill>
                <a:srgbClr val="E34192"/>
              </a:solidFill>
            </a:endParaRPr>
          </a:p>
        </p:txBody>
      </p:sp>
    </p:spTree>
    <p:extLst>
      <p:ext uri="{BB962C8B-B14F-4D97-AF65-F5344CB8AC3E}">
        <p14:creationId xmlns:p14="http://schemas.microsoft.com/office/powerpoint/2010/main" val="395936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imation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2295228"/>
            <a:chOff x="743837" y="1344834"/>
            <a:chExt cx="7644513" cy="2295228"/>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Animations</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2021268"/>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dirty="0">
                  <a:latin typeface="Roboto" panose="02000000000000000000" pitchFamily="2" charset="0"/>
                  <a:ea typeface="Roboto" panose="02000000000000000000" pitchFamily="2" charset="0"/>
                </a:rPr>
                <a:t>This resource has been designed with animations to make it as fun and engaging as possible. To view the content in the correct formatting, please view the PowerPoint in ‘slide show mode’. This takes you from desktop to presentation mode. If you view the slides out of ‘slide show mode’, you may find that some of the text and images overlap each other and/or are difficult to read. </a:t>
              </a:r>
            </a:p>
            <a:p>
              <a:pPr>
                <a:spcAft>
                  <a:spcPts val="600"/>
                </a:spcAft>
              </a:pPr>
              <a:r>
                <a:rPr lang="en-GB" sz="1400" dirty="0">
                  <a:latin typeface="Roboto" panose="02000000000000000000" pitchFamily="2" charset="0"/>
                  <a:ea typeface="Roboto" panose="02000000000000000000" pitchFamily="2" charset="0"/>
                </a:rPr>
                <a:t>To enter slide show mode, go to the </a:t>
              </a:r>
              <a:r>
                <a:rPr lang="en-GB" sz="1400" b="1" dirty="0">
                  <a:latin typeface="Roboto" panose="02000000000000000000" pitchFamily="2" charset="0"/>
                  <a:ea typeface="Roboto" panose="02000000000000000000" pitchFamily="2" charset="0"/>
                </a:rPr>
                <a:t>slide show menu tab </a:t>
              </a:r>
              <a:r>
                <a:rPr lang="en-GB" sz="1400" dirty="0">
                  <a:latin typeface="Roboto" panose="02000000000000000000" pitchFamily="2" charset="0"/>
                  <a:ea typeface="Roboto" panose="02000000000000000000" pitchFamily="2" charset="0"/>
                </a:rPr>
                <a:t>and select either </a:t>
              </a:r>
              <a:r>
                <a:rPr lang="en-GB" sz="1400" b="1" dirty="0">
                  <a:latin typeface="Roboto" panose="02000000000000000000" pitchFamily="2" charset="0"/>
                  <a:ea typeface="Roboto" panose="02000000000000000000" pitchFamily="2" charset="0"/>
                </a:rPr>
                <a:t>from beginning</a:t>
              </a:r>
              <a:r>
                <a:rPr lang="en-GB" sz="1400" dirty="0">
                  <a:latin typeface="Roboto" panose="02000000000000000000" pitchFamily="2" charset="0"/>
                  <a:ea typeface="Roboto" panose="02000000000000000000" pitchFamily="2" charset="0"/>
                </a:rPr>
                <a:t> </a:t>
              </a:r>
              <a:r>
                <a:rPr lang="en-GB" sz="1400" b="1" dirty="0">
                  <a:latin typeface="Roboto" panose="02000000000000000000" pitchFamily="2" charset="0"/>
                  <a:ea typeface="Roboto" panose="02000000000000000000" pitchFamily="2" charset="0"/>
                </a:rPr>
                <a:t>or from current slide</a:t>
              </a:r>
              <a:r>
                <a:rPr lang="en-GB" sz="1400" dirty="0">
                  <a:latin typeface="Roboto" panose="02000000000000000000" pitchFamily="2" charset="0"/>
                  <a:ea typeface="Roboto" panose="02000000000000000000" pitchFamily="2" charset="0"/>
                </a:rPr>
                <a:t>.</a:t>
              </a: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1386459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xternal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7223ECE9-6F1A-4E72-ACE0-06F71C468FD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1" name="Group 10">
            <a:extLst>
              <a:ext uri="{FF2B5EF4-FFF2-40B4-BE49-F238E27FC236}">
                <a16:creationId xmlns:a16="http://schemas.microsoft.com/office/drawing/2014/main" id="{5F05BBF0-ECD1-4FE4-937E-1F73A27AF916}"/>
              </a:ext>
            </a:extLst>
          </p:cNvPr>
          <p:cNvGrpSpPr/>
          <p:nvPr userDrawn="1"/>
        </p:nvGrpSpPr>
        <p:grpSpPr>
          <a:xfrm>
            <a:off x="743837" y="1681195"/>
            <a:ext cx="7644513" cy="2002840"/>
            <a:chOff x="743837" y="1344834"/>
            <a:chExt cx="7644513" cy="2002840"/>
          </a:xfrm>
        </p:grpSpPr>
        <p:sp>
          <p:nvSpPr>
            <p:cNvPr id="12" name="Rectangle 11">
              <a:extLst>
                <a:ext uri="{FF2B5EF4-FFF2-40B4-BE49-F238E27FC236}">
                  <a16:creationId xmlns:a16="http://schemas.microsoft.com/office/drawing/2014/main" id="{D52A1D21-ED2B-43AD-B353-E06410A36383}"/>
                </a:ext>
              </a:extLst>
            </p:cNvPr>
            <p:cNvSpPr/>
            <p:nvPr/>
          </p:nvSpPr>
          <p:spPr>
            <a:xfrm>
              <a:off x="743837" y="1344834"/>
              <a:ext cx="2703717"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Websites</a:t>
              </a:r>
            </a:p>
          </p:txBody>
        </p:sp>
        <p:sp>
          <p:nvSpPr>
            <p:cNvPr id="13" name="Rectangle 12">
              <a:extLst>
                <a:ext uri="{FF2B5EF4-FFF2-40B4-BE49-F238E27FC236}">
                  <a16:creationId xmlns:a16="http://schemas.microsoft.com/office/drawing/2014/main" id="{1FFC9EFA-95C1-4D1B-B736-D82D578BE355}"/>
                </a:ext>
              </a:extLst>
            </p:cNvPr>
            <p:cNvSpPr/>
            <p:nvPr/>
          </p:nvSpPr>
          <p:spPr>
            <a:xfrm>
              <a:off x="755650" y="1618794"/>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websites. Please be aware that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You should also be aware that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the case. We are not responsible for the content of external sites.</a:t>
              </a:r>
            </a:p>
          </p:txBody>
        </p:sp>
      </p:grpSp>
      <p:sp>
        <p:nvSpPr>
          <p:cNvPr id="16" name="TextBox 15">
            <a:extLst>
              <a:ext uri="{FF2B5EF4-FFF2-40B4-BE49-F238E27FC236}">
                <a16:creationId xmlns:a16="http://schemas.microsoft.com/office/drawing/2014/main" id="{3E809478-62E0-4C7A-83A2-03913DD4D89E}"/>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211658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xternal Video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6" name="Rectangle 15">
            <a:extLst>
              <a:ext uri="{FF2B5EF4-FFF2-40B4-BE49-F238E27FC236}">
                <a16:creationId xmlns:a16="http://schemas.microsoft.com/office/drawing/2014/main" id="{E98D6414-A260-404A-9274-A35AB2A1EA5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7" name="Group 16">
            <a:extLst>
              <a:ext uri="{FF2B5EF4-FFF2-40B4-BE49-F238E27FC236}">
                <a16:creationId xmlns:a16="http://schemas.microsoft.com/office/drawing/2014/main" id="{5688A155-CC1C-4CA5-824A-88B66BF4B7D8}"/>
              </a:ext>
            </a:extLst>
          </p:cNvPr>
          <p:cNvGrpSpPr/>
          <p:nvPr userDrawn="1"/>
        </p:nvGrpSpPr>
        <p:grpSpPr>
          <a:xfrm>
            <a:off x="733079" y="1681195"/>
            <a:ext cx="7643458" cy="2649171"/>
            <a:chOff x="744892" y="3707365"/>
            <a:chExt cx="7643458" cy="2649171"/>
          </a:xfrm>
        </p:grpSpPr>
        <p:sp>
          <p:nvSpPr>
            <p:cNvPr id="18" name="Rectangle 17">
              <a:extLst>
                <a:ext uri="{FF2B5EF4-FFF2-40B4-BE49-F238E27FC236}">
                  <a16:creationId xmlns:a16="http://schemas.microsoft.com/office/drawing/2014/main" id="{B519C287-0C36-43FA-A38F-45E9B4A11B4D}"/>
                </a:ext>
              </a:extLst>
            </p:cNvPr>
            <p:cNvSpPr/>
            <p:nvPr/>
          </p:nvSpPr>
          <p:spPr>
            <a:xfrm>
              <a:off x="744892" y="3707365"/>
              <a:ext cx="3214972"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Video Websites</a:t>
              </a:r>
            </a:p>
          </p:txBody>
        </p:sp>
        <p:sp>
          <p:nvSpPr>
            <p:cNvPr id="19" name="Rectangle 18">
              <a:extLst>
                <a:ext uri="{FF2B5EF4-FFF2-40B4-BE49-F238E27FC236}">
                  <a16:creationId xmlns:a16="http://schemas.microsoft.com/office/drawing/2014/main" id="{F9BBE2CC-1604-46EB-BCDA-9F6AB7410668}"/>
                </a:ext>
              </a:extLst>
            </p:cNvPr>
            <p:cNvSpPr/>
            <p:nvPr/>
          </p:nvSpPr>
          <p:spPr>
            <a:xfrm>
              <a:off x="755650" y="3981325"/>
              <a:ext cx="7632700" cy="2375211"/>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video websites. These websites often have </a:t>
              </a:r>
              <a:r>
                <a:rPr lang="en-GB" sz="1400" dirty="0" err="1">
                  <a:latin typeface="Roboto" panose="02000000000000000000" pitchFamily="2" charset="0"/>
                  <a:ea typeface="Roboto" panose="02000000000000000000" pitchFamily="2" charset="0"/>
                </a:rPr>
                <a:t>autoplay</a:t>
              </a:r>
              <a:r>
                <a:rPr lang="en-GB" sz="1400" dirty="0">
                  <a:latin typeface="Roboto" panose="02000000000000000000" pitchFamily="2" charset="0"/>
                  <a:ea typeface="Roboto" panose="02000000000000000000" pitchFamily="2" charset="0"/>
                </a:rPr>
                <a:t> features meaning that other videos will play after the video you are watching finishes. You should disable this feature before using the video in any classroom or similar setting.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assumes no responsibility for the contents of linked websites.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a:t>
              </a:r>
              <a:br>
                <a:rPr lang="en-GB" sz="1400" dirty="0">
                  <a:latin typeface="Roboto" panose="02000000000000000000" pitchFamily="2" charset="0"/>
                  <a:ea typeface="Roboto" panose="02000000000000000000" pitchFamily="2" charset="0"/>
                </a:rPr>
              </a:br>
              <a:r>
                <a:rPr lang="en-GB" sz="1400" dirty="0">
                  <a:latin typeface="Roboto" panose="02000000000000000000" pitchFamily="2" charset="0"/>
                  <a:ea typeface="Roboto" panose="02000000000000000000" pitchFamily="2" charset="0"/>
                </a:rPr>
                <a:t>the case.</a:t>
              </a:r>
            </a:p>
          </p:txBody>
        </p:sp>
      </p:grpSp>
      <p:sp>
        <p:nvSpPr>
          <p:cNvPr id="20" name="TextBox 19">
            <a:extLst>
              <a:ext uri="{FF2B5EF4-FFF2-40B4-BE49-F238E27FC236}">
                <a16:creationId xmlns:a16="http://schemas.microsoft.com/office/drawing/2014/main" id="{DFBBCB53-5B3E-420F-B980-49AC69553407}"/>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671506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s Editable">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89AF2E5A-21A6-4DED-A279-863F1FD479A6}"/>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20" name="Group 19">
            <a:extLst>
              <a:ext uri="{FF2B5EF4-FFF2-40B4-BE49-F238E27FC236}">
                <a16:creationId xmlns:a16="http://schemas.microsoft.com/office/drawing/2014/main" id="{0F0C260B-7A5F-4EEA-B147-DE8B78F68034}"/>
              </a:ext>
            </a:extLst>
          </p:cNvPr>
          <p:cNvGrpSpPr/>
          <p:nvPr userDrawn="1"/>
        </p:nvGrpSpPr>
        <p:grpSpPr>
          <a:xfrm>
            <a:off x="733079" y="3957995"/>
            <a:ext cx="7643458" cy="2002840"/>
            <a:chOff x="744892" y="3707365"/>
            <a:chExt cx="7643458" cy="2002840"/>
          </a:xfrm>
        </p:grpSpPr>
        <p:sp>
          <p:nvSpPr>
            <p:cNvPr id="21" name="Rectangle 20">
              <a:extLst>
                <a:ext uri="{FF2B5EF4-FFF2-40B4-BE49-F238E27FC236}">
                  <a16:creationId xmlns:a16="http://schemas.microsoft.com/office/drawing/2014/main" id="{55E2DD96-F714-4CFE-8121-9BD618AA74C8}"/>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22" name="Rectangle 21">
              <a:extLst>
                <a:ext uri="{FF2B5EF4-FFF2-40B4-BE49-F238E27FC236}">
                  <a16:creationId xmlns:a16="http://schemas.microsoft.com/office/drawing/2014/main" id="{110E9556-8ED8-404D-9793-60568C040CEB}"/>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
        <p:nvSpPr>
          <p:cNvPr id="23" name="TextBox 22">
            <a:extLst>
              <a:ext uri="{FF2B5EF4-FFF2-40B4-BE49-F238E27FC236}">
                <a16:creationId xmlns:a16="http://schemas.microsoft.com/office/drawing/2014/main" id="{A19C2661-D570-405D-A1E4-6CF9CAC8BE24}"/>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grpSp>
        <p:nvGrpSpPr>
          <p:cNvPr id="40" name="Group 39">
            <a:extLst>
              <a:ext uri="{FF2B5EF4-FFF2-40B4-BE49-F238E27FC236}">
                <a16:creationId xmlns:a16="http://schemas.microsoft.com/office/drawing/2014/main" id="{C6AC6D2F-10A3-489C-9A80-706183C3A327}"/>
              </a:ext>
            </a:extLst>
          </p:cNvPr>
          <p:cNvGrpSpPr/>
          <p:nvPr userDrawn="1"/>
        </p:nvGrpSpPr>
        <p:grpSpPr>
          <a:xfrm>
            <a:off x="735818" y="1678482"/>
            <a:ext cx="7643458" cy="2002840"/>
            <a:chOff x="744892" y="3707365"/>
            <a:chExt cx="7643458" cy="2002840"/>
          </a:xfrm>
        </p:grpSpPr>
        <p:sp>
          <p:nvSpPr>
            <p:cNvPr id="41" name="Rectangle 40">
              <a:extLst>
                <a:ext uri="{FF2B5EF4-FFF2-40B4-BE49-F238E27FC236}">
                  <a16:creationId xmlns:a16="http://schemas.microsoft.com/office/drawing/2014/main" id="{B0D18F5C-122B-478C-AA2E-1A9D89C3D4CD}"/>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42" name="Rectangle 41">
              <a:extLst>
                <a:ext uri="{FF2B5EF4-FFF2-40B4-BE49-F238E27FC236}">
                  <a16:creationId xmlns:a16="http://schemas.microsoft.com/office/drawing/2014/main" id="{43633EA5-BFCB-47C1-B42E-6602A01D8301}"/>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Tree>
    <p:extLst>
      <p:ext uri="{BB962C8B-B14F-4D97-AF65-F5344CB8AC3E}">
        <p14:creationId xmlns:p14="http://schemas.microsoft.com/office/powerpoint/2010/main" val="38378773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8A0DB"/>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6523EF-0876-4ABF-9197-65E002165F3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US"/>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Lst>
  <p:txStyles>
    <p:titleStyle>
      <a:lvl1pPr algn="l" defTabSz="914400" rtl="0" eaLnBrk="1" latinLnBrk="0" hangingPunct="1">
        <a:lnSpc>
          <a:spcPct val="90000"/>
        </a:lnSpc>
        <a:spcBef>
          <a:spcPct val="0"/>
        </a:spcBef>
        <a:buNone/>
        <a:defRPr sz="36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21A6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2809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01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What is a clause?</a:t>
            </a:r>
            <a:endParaRPr lang="en-GB" sz="3600" dirty="0">
              <a:solidFill>
                <a:schemeClr val="bg1"/>
              </a:solidFill>
              <a:latin typeface="+mn-lt"/>
            </a:endParaRPr>
          </a:p>
        </p:txBody>
      </p:sp>
      <p:sp>
        <p:nvSpPr>
          <p:cNvPr id="5" name="Text"/>
          <p:cNvSpPr/>
          <p:nvPr/>
        </p:nvSpPr>
        <p:spPr>
          <a:xfrm>
            <a:off x="755650" y="1586938"/>
            <a:ext cx="7632700" cy="3867837"/>
          </a:xfrm>
          <a:prstGeom prst="roundRect">
            <a:avLst/>
          </a:prstGeom>
          <a:solidFill>
            <a:srgbClr val="BDE1DB"/>
          </a:solidFill>
        </p:spPr>
        <p:txBody>
          <a:bodyPr wrap="square" lIns="108000" tIns="108000" rIns="108000" bIns="108000">
            <a:spAutoFit/>
          </a:bodyPr>
          <a:lstStyle/>
          <a:p>
            <a:pPr marL="285750" indent="-285750">
              <a:buFont typeface="Arial" panose="020B0604020202020204" pitchFamily="34" charset="0"/>
              <a:buChar char="•"/>
            </a:pPr>
            <a:r>
              <a:rPr lang="en-GB" dirty="0"/>
              <a:t>The subject of a sentence is the person or thing that is carrying out the main action of that sentence. </a:t>
            </a:r>
          </a:p>
          <a:p>
            <a:pPr marL="285750" indent="-285750">
              <a:buFont typeface="Arial" panose="020B0604020202020204" pitchFamily="34" charset="0"/>
              <a:buChar char="•"/>
            </a:pPr>
            <a:endParaRPr lang="en-GB" sz="1100" dirty="0"/>
          </a:p>
          <a:p>
            <a:pPr marL="285750" indent="-285750">
              <a:buFont typeface="Arial" panose="020B0604020202020204" pitchFamily="34" charset="0"/>
              <a:buChar char="•"/>
            </a:pPr>
            <a:r>
              <a:rPr lang="en-GB" dirty="0"/>
              <a:t>Verbs can describe an action (e.g. sing, climb),                                 emotion (e.g. loves, hates), thought (e.g. thinks),                                 opinion (e.g. believes) or state of being (e.g. am,                                           is, are, was, were).</a:t>
            </a:r>
          </a:p>
          <a:p>
            <a:pPr marL="285750" indent="-285750">
              <a:buFont typeface="Arial" panose="020B0604020202020204" pitchFamily="34" charset="0"/>
              <a:buChar char="•"/>
            </a:pPr>
            <a:endParaRPr lang="en-GB" sz="1100" dirty="0"/>
          </a:p>
          <a:p>
            <a:pPr marL="285750" indent="-285750">
              <a:buFont typeface="Arial" panose="020B0604020202020204" pitchFamily="34" charset="0"/>
              <a:buChar char="•"/>
            </a:pPr>
            <a:r>
              <a:rPr lang="en-GB" dirty="0"/>
              <a:t>A clause is a group of words that contains a                                           verb and a subject. </a:t>
            </a:r>
          </a:p>
          <a:p>
            <a:pPr marL="285750" indent="-285750">
              <a:buFont typeface="Arial" panose="020B0604020202020204" pitchFamily="34" charset="0"/>
              <a:buChar char="•"/>
            </a:pPr>
            <a:endParaRPr lang="en-GB" sz="1100" dirty="0"/>
          </a:p>
          <a:p>
            <a:pPr marL="285750" indent="-285750">
              <a:buFont typeface="Arial" panose="020B0604020202020204" pitchFamily="34" charset="0"/>
              <a:buChar char="•"/>
            </a:pPr>
            <a:r>
              <a:rPr lang="en-GB" dirty="0"/>
              <a:t>There are two types of clauses, main                                                       and subordinate.</a:t>
            </a:r>
          </a:p>
        </p:txBody>
      </p:sp>
      <p:pic>
        <p:nvPicPr>
          <p:cNvPr id="4" name="Picture 3">
            <a:extLst>
              <a:ext uri="{FF2B5EF4-FFF2-40B4-BE49-F238E27FC236}">
                <a16:creationId xmlns:a16="http://schemas.microsoft.com/office/drawing/2014/main" id="{983F54D6-C818-428F-8178-D9FEBBA762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35453" y="2392823"/>
            <a:ext cx="2423578" cy="6446868"/>
          </a:xfrm>
          <a:prstGeom prst="rect">
            <a:avLst/>
          </a:prstGeom>
        </p:spPr>
      </p:pic>
    </p:spTree>
    <p:extLst>
      <p:ext uri="{BB962C8B-B14F-4D97-AF65-F5344CB8AC3E}">
        <p14:creationId xmlns:p14="http://schemas.microsoft.com/office/powerpoint/2010/main" val="128623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1000"/>
                                        <p:tgtEl>
                                          <p:spTgt spid="5">
                                            <p:bg/>
                                          </p:spTgt>
                                        </p:tgtEl>
                                      </p:cBhvr>
                                    </p:animEffect>
                                    <p:anim calcmode="lin" valueType="num">
                                      <p:cBhvr>
                                        <p:cTn id="8" dur="1000" fill="hold"/>
                                        <p:tgtEl>
                                          <p:spTgt spid="5">
                                            <p:bg/>
                                          </p:spTgt>
                                        </p:tgtEl>
                                        <p:attrNameLst>
                                          <p:attrName>ppt_x</p:attrName>
                                        </p:attrNameLst>
                                      </p:cBhvr>
                                      <p:tavLst>
                                        <p:tav tm="0">
                                          <p:val>
                                            <p:strVal val="#ppt_x"/>
                                          </p:val>
                                        </p:tav>
                                        <p:tav tm="100000">
                                          <p:val>
                                            <p:strVal val="#ppt_x"/>
                                          </p:val>
                                        </p:tav>
                                      </p:tavLst>
                                    </p:anim>
                                    <p:anim calcmode="lin" valueType="num">
                                      <p:cBhvr>
                                        <p:cTn id="9" dur="1000" fill="hold"/>
                                        <p:tgtEl>
                                          <p:spTgt spid="5">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fade">
                                      <p:cBhvr>
                                        <p:cTn id="28" dur="1000"/>
                                        <p:tgtEl>
                                          <p:spTgt spid="5">
                                            <p:txEl>
                                              <p:pRg st="4" end="4"/>
                                            </p:txEl>
                                          </p:spTgt>
                                        </p:tgtEl>
                                      </p:cBhvr>
                                    </p:animEffect>
                                    <p:anim calcmode="lin" valueType="num">
                                      <p:cBhvr>
                                        <p:cTn id="29"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fade">
                                      <p:cBhvr>
                                        <p:cTn id="35" dur="1000"/>
                                        <p:tgtEl>
                                          <p:spTgt spid="5">
                                            <p:txEl>
                                              <p:pRg st="6" end="6"/>
                                            </p:txEl>
                                          </p:spTgt>
                                        </p:tgtEl>
                                      </p:cBhvr>
                                    </p:animEffect>
                                    <p:anim calcmode="lin" valueType="num">
                                      <p:cBhvr>
                                        <p:cTn id="36"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Main Clause</a:t>
            </a:r>
          </a:p>
        </p:txBody>
      </p:sp>
      <p:sp>
        <p:nvSpPr>
          <p:cNvPr id="5" name="Text"/>
          <p:cNvSpPr/>
          <p:nvPr/>
        </p:nvSpPr>
        <p:spPr>
          <a:xfrm>
            <a:off x="755649" y="1621121"/>
            <a:ext cx="7632700" cy="1160713"/>
          </a:xfrm>
          <a:prstGeom prst="roundRect">
            <a:avLst/>
          </a:prstGeom>
          <a:solidFill>
            <a:srgbClr val="BDE1DB"/>
          </a:solidFill>
        </p:spPr>
        <p:txBody>
          <a:bodyPr wrap="square" lIns="108000" tIns="108000" rIns="108000" bIns="108000">
            <a:spAutoFit/>
          </a:bodyPr>
          <a:lstStyle/>
          <a:p>
            <a:pPr marL="285750" indent="-285750">
              <a:buFont typeface="Arial" panose="020B0604020202020204" pitchFamily="34" charset="0"/>
              <a:buChar char="•"/>
            </a:pPr>
            <a:r>
              <a:rPr lang="en-GB" dirty="0"/>
              <a:t>A main clause is the key part of a sentence. Every sentence has a main clause. A main clause can form a complete sentence; it makes sense on its own.</a:t>
            </a:r>
          </a:p>
        </p:txBody>
      </p:sp>
      <p:pic>
        <p:nvPicPr>
          <p:cNvPr id="6" name="Picture 5">
            <a:extLst>
              <a:ext uri="{FF2B5EF4-FFF2-40B4-BE49-F238E27FC236}">
                <a16:creationId xmlns:a16="http://schemas.microsoft.com/office/drawing/2014/main" id="{B849D833-C5F2-4FD2-9A03-663DA8B73B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50094" y="2891745"/>
            <a:ext cx="4657458" cy="3461833"/>
          </a:xfrm>
          <a:prstGeom prst="rect">
            <a:avLst/>
          </a:prstGeom>
        </p:spPr>
      </p:pic>
    </p:spTree>
    <p:extLst>
      <p:ext uri="{BB962C8B-B14F-4D97-AF65-F5344CB8AC3E}">
        <p14:creationId xmlns:p14="http://schemas.microsoft.com/office/powerpoint/2010/main" val="2676168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Subordinate Clause</a:t>
            </a:r>
          </a:p>
        </p:txBody>
      </p:sp>
      <p:sp>
        <p:nvSpPr>
          <p:cNvPr id="5" name="Text"/>
          <p:cNvSpPr/>
          <p:nvPr/>
        </p:nvSpPr>
        <p:spPr>
          <a:xfrm>
            <a:off x="755649" y="1621121"/>
            <a:ext cx="7632700" cy="1160713"/>
          </a:xfrm>
          <a:prstGeom prst="roundRect">
            <a:avLst/>
          </a:prstGeom>
          <a:solidFill>
            <a:srgbClr val="BDE1DB"/>
          </a:solidFill>
        </p:spPr>
        <p:txBody>
          <a:bodyPr wrap="square" lIns="108000" tIns="108000" rIns="108000" bIns="108000">
            <a:spAutoFit/>
          </a:bodyPr>
          <a:lstStyle/>
          <a:p>
            <a:pPr marL="285750" indent="-285750">
              <a:buFont typeface="Arial" panose="020B0604020202020204" pitchFamily="34" charset="0"/>
              <a:buChar char="•"/>
            </a:pPr>
            <a:r>
              <a:rPr lang="en-GB" dirty="0"/>
              <a:t>A subordinate clause gives us more information about the main clause. If we removed the main clause, a subordinate clause would not make sense on its own, it is not a ‘full’ sentence.</a:t>
            </a:r>
          </a:p>
        </p:txBody>
      </p:sp>
      <p:pic>
        <p:nvPicPr>
          <p:cNvPr id="3" name="Picture 2">
            <a:extLst>
              <a:ext uri="{FF2B5EF4-FFF2-40B4-BE49-F238E27FC236}">
                <a16:creationId xmlns:a16="http://schemas.microsoft.com/office/drawing/2014/main" id="{C0671E56-DFE1-47DF-BE2C-7995C91898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01441" y="3050160"/>
            <a:ext cx="4941116" cy="3129711"/>
          </a:xfrm>
          <a:prstGeom prst="rect">
            <a:avLst/>
          </a:prstGeom>
        </p:spPr>
      </p:pic>
    </p:spTree>
    <p:extLst>
      <p:ext uri="{BB962C8B-B14F-4D97-AF65-F5344CB8AC3E}">
        <p14:creationId xmlns:p14="http://schemas.microsoft.com/office/powerpoint/2010/main" val="92068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Simple Sentences</a:t>
            </a:r>
          </a:p>
        </p:txBody>
      </p:sp>
      <p:sp>
        <p:nvSpPr>
          <p:cNvPr id="5" name="Text"/>
          <p:cNvSpPr/>
          <p:nvPr/>
        </p:nvSpPr>
        <p:spPr>
          <a:xfrm>
            <a:off x="755649" y="1501480"/>
            <a:ext cx="7632700" cy="1121341"/>
          </a:xfrm>
          <a:prstGeom prst="roundRect">
            <a:avLst/>
          </a:prstGeom>
          <a:noFill/>
        </p:spPr>
        <p:txBody>
          <a:bodyPr wrap="square" lIns="108000" tIns="108000" rIns="108000" bIns="108000">
            <a:spAutoFit/>
          </a:bodyPr>
          <a:lstStyle/>
          <a:p>
            <a:pPr>
              <a:lnSpc>
                <a:spcPct val="150000"/>
              </a:lnSpc>
            </a:pPr>
            <a:r>
              <a:rPr lang="en-GB" dirty="0"/>
              <a:t>A simple sentence has just one main clause. </a:t>
            </a:r>
          </a:p>
          <a:p>
            <a:pPr>
              <a:lnSpc>
                <a:spcPct val="150000"/>
              </a:lnSpc>
            </a:pPr>
            <a:r>
              <a:rPr lang="en-GB" dirty="0"/>
              <a:t>For example:</a:t>
            </a:r>
          </a:p>
        </p:txBody>
      </p:sp>
      <p:sp>
        <p:nvSpPr>
          <p:cNvPr id="7" name="Text Box">
            <a:extLst>
              <a:ext uri="{FF2B5EF4-FFF2-40B4-BE49-F238E27FC236}">
                <a16:creationId xmlns:a16="http://schemas.microsoft.com/office/drawing/2014/main" id="{22878FC7-278F-4D3E-815B-1FD3300CD2F5}"/>
              </a:ext>
            </a:extLst>
          </p:cNvPr>
          <p:cNvSpPr/>
          <p:nvPr/>
        </p:nvSpPr>
        <p:spPr>
          <a:xfrm>
            <a:off x="1290415" y="2920205"/>
            <a:ext cx="4182354" cy="525886"/>
          </a:xfrm>
          <a:prstGeom prst="rect">
            <a:avLst/>
          </a:prstGeom>
          <a:solidFill>
            <a:srgbClr val="25B7B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GB" sz="2000" dirty="0"/>
              <a:t>Bluebells are protected flowers.</a:t>
            </a:r>
          </a:p>
        </p:txBody>
      </p:sp>
      <p:pic>
        <p:nvPicPr>
          <p:cNvPr id="4" name="Picture 3">
            <a:extLst>
              <a:ext uri="{FF2B5EF4-FFF2-40B4-BE49-F238E27FC236}">
                <a16:creationId xmlns:a16="http://schemas.microsoft.com/office/drawing/2014/main" id="{5C18C31D-3D5C-4751-A3AC-FFE97CC3575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874" t="-16492" r="12328" b="10934"/>
          <a:stretch/>
        </p:blipFill>
        <p:spPr>
          <a:xfrm>
            <a:off x="4862557" y="2435551"/>
            <a:ext cx="3414035" cy="3290132"/>
          </a:xfrm>
          <a:prstGeom prst="ellipse">
            <a:avLst/>
          </a:prstGeom>
          <a:solidFill>
            <a:srgbClr val="8ACBC0"/>
          </a:solidFill>
          <a:ln w="57150">
            <a:solidFill>
              <a:srgbClr val="25B7BC"/>
            </a:solidFill>
          </a:ln>
        </p:spPr>
      </p:pic>
    </p:spTree>
    <p:extLst>
      <p:ext uri="{BB962C8B-B14F-4D97-AF65-F5344CB8AC3E}">
        <p14:creationId xmlns:p14="http://schemas.microsoft.com/office/powerpoint/2010/main" val="168131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right)">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Compound Sentences</a:t>
            </a:r>
          </a:p>
        </p:txBody>
      </p:sp>
      <p:sp>
        <p:nvSpPr>
          <p:cNvPr id="6" name="Text">
            <a:extLst>
              <a:ext uri="{FF2B5EF4-FFF2-40B4-BE49-F238E27FC236}">
                <a16:creationId xmlns:a16="http://schemas.microsoft.com/office/drawing/2014/main" id="{B64D81F4-64F8-4B44-8DF5-2FE71DA20058}"/>
              </a:ext>
            </a:extLst>
          </p:cNvPr>
          <p:cNvSpPr/>
          <p:nvPr/>
        </p:nvSpPr>
        <p:spPr>
          <a:xfrm>
            <a:off x="755649" y="1463912"/>
            <a:ext cx="7632700" cy="4803342"/>
          </a:xfrm>
          <a:prstGeom prst="roundRect">
            <a:avLst>
              <a:gd name="adj" fmla="val 8284"/>
            </a:avLst>
          </a:prstGeom>
          <a:solidFill>
            <a:srgbClr val="BDE1DB"/>
          </a:solidFill>
        </p:spPr>
        <p:txBody>
          <a:bodyPr wrap="square" lIns="108000" tIns="108000" rIns="108000" bIns="108000">
            <a:spAutoFit/>
          </a:bodyPr>
          <a:lstStyle/>
          <a:p>
            <a:pPr marL="285750" indent="-285750">
              <a:buFont typeface="Arial" panose="020B0604020202020204" pitchFamily="34" charset="0"/>
              <a:buChar char="•"/>
            </a:pPr>
            <a:r>
              <a:rPr lang="en-GB" dirty="0"/>
              <a:t>A compound sentence will include two main clauses (they will both make sense on their own and have equal importance in the sentence). </a:t>
            </a:r>
          </a:p>
          <a:p>
            <a:pPr marL="285750" indent="-285750">
              <a:buFont typeface="Arial" panose="020B0604020202020204" pitchFamily="34" charset="0"/>
              <a:buChar char="•"/>
            </a:pPr>
            <a:endParaRPr lang="en-GB" sz="1100" dirty="0"/>
          </a:p>
          <a:p>
            <a:pPr marL="285750" indent="-285750">
              <a:buFont typeface="Arial" panose="020B0604020202020204" pitchFamily="34" charset="0"/>
              <a:buChar char="•"/>
            </a:pPr>
            <a:r>
              <a:rPr lang="en-GB" dirty="0"/>
              <a:t>The main clauses will be linked together by a type of word called a ‘co-ordinating conjunction’: and; so; but; or; for; yet; nor. </a:t>
            </a:r>
          </a:p>
          <a:p>
            <a:pPr marL="285750" indent="-285750">
              <a:buFont typeface="Arial" panose="020B0604020202020204" pitchFamily="34" charset="0"/>
              <a:buChar char="•"/>
            </a:pPr>
            <a:r>
              <a:rPr lang="en-GB" dirty="0"/>
              <a:t>For example:</a:t>
            </a:r>
          </a:p>
          <a:p>
            <a:pPr marL="742950" lvl="1" indent="-285750">
              <a:lnSpc>
                <a:spcPct val="150000"/>
              </a:lnSpc>
              <a:buFont typeface="Arial" panose="020B0604020202020204" pitchFamily="34" charset="0"/>
              <a:buChar char="•"/>
            </a:pPr>
            <a:r>
              <a:rPr lang="en-GB" sz="1600" dirty="0"/>
              <a:t>Bluebells are protected flowers and uprooting wildflowers without permission is not allowed in Northern Ireland.</a:t>
            </a:r>
          </a:p>
          <a:p>
            <a:pPr marL="742950" lvl="1" indent="-285750">
              <a:lnSpc>
                <a:spcPct val="150000"/>
              </a:lnSpc>
              <a:buFont typeface="Arial" panose="020B0604020202020204" pitchFamily="34" charset="0"/>
              <a:buChar char="•"/>
            </a:pPr>
            <a:r>
              <a:rPr lang="en-GB" sz="1600" dirty="0"/>
              <a:t>Main clause: Bluebells are protected flowers.</a:t>
            </a:r>
          </a:p>
          <a:p>
            <a:pPr marL="742950" lvl="1" indent="-285750">
              <a:lnSpc>
                <a:spcPct val="150000"/>
              </a:lnSpc>
              <a:buFont typeface="Arial" panose="020B0604020202020204" pitchFamily="34" charset="0"/>
              <a:buChar char="•"/>
            </a:pPr>
            <a:r>
              <a:rPr lang="en-GB" sz="1600" dirty="0"/>
              <a:t>Main clause: Uprooting wildflowers without permission is not allowed in Northern Ireland.</a:t>
            </a:r>
          </a:p>
          <a:p>
            <a:pPr marL="742950" lvl="1" indent="-285750">
              <a:lnSpc>
                <a:spcPct val="150000"/>
              </a:lnSpc>
              <a:buFont typeface="Arial" panose="020B0604020202020204" pitchFamily="34" charset="0"/>
              <a:buChar char="•"/>
            </a:pPr>
            <a:r>
              <a:rPr lang="en-GB" sz="1600" dirty="0"/>
              <a:t>Co-ordinating conjunction: and</a:t>
            </a:r>
          </a:p>
        </p:txBody>
      </p:sp>
      <p:grpSp>
        <p:nvGrpSpPr>
          <p:cNvPr id="8" name="Group 7">
            <a:extLst>
              <a:ext uri="{FF2B5EF4-FFF2-40B4-BE49-F238E27FC236}">
                <a16:creationId xmlns:a16="http://schemas.microsoft.com/office/drawing/2014/main" id="{D0B4161A-1CD2-4801-B6EF-8B10571742D9}"/>
              </a:ext>
            </a:extLst>
          </p:cNvPr>
          <p:cNvGrpSpPr/>
          <p:nvPr/>
        </p:nvGrpSpPr>
        <p:grpSpPr>
          <a:xfrm>
            <a:off x="5460704" y="5092833"/>
            <a:ext cx="2927645" cy="1475933"/>
            <a:chOff x="5024834" y="4635648"/>
            <a:chExt cx="3917717" cy="1975064"/>
          </a:xfrm>
        </p:grpSpPr>
        <p:pic>
          <p:nvPicPr>
            <p:cNvPr id="3" name="Picture 2">
              <a:extLst>
                <a:ext uri="{FF2B5EF4-FFF2-40B4-BE49-F238E27FC236}">
                  <a16:creationId xmlns:a16="http://schemas.microsoft.com/office/drawing/2014/main" id="{B3139337-B018-43A8-BA08-38A1751711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26634" y="4635648"/>
              <a:ext cx="2415917" cy="1975064"/>
            </a:xfrm>
            <a:prstGeom prst="rect">
              <a:avLst/>
            </a:prstGeom>
          </p:spPr>
        </p:pic>
        <p:pic>
          <p:nvPicPr>
            <p:cNvPr id="9" name="Picture 8">
              <a:extLst>
                <a:ext uri="{FF2B5EF4-FFF2-40B4-BE49-F238E27FC236}">
                  <a16:creationId xmlns:a16="http://schemas.microsoft.com/office/drawing/2014/main" id="{3526A696-BBE3-40F4-B6EB-A634C487B8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14066" y="4635648"/>
              <a:ext cx="2415917" cy="1975064"/>
            </a:xfrm>
            <a:prstGeom prst="rect">
              <a:avLst/>
            </a:prstGeom>
          </p:spPr>
        </p:pic>
        <p:pic>
          <p:nvPicPr>
            <p:cNvPr id="10" name="Picture 9">
              <a:extLst>
                <a:ext uri="{FF2B5EF4-FFF2-40B4-BE49-F238E27FC236}">
                  <a16:creationId xmlns:a16="http://schemas.microsoft.com/office/drawing/2014/main" id="{689EAC46-FEAA-491E-92BA-B1F4F2C14B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24834" y="4635648"/>
              <a:ext cx="2415917" cy="1975064"/>
            </a:xfrm>
            <a:prstGeom prst="rect">
              <a:avLst/>
            </a:prstGeom>
          </p:spPr>
        </p:pic>
      </p:grpSp>
    </p:spTree>
    <p:extLst>
      <p:ext uri="{BB962C8B-B14F-4D97-AF65-F5344CB8AC3E}">
        <p14:creationId xmlns:p14="http://schemas.microsoft.com/office/powerpoint/2010/main" val="247717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fade">
                                      <p:cBhvr>
                                        <p:cTn id="33" dur="1000"/>
                                        <p:tgtEl>
                                          <p:spTgt spid="6">
                                            <p:txEl>
                                              <p:pRg st="4" end="4"/>
                                            </p:txEl>
                                          </p:spTgt>
                                        </p:tgtEl>
                                      </p:cBhvr>
                                    </p:animEffect>
                                    <p:anim calcmode="lin" valueType="num">
                                      <p:cBhvr>
                                        <p:cTn id="34"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6">
                                            <p:txEl>
                                              <p:pRg st="5" end="5"/>
                                            </p:txEl>
                                          </p:spTgt>
                                        </p:tgtEl>
                                        <p:attrNameLst>
                                          <p:attrName>style.visibility</p:attrName>
                                        </p:attrNameLst>
                                      </p:cBhvr>
                                      <p:to>
                                        <p:strVal val="visible"/>
                                      </p:to>
                                    </p:set>
                                    <p:animEffect transition="in" filter="fade">
                                      <p:cBhvr>
                                        <p:cTn id="38" dur="1000"/>
                                        <p:tgtEl>
                                          <p:spTgt spid="6">
                                            <p:txEl>
                                              <p:pRg st="5" end="5"/>
                                            </p:txEl>
                                          </p:spTgt>
                                        </p:tgtEl>
                                      </p:cBhvr>
                                    </p:animEffect>
                                    <p:anim calcmode="lin" valueType="num">
                                      <p:cBhvr>
                                        <p:cTn id="39"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6">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Effect transition="in" filter="fade">
                                      <p:cBhvr>
                                        <p:cTn id="43" dur="1000"/>
                                        <p:tgtEl>
                                          <p:spTgt spid="6">
                                            <p:txEl>
                                              <p:pRg st="6" end="6"/>
                                            </p:txEl>
                                          </p:spTgt>
                                        </p:tgtEl>
                                      </p:cBhvr>
                                    </p:animEffect>
                                    <p:anim calcmode="lin" valueType="num">
                                      <p:cBhvr>
                                        <p:cTn id="44"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6">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6">
                                            <p:txEl>
                                              <p:pRg st="7" end="7"/>
                                            </p:txEl>
                                          </p:spTgt>
                                        </p:tgtEl>
                                        <p:attrNameLst>
                                          <p:attrName>style.visibility</p:attrName>
                                        </p:attrNameLst>
                                      </p:cBhvr>
                                      <p:to>
                                        <p:strVal val="visible"/>
                                      </p:to>
                                    </p:set>
                                    <p:animEffect transition="in" filter="fade">
                                      <p:cBhvr>
                                        <p:cTn id="48" dur="1000"/>
                                        <p:tgtEl>
                                          <p:spTgt spid="6">
                                            <p:txEl>
                                              <p:pRg st="7" end="7"/>
                                            </p:txEl>
                                          </p:spTgt>
                                        </p:tgtEl>
                                      </p:cBhvr>
                                    </p:animEffect>
                                    <p:anim calcmode="lin" valueType="num">
                                      <p:cBhvr>
                                        <p:cTn id="49"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Complex Sentences</a:t>
            </a:r>
          </a:p>
        </p:txBody>
      </p:sp>
      <p:sp>
        <p:nvSpPr>
          <p:cNvPr id="6" name="Text">
            <a:extLst>
              <a:ext uri="{FF2B5EF4-FFF2-40B4-BE49-F238E27FC236}">
                <a16:creationId xmlns:a16="http://schemas.microsoft.com/office/drawing/2014/main" id="{B64D81F4-64F8-4B44-8DF5-2FE71DA20058}"/>
              </a:ext>
            </a:extLst>
          </p:cNvPr>
          <p:cNvSpPr/>
          <p:nvPr/>
        </p:nvSpPr>
        <p:spPr>
          <a:xfrm>
            <a:off x="755649" y="1463912"/>
            <a:ext cx="7632700" cy="4551419"/>
          </a:xfrm>
          <a:prstGeom prst="roundRect">
            <a:avLst>
              <a:gd name="adj" fmla="val 8284"/>
            </a:avLst>
          </a:prstGeom>
          <a:solidFill>
            <a:srgbClr val="BDE1DB"/>
          </a:solidFill>
        </p:spPr>
        <p:txBody>
          <a:bodyPr wrap="square" lIns="108000" tIns="108000" rIns="108000" bIns="108000">
            <a:spAutoFit/>
          </a:bodyPr>
          <a:lstStyle/>
          <a:p>
            <a:pPr marL="285750" indent="-285750">
              <a:buFont typeface="Arial" panose="020B0604020202020204" pitchFamily="34" charset="0"/>
              <a:buChar char="•"/>
            </a:pPr>
            <a:r>
              <a:rPr lang="en-GB" sz="1600" dirty="0"/>
              <a:t>Complex sentences will include a main clause and a subordinate clause or clauses. The subordinate clause will add more detail to the main clause, but will not make sense on its own. Wherever it appears in the sentence, a subordinate clause will usually begin with a type of word called a ‘subordinating conjunction’. This word or words will explain how the information is linked to the main clause.</a:t>
            </a:r>
          </a:p>
          <a:p>
            <a:pPr marL="285750" indent="-285750">
              <a:buFont typeface="Arial" panose="020B0604020202020204" pitchFamily="34" charset="0"/>
              <a:buChar char="•"/>
            </a:pPr>
            <a:endParaRPr lang="en-GB" sz="1100" dirty="0"/>
          </a:p>
          <a:p>
            <a:pPr marL="285750" indent="-285750">
              <a:buFont typeface="Arial" panose="020B0604020202020204" pitchFamily="34" charset="0"/>
              <a:buChar char="•"/>
            </a:pPr>
            <a:r>
              <a:rPr lang="en-GB" sz="1600" dirty="0"/>
              <a:t>For example:</a:t>
            </a:r>
          </a:p>
          <a:p>
            <a:pPr marL="742950" lvl="1" indent="-285750">
              <a:lnSpc>
                <a:spcPct val="150000"/>
              </a:lnSpc>
              <a:buFont typeface="Arial" panose="020B0604020202020204" pitchFamily="34" charset="0"/>
              <a:buChar char="•"/>
            </a:pPr>
            <a:r>
              <a:rPr lang="en-US" sz="1600" dirty="0"/>
              <a:t>It is illegal to intentionally pick, uproot or destroy bluebells because they are protected flowers.</a:t>
            </a:r>
          </a:p>
          <a:p>
            <a:pPr marL="742950" lvl="1" indent="-285750">
              <a:lnSpc>
                <a:spcPct val="150000"/>
              </a:lnSpc>
              <a:buFont typeface="Arial" panose="020B0604020202020204" pitchFamily="34" charset="0"/>
              <a:buChar char="•"/>
            </a:pPr>
            <a:r>
              <a:rPr lang="en-AU" sz="1600"/>
              <a:t>Main clause</a:t>
            </a:r>
            <a:r>
              <a:rPr lang="en-AU" sz="1600" dirty="0"/>
              <a:t>: </a:t>
            </a:r>
            <a:r>
              <a:rPr lang="en-US" sz="1600" dirty="0"/>
              <a:t>It is illegal to intentionally pick, uproot or destroy bluebells.</a:t>
            </a:r>
          </a:p>
          <a:p>
            <a:pPr marL="742950" lvl="1" indent="-285750">
              <a:lnSpc>
                <a:spcPct val="150000"/>
              </a:lnSpc>
              <a:buFont typeface="Arial" panose="020B0604020202020204" pitchFamily="34" charset="0"/>
              <a:buChar char="•"/>
            </a:pPr>
            <a:r>
              <a:rPr lang="en-AU" sz="1600" dirty="0"/>
              <a:t>Subordinate clause: </a:t>
            </a:r>
            <a:r>
              <a:rPr lang="en-GB" sz="1600" dirty="0"/>
              <a:t>they are protected flowers.</a:t>
            </a:r>
          </a:p>
          <a:p>
            <a:pPr marL="742950" lvl="1" indent="-285750">
              <a:lnSpc>
                <a:spcPct val="150000"/>
              </a:lnSpc>
              <a:buFont typeface="Arial" panose="020B0604020202020204" pitchFamily="34" charset="0"/>
              <a:buChar char="•"/>
            </a:pPr>
            <a:r>
              <a:rPr lang="en-GB" sz="1600" dirty="0"/>
              <a:t>Subordinating conjunction: because</a:t>
            </a:r>
          </a:p>
        </p:txBody>
      </p:sp>
      <p:grpSp>
        <p:nvGrpSpPr>
          <p:cNvPr id="5" name="Group 4">
            <a:extLst>
              <a:ext uri="{FF2B5EF4-FFF2-40B4-BE49-F238E27FC236}">
                <a16:creationId xmlns:a16="http://schemas.microsoft.com/office/drawing/2014/main" id="{F6789201-F7A8-4DCE-88E4-0962B23E780A}"/>
              </a:ext>
            </a:extLst>
          </p:cNvPr>
          <p:cNvGrpSpPr/>
          <p:nvPr/>
        </p:nvGrpSpPr>
        <p:grpSpPr>
          <a:xfrm>
            <a:off x="5962248" y="5363461"/>
            <a:ext cx="2426101" cy="1220631"/>
            <a:chOff x="4966283" y="5149349"/>
            <a:chExt cx="2932570" cy="1465370"/>
          </a:xfrm>
        </p:grpSpPr>
        <p:pic>
          <p:nvPicPr>
            <p:cNvPr id="4" name="Picture 3">
              <a:extLst>
                <a:ext uri="{FF2B5EF4-FFF2-40B4-BE49-F238E27FC236}">
                  <a16:creationId xmlns:a16="http://schemas.microsoft.com/office/drawing/2014/main" id="{C97C4225-E43C-4BF0-A781-6B77AF9D9E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66283" y="5149349"/>
              <a:ext cx="1014174" cy="1465370"/>
            </a:xfrm>
            <a:prstGeom prst="rect">
              <a:avLst/>
            </a:prstGeom>
          </p:spPr>
        </p:pic>
        <p:pic>
          <p:nvPicPr>
            <p:cNvPr id="11" name="Picture 10">
              <a:extLst>
                <a:ext uri="{FF2B5EF4-FFF2-40B4-BE49-F238E27FC236}">
                  <a16:creationId xmlns:a16="http://schemas.microsoft.com/office/drawing/2014/main" id="{E0DF2FA0-10C6-4429-BA0C-B97B198948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73370" y="5149349"/>
              <a:ext cx="1014174" cy="1465370"/>
            </a:xfrm>
            <a:prstGeom prst="rect">
              <a:avLst/>
            </a:prstGeom>
          </p:spPr>
        </p:pic>
        <p:pic>
          <p:nvPicPr>
            <p:cNvPr id="12" name="Picture 11">
              <a:extLst>
                <a:ext uri="{FF2B5EF4-FFF2-40B4-BE49-F238E27FC236}">
                  <a16:creationId xmlns:a16="http://schemas.microsoft.com/office/drawing/2014/main" id="{89ACBE8E-ECFC-49A1-9078-E3F0069CF4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80457" y="5149349"/>
              <a:ext cx="1014174" cy="1465370"/>
            </a:xfrm>
            <a:prstGeom prst="rect">
              <a:avLst/>
            </a:prstGeom>
          </p:spPr>
        </p:pic>
        <p:pic>
          <p:nvPicPr>
            <p:cNvPr id="13" name="Picture 12">
              <a:extLst>
                <a:ext uri="{FF2B5EF4-FFF2-40B4-BE49-F238E27FC236}">
                  <a16:creationId xmlns:a16="http://schemas.microsoft.com/office/drawing/2014/main" id="{CCC6D12F-FF9B-469B-8648-CC61274342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32568" y="5149349"/>
              <a:ext cx="1014174" cy="1465370"/>
            </a:xfrm>
            <a:prstGeom prst="rect">
              <a:avLst/>
            </a:prstGeom>
          </p:spPr>
        </p:pic>
        <p:pic>
          <p:nvPicPr>
            <p:cNvPr id="14" name="Picture 13">
              <a:extLst>
                <a:ext uri="{FF2B5EF4-FFF2-40B4-BE49-F238E27FC236}">
                  <a16:creationId xmlns:a16="http://schemas.microsoft.com/office/drawing/2014/main" id="{DFC2CE8B-02C8-40F0-9EAD-58D812742E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4679" y="5149349"/>
              <a:ext cx="1014174" cy="1465370"/>
            </a:xfrm>
            <a:prstGeom prst="rect">
              <a:avLst/>
            </a:prstGeom>
          </p:spPr>
        </p:pic>
      </p:grpSp>
    </p:spTree>
    <p:extLst>
      <p:ext uri="{BB962C8B-B14F-4D97-AF65-F5344CB8AC3E}">
        <p14:creationId xmlns:p14="http://schemas.microsoft.com/office/powerpoint/2010/main" val="143349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1000"/>
                                        <p:tgtEl>
                                          <p:spTgt spid="6">
                                            <p:txEl>
                                              <p:pRg st="3" end="3"/>
                                            </p:txEl>
                                          </p:spTgt>
                                        </p:tgtEl>
                                      </p:cBhvr>
                                    </p:animEffect>
                                    <p:anim calcmode="lin" valueType="num">
                                      <p:cBhvr>
                                        <p:cTn id="2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Effect transition="in" filter="fade">
                                      <p:cBhvr>
                                        <p:cTn id="31" dur="1000"/>
                                        <p:tgtEl>
                                          <p:spTgt spid="6">
                                            <p:txEl>
                                              <p:pRg st="4" end="4"/>
                                            </p:txEl>
                                          </p:spTgt>
                                        </p:tgtEl>
                                      </p:cBhvr>
                                    </p:animEffect>
                                    <p:anim calcmode="lin" valueType="num">
                                      <p:cBhvr>
                                        <p:cTn id="3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6">
                                            <p:txEl>
                                              <p:pRg st="5" end="5"/>
                                            </p:txEl>
                                          </p:spTgt>
                                        </p:tgtEl>
                                        <p:attrNameLst>
                                          <p:attrName>style.visibility</p:attrName>
                                        </p:attrNameLst>
                                      </p:cBhvr>
                                      <p:to>
                                        <p:strVal val="visible"/>
                                      </p:to>
                                    </p:set>
                                    <p:animEffect transition="in" filter="fade">
                                      <p:cBhvr>
                                        <p:cTn id="36" dur="1000"/>
                                        <p:tgtEl>
                                          <p:spTgt spid="6">
                                            <p:txEl>
                                              <p:pRg st="5" end="5"/>
                                            </p:txEl>
                                          </p:spTgt>
                                        </p:tgtEl>
                                      </p:cBhvr>
                                    </p:animEffect>
                                    <p:anim calcmode="lin" valueType="num">
                                      <p:cBhvr>
                                        <p:cTn id="37"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Effect transition="in" filter="fade">
                                      <p:cBhvr>
                                        <p:cTn id="41" dur="1000"/>
                                        <p:tgtEl>
                                          <p:spTgt spid="6">
                                            <p:txEl>
                                              <p:pRg st="6" end="6"/>
                                            </p:txEl>
                                          </p:spTgt>
                                        </p:tgtEl>
                                      </p:cBhvr>
                                    </p:animEffect>
                                    <p:anim calcmode="lin" valueType="num">
                                      <p:cBhvr>
                                        <p:cTn id="42"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1</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7632700" cy="581831"/>
          </a:xfrm>
          <a:prstGeom prst="roundRect">
            <a:avLst/>
          </a:prstGeom>
          <a:solidFill>
            <a:srgbClr val="25B7BC"/>
          </a:solidFill>
          <a:ln w="38100">
            <a:solidFill>
              <a:srgbClr val="009386"/>
            </a:solidFill>
          </a:ln>
        </p:spPr>
        <p:txBody>
          <a:bodyPr wrap="square" lIns="108000" tIns="108000" rIns="108000" bIns="108000">
            <a:spAutoFit/>
          </a:bodyPr>
          <a:lstStyle/>
          <a:p>
            <a:pPr algn="ctr"/>
            <a:r>
              <a:rPr lang="en-US" sz="2000" dirty="0">
                <a:solidFill>
                  <a:schemeClr val="bg1"/>
                </a:solidFill>
              </a:rPr>
              <a:t>Roses are red and violets are blue.</a:t>
            </a:r>
            <a:endParaRPr lang="en-GB" sz="2000" dirty="0">
              <a:solidFill>
                <a:schemeClr val="bg1"/>
              </a:solidFill>
            </a:endParaRPr>
          </a:p>
        </p:txBody>
      </p:sp>
      <p:sp>
        <p:nvSpPr>
          <p:cNvPr id="8" name="Text">
            <a:extLst>
              <a:ext uri="{FF2B5EF4-FFF2-40B4-BE49-F238E27FC236}">
                <a16:creationId xmlns:a16="http://schemas.microsoft.com/office/drawing/2014/main" id="{D6C15002-6777-461F-A942-671A2DEBB173}"/>
              </a:ext>
            </a:extLst>
          </p:cNvPr>
          <p:cNvSpPr/>
          <p:nvPr/>
        </p:nvSpPr>
        <p:spPr>
          <a:xfrm>
            <a:off x="2973107" y="4592795"/>
            <a:ext cx="3197784" cy="786143"/>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Compound</a:t>
            </a:r>
          </a:p>
        </p:txBody>
      </p:sp>
    </p:spTree>
    <p:extLst>
      <p:ext uri="{BB962C8B-B14F-4D97-AF65-F5344CB8AC3E}">
        <p14:creationId xmlns:p14="http://schemas.microsoft.com/office/powerpoint/2010/main" val="395906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fltVal val="0"/>
                                          </p:val>
                                        </p:tav>
                                        <p:tav tm="100000">
                                          <p:val>
                                            <p:strVal val="#ppt_w"/>
                                          </p:val>
                                        </p:tav>
                                      </p:tavLst>
                                    </p:anim>
                                    <p:anim calcmode="lin" valueType="num">
                                      <p:cBhvr>
                                        <p:cTn id="20" dur="1000" fill="hold"/>
                                        <p:tgtEl>
                                          <p:spTgt spid="8"/>
                                        </p:tgtEl>
                                        <p:attrNameLst>
                                          <p:attrName>ppt_h</p:attrName>
                                        </p:attrNameLst>
                                      </p:cBhvr>
                                      <p:tavLst>
                                        <p:tav tm="0">
                                          <p:val>
                                            <p:fltVal val="0"/>
                                          </p:val>
                                        </p:tav>
                                        <p:tav tm="100000">
                                          <p:val>
                                            <p:strVal val="#ppt_h"/>
                                          </p:val>
                                        </p:tav>
                                      </p:tavLst>
                                    </p:anim>
                                    <p:anim calcmode="lin" valueType="num">
                                      <p:cBhvr>
                                        <p:cTn id="21" dur="1000" fill="hold"/>
                                        <p:tgtEl>
                                          <p:spTgt spid="8"/>
                                        </p:tgtEl>
                                        <p:attrNameLst>
                                          <p:attrName>style.rotation</p:attrName>
                                        </p:attrNameLst>
                                      </p:cBhvr>
                                      <p:tavLst>
                                        <p:tav tm="0">
                                          <p:val>
                                            <p:fltVal val="90"/>
                                          </p:val>
                                        </p:tav>
                                        <p:tav tm="100000">
                                          <p:val>
                                            <p:fltVal val="0"/>
                                          </p:val>
                                        </p:tav>
                                      </p:tavLst>
                                    </p:anim>
                                    <p:animEffect transition="in" filter="fade">
                                      <p:cBhvr>
                                        <p:cTn id="2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2</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888298"/>
          </a:xfrm>
          <a:prstGeom prst="roundRect">
            <a:avLst/>
          </a:prstGeom>
          <a:solidFill>
            <a:srgbClr val="25B7BC"/>
          </a:solidFill>
          <a:ln w="38100">
            <a:solidFill>
              <a:srgbClr val="009386"/>
            </a:solidFill>
          </a:ln>
        </p:spPr>
        <p:txBody>
          <a:bodyPr wrap="square" lIns="108000" tIns="108000" rIns="108000" bIns="108000">
            <a:spAutoFit/>
          </a:bodyPr>
          <a:lstStyle/>
          <a:p>
            <a:r>
              <a:rPr lang="en-GB" dirty="0">
                <a:solidFill>
                  <a:schemeClr val="bg1"/>
                </a:solidFill>
              </a:rPr>
              <a:t>I can search for minibeasts, now that I’ve </a:t>
            </a:r>
          </a:p>
          <a:p>
            <a:r>
              <a:rPr lang="en-GB" dirty="0">
                <a:solidFill>
                  <a:schemeClr val="bg1"/>
                </a:solidFill>
              </a:rPr>
              <a:t>finished my homework.</a:t>
            </a:r>
            <a:r>
              <a:rPr lang="en-GB" sz="2000" dirty="0">
                <a:solidFill>
                  <a:schemeClr val="bg1"/>
                </a:solidFill>
              </a:rPr>
              <a:t> </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Complex</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378816" y="2393544"/>
            <a:ext cx="2711531" cy="1840685"/>
          </a:xfrm>
          <a:prstGeom prst="rect">
            <a:avLst/>
          </a:prstGeom>
        </p:spPr>
      </p:pic>
    </p:spTree>
    <p:extLst>
      <p:ext uri="{BB962C8B-B14F-4D97-AF65-F5344CB8AC3E}">
        <p14:creationId xmlns:p14="http://schemas.microsoft.com/office/powerpoint/2010/main" val="360498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3</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922350"/>
          </a:xfrm>
          <a:prstGeom prst="roundRect">
            <a:avLst/>
          </a:prstGeom>
          <a:solidFill>
            <a:srgbClr val="25B7BC"/>
          </a:solidFill>
          <a:ln w="38100">
            <a:solidFill>
              <a:srgbClr val="009386"/>
            </a:solidFill>
          </a:ln>
        </p:spPr>
        <p:txBody>
          <a:bodyPr wrap="square" lIns="108000" tIns="108000" rIns="108000" bIns="108000">
            <a:spAutoFit/>
          </a:bodyPr>
          <a:lstStyle/>
          <a:p>
            <a:r>
              <a:rPr lang="en-GB" sz="2000" dirty="0">
                <a:solidFill>
                  <a:schemeClr val="bg1"/>
                </a:solidFill>
              </a:rPr>
              <a:t>Wintry weather might include frost, hail,                             sleet and snow. </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Simple</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916" t="12022" r="42545" b="13080"/>
          <a:stretch/>
        </p:blipFill>
        <p:spPr>
          <a:xfrm>
            <a:off x="6158753" y="2332479"/>
            <a:ext cx="2499552" cy="2472603"/>
          </a:xfrm>
          <a:prstGeom prst="ellipse">
            <a:avLst/>
          </a:prstGeom>
          <a:ln w="38100">
            <a:solidFill>
              <a:srgbClr val="009386"/>
            </a:solidFill>
          </a:ln>
        </p:spPr>
      </p:pic>
    </p:spTree>
    <p:extLst>
      <p:ext uri="{BB962C8B-B14F-4D97-AF65-F5344CB8AC3E}">
        <p14:creationId xmlns:p14="http://schemas.microsoft.com/office/powerpoint/2010/main" val="6261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4</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854246"/>
          </a:xfrm>
          <a:prstGeom prst="roundRect">
            <a:avLst/>
          </a:prstGeom>
          <a:solidFill>
            <a:srgbClr val="25B7BC"/>
          </a:solidFill>
          <a:ln w="38100">
            <a:solidFill>
              <a:srgbClr val="009386"/>
            </a:solidFill>
          </a:ln>
        </p:spPr>
        <p:txBody>
          <a:bodyPr wrap="square" lIns="108000" tIns="108000" rIns="1440000" bIns="108000">
            <a:spAutoFit/>
          </a:bodyPr>
          <a:lstStyle/>
          <a:p>
            <a:r>
              <a:rPr lang="en-GB" dirty="0">
                <a:solidFill>
                  <a:schemeClr val="bg1"/>
                </a:solidFill>
              </a:rPr>
              <a:t>Even though it was about to rain, I wanted to go for a walk.</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Complex</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5046" t="-489" r="-49165" b="2369"/>
          <a:stretch/>
        </p:blipFill>
        <p:spPr>
          <a:xfrm>
            <a:off x="6158753" y="2332479"/>
            <a:ext cx="2499552" cy="2472603"/>
          </a:xfrm>
          <a:prstGeom prst="ellipse">
            <a:avLst/>
          </a:prstGeom>
          <a:solidFill>
            <a:srgbClr val="8ACBC0"/>
          </a:solidFill>
          <a:ln w="38100">
            <a:solidFill>
              <a:srgbClr val="009386"/>
            </a:solidFill>
          </a:ln>
        </p:spPr>
      </p:pic>
    </p:spTree>
    <p:extLst>
      <p:ext uri="{BB962C8B-B14F-4D97-AF65-F5344CB8AC3E}">
        <p14:creationId xmlns:p14="http://schemas.microsoft.com/office/powerpoint/2010/main" val="276921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5</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922350"/>
          </a:xfrm>
          <a:prstGeom prst="roundRect">
            <a:avLst/>
          </a:prstGeom>
          <a:solidFill>
            <a:srgbClr val="25B7BC"/>
          </a:solidFill>
          <a:ln w="38100">
            <a:solidFill>
              <a:srgbClr val="009386"/>
            </a:solidFill>
          </a:ln>
        </p:spPr>
        <p:txBody>
          <a:bodyPr wrap="square" lIns="108000" tIns="108000" rIns="1440000" bIns="108000">
            <a:spAutoFit/>
          </a:bodyPr>
          <a:lstStyle/>
          <a:p>
            <a:r>
              <a:rPr lang="en-GB" sz="2000" dirty="0">
                <a:solidFill>
                  <a:schemeClr val="bg1"/>
                </a:solidFill>
              </a:rPr>
              <a:t>Many trees are bare in winter but evergreen trees do not lose their leaves. </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Compound</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a:blip r:embed="rId2" cstate="print">
            <a:extLst>
              <a:ext uri="{28A0092B-C50C-407E-A947-70E740481C1C}">
                <a14:useLocalDpi xmlns:a14="http://schemas.microsoft.com/office/drawing/2010/main" val="0"/>
              </a:ext>
            </a:extLst>
          </a:blip>
          <a:srcRect l="6950" r="6950"/>
          <a:stretch/>
        </p:blipFill>
        <p:spPr>
          <a:xfrm>
            <a:off x="6158753" y="2332479"/>
            <a:ext cx="2499552" cy="2472603"/>
          </a:xfrm>
          <a:prstGeom prst="ellipse">
            <a:avLst/>
          </a:prstGeom>
          <a:solidFill>
            <a:srgbClr val="8ACBC0"/>
          </a:solidFill>
          <a:ln w="38100">
            <a:solidFill>
              <a:srgbClr val="009386"/>
            </a:solidFill>
          </a:ln>
        </p:spPr>
      </p:pic>
    </p:spTree>
    <p:extLst>
      <p:ext uri="{BB962C8B-B14F-4D97-AF65-F5344CB8AC3E}">
        <p14:creationId xmlns:p14="http://schemas.microsoft.com/office/powerpoint/2010/main" val="89905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6</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1262869"/>
          </a:xfrm>
          <a:prstGeom prst="roundRect">
            <a:avLst/>
          </a:prstGeom>
          <a:solidFill>
            <a:srgbClr val="25B7BC"/>
          </a:solidFill>
          <a:ln w="38100">
            <a:solidFill>
              <a:srgbClr val="009386"/>
            </a:solidFill>
          </a:ln>
        </p:spPr>
        <p:txBody>
          <a:bodyPr wrap="square" lIns="108000" tIns="108000" rIns="1440000" bIns="108000">
            <a:spAutoFit/>
          </a:bodyPr>
          <a:lstStyle/>
          <a:p>
            <a:r>
              <a:rPr lang="en-GB" sz="2000" dirty="0">
                <a:solidFill>
                  <a:schemeClr val="bg1"/>
                </a:solidFill>
              </a:rPr>
              <a:t>During spring, hares can be spotted ‘boxing’ one another, as the females will sometimes fight off the attention of the males. </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Complex</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77" t="-1674" r="-1499" b="-3921"/>
          <a:stretch/>
        </p:blipFill>
        <p:spPr>
          <a:xfrm>
            <a:off x="6271617" y="1999128"/>
            <a:ext cx="2200030" cy="3035277"/>
          </a:xfrm>
          <a:prstGeom prst="rect">
            <a:avLst/>
          </a:prstGeom>
          <a:noFill/>
          <a:ln w="38100">
            <a:noFill/>
          </a:ln>
        </p:spPr>
      </p:pic>
    </p:spTree>
    <p:extLst>
      <p:ext uri="{BB962C8B-B14F-4D97-AF65-F5344CB8AC3E}">
        <p14:creationId xmlns:p14="http://schemas.microsoft.com/office/powerpoint/2010/main" val="94079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7</a:t>
            </a:r>
          </a:p>
        </p:txBody>
      </p:sp>
      <p:sp>
        <p:nvSpPr>
          <p:cNvPr id="5" name="Text"/>
          <p:cNvSpPr/>
          <p:nvPr/>
        </p:nvSpPr>
        <p:spPr>
          <a:xfrm>
            <a:off x="672353" y="1572005"/>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922350"/>
          </a:xfrm>
          <a:prstGeom prst="roundRect">
            <a:avLst/>
          </a:prstGeom>
          <a:solidFill>
            <a:srgbClr val="25B7BC"/>
          </a:solidFill>
          <a:ln w="38100">
            <a:solidFill>
              <a:srgbClr val="009386"/>
            </a:solidFill>
          </a:ln>
        </p:spPr>
        <p:txBody>
          <a:bodyPr wrap="square" lIns="108000" tIns="108000" rIns="1440000" bIns="108000">
            <a:spAutoFit/>
          </a:bodyPr>
          <a:lstStyle/>
          <a:p>
            <a:r>
              <a:rPr lang="en-GB" sz="2000" dirty="0">
                <a:solidFill>
                  <a:schemeClr val="bg1"/>
                </a:solidFill>
              </a:rPr>
              <a:t>Photosynthesis is the name for the process in which green plants make their own food. </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Simple</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52" r="-678"/>
          <a:stretch/>
        </p:blipFill>
        <p:spPr>
          <a:xfrm>
            <a:off x="5961529" y="1999128"/>
            <a:ext cx="2976283" cy="3035277"/>
          </a:xfrm>
          <a:prstGeom prst="rect">
            <a:avLst/>
          </a:prstGeom>
          <a:noFill/>
          <a:ln w="38100">
            <a:noFill/>
          </a:ln>
        </p:spPr>
      </p:pic>
    </p:spTree>
    <p:extLst>
      <p:ext uri="{BB962C8B-B14F-4D97-AF65-F5344CB8AC3E}">
        <p14:creationId xmlns:p14="http://schemas.microsoft.com/office/powerpoint/2010/main" val="257782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8</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922350"/>
          </a:xfrm>
          <a:prstGeom prst="roundRect">
            <a:avLst/>
          </a:prstGeom>
          <a:solidFill>
            <a:srgbClr val="25B7BC"/>
          </a:solidFill>
          <a:ln w="38100">
            <a:solidFill>
              <a:srgbClr val="009386"/>
            </a:solidFill>
          </a:ln>
        </p:spPr>
        <p:txBody>
          <a:bodyPr wrap="square" lIns="108000" tIns="108000" rIns="1440000" bIns="108000">
            <a:spAutoFit/>
          </a:bodyPr>
          <a:lstStyle/>
          <a:p>
            <a:r>
              <a:rPr lang="en-GB" sz="2000" dirty="0">
                <a:solidFill>
                  <a:schemeClr val="bg1"/>
                </a:solidFill>
              </a:rPr>
              <a:t>The winter solstice occurs in December and  the summer solstice takes place in June.</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Compound</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a:blip r:embed="rId2" cstate="print">
            <a:extLst>
              <a:ext uri="{28A0092B-C50C-407E-A947-70E740481C1C}">
                <a14:useLocalDpi xmlns:a14="http://schemas.microsoft.com/office/drawing/2010/main" val="0"/>
              </a:ext>
            </a:extLst>
          </a:blip>
          <a:srcRect l="14282" r="14282"/>
          <a:stretch/>
        </p:blipFill>
        <p:spPr>
          <a:xfrm>
            <a:off x="6158753" y="2332479"/>
            <a:ext cx="2499552" cy="2472603"/>
          </a:xfrm>
          <a:prstGeom prst="ellipse">
            <a:avLst/>
          </a:prstGeom>
          <a:solidFill>
            <a:srgbClr val="8ACBC0"/>
          </a:solidFill>
          <a:ln w="38100">
            <a:solidFill>
              <a:srgbClr val="009386"/>
            </a:solidFill>
          </a:ln>
        </p:spPr>
      </p:pic>
    </p:spTree>
    <p:extLst>
      <p:ext uri="{BB962C8B-B14F-4D97-AF65-F5344CB8AC3E}">
        <p14:creationId xmlns:p14="http://schemas.microsoft.com/office/powerpoint/2010/main" val="57015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9</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922350"/>
          </a:xfrm>
          <a:prstGeom prst="roundRect">
            <a:avLst/>
          </a:prstGeom>
          <a:solidFill>
            <a:srgbClr val="25B7BC"/>
          </a:solidFill>
          <a:ln w="38100">
            <a:solidFill>
              <a:srgbClr val="009386"/>
            </a:solidFill>
          </a:ln>
        </p:spPr>
        <p:txBody>
          <a:bodyPr wrap="square" lIns="108000" tIns="108000" rIns="108000" bIns="108000">
            <a:spAutoFit/>
          </a:bodyPr>
          <a:lstStyle/>
          <a:p>
            <a:r>
              <a:rPr lang="en-GB" sz="2000" dirty="0">
                <a:solidFill>
                  <a:schemeClr val="bg1"/>
                </a:solidFill>
              </a:rPr>
              <a:t>Although they may be much less active in                         winter, red squirrels do not hibernate. </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Complex</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84104" y="2036695"/>
            <a:ext cx="2148695" cy="3200184"/>
          </a:xfrm>
          <a:prstGeom prst="rect">
            <a:avLst/>
          </a:prstGeom>
        </p:spPr>
      </p:pic>
    </p:spTree>
    <p:extLst>
      <p:ext uri="{BB962C8B-B14F-4D97-AF65-F5344CB8AC3E}">
        <p14:creationId xmlns:p14="http://schemas.microsoft.com/office/powerpoint/2010/main" val="245697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10</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1262869"/>
          </a:xfrm>
          <a:prstGeom prst="roundRect">
            <a:avLst/>
          </a:prstGeom>
          <a:solidFill>
            <a:srgbClr val="25B7BC"/>
          </a:solidFill>
          <a:ln w="38100">
            <a:solidFill>
              <a:srgbClr val="009386"/>
            </a:solidFill>
          </a:ln>
        </p:spPr>
        <p:txBody>
          <a:bodyPr wrap="square" lIns="108000" tIns="108000" rIns="1440000" bIns="108000">
            <a:spAutoFit/>
          </a:bodyPr>
          <a:lstStyle/>
          <a:p>
            <a:r>
              <a:rPr lang="en-GB" sz="2000" dirty="0">
                <a:solidFill>
                  <a:schemeClr val="bg1"/>
                </a:solidFill>
              </a:rPr>
              <a:t>The full moon that occurs closest to the autumn equinox is known as the                   Harvest Moon.</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Simple</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021" t="-1456" r="-2265" b="-1390"/>
          <a:stretch/>
        </p:blipFill>
        <p:spPr>
          <a:xfrm>
            <a:off x="6149788" y="2332479"/>
            <a:ext cx="2499552" cy="2472603"/>
          </a:xfrm>
          <a:prstGeom prst="ellipse">
            <a:avLst/>
          </a:prstGeom>
          <a:solidFill>
            <a:srgbClr val="8ACBC0"/>
          </a:solidFill>
          <a:ln w="38100">
            <a:solidFill>
              <a:srgbClr val="009386"/>
            </a:solidFill>
          </a:ln>
        </p:spPr>
      </p:pic>
    </p:spTree>
    <p:extLst>
      <p:ext uri="{BB962C8B-B14F-4D97-AF65-F5344CB8AC3E}">
        <p14:creationId xmlns:p14="http://schemas.microsoft.com/office/powerpoint/2010/main" val="13027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11</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922350"/>
          </a:xfrm>
          <a:prstGeom prst="roundRect">
            <a:avLst/>
          </a:prstGeom>
          <a:solidFill>
            <a:srgbClr val="25B7BC"/>
          </a:solidFill>
          <a:ln w="38100">
            <a:solidFill>
              <a:srgbClr val="009386"/>
            </a:solidFill>
          </a:ln>
        </p:spPr>
        <p:txBody>
          <a:bodyPr wrap="square" lIns="108000" tIns="108000" rIns="1440000" bIns="108000">
            <a:spAutoFit/>
          </a:bodyPr>
          <a:lstStyle/>
          <a:p>
            <a:r>
              <a:rPr lang="en-GB" sz="2000" dirty="0">
                <a:solidFill>
                  <a:schemeClr val="bg1"/>
                </a:solidFill>
              </a:rPr>
              <a:t>Once the rain had stopped, the bees began buzzing around the flowers again.</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Complex</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a:blip r:embed="rId2" cstate="print">
            <a:extLst>
              <a:ext uri="{28A0092B-C50C-407E-A947-70E740481C1C}">
                <a14:useLocalDpi xmlns:a14="http://schemas.microsoft.com/office/drawing/2010/main" val="0"/>
              </a:ext>
            </a:extLst>
          </a:blip>
          <a:srcRect l="3925" r="3925"/>
          <a:stretch/>
        </p:blipFill>
        <p:spPr>
          <a:xfrm>
            <a:off x="6149788" y="2332479"/>
            <a:ext cx="2499552" cy="2472603"/>
          </a:xfrm>
          <a:prstGeom prst="ellipse">
            <a:avLst/>
          </a:prstGeom>
          <a:solidFill>
            <a:srgbClr val="8ACBC0"/>
          </a:solidFill>
          <a:ln w="38100">
            <a:solidFill>
              <a:srgbClr val="009386"/>
            </a:solidFill>
          </a:ln>
        </p:spPr>
      </p:pic>
    </p:spTree>
    <p:extLst>
      <p:ext uri="{BB962C8B-B14F-4D97-AF65-F5344CB8AC3E}">
        <p14:creationId xmlns:p14="http://schemas.microsoft.com/office/powerpoint/2010/main" val="9008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p:nvPr>
        </p:nvSpPr>
        <p:spPr>
          <a:xfrm>
            <a:off x="1157964" y="590746"/>
            <a:ext cx="6828071" cy="762049"/>
          </a:xfrm>
          <a:solidFill>
            <a:srgbClr val="009386"/>
          </a:solidFill>
        </p:spPr>
        <p:txBody>
          <a:bodyPr/>
          <a:lstStyle/>
          <a:p>
            <a:r>
              <a:rPr lang="en-US" dirty="0">
                <a:solidFill>
                  <a:schemeClr val="bg1"/>
                </a:solidFill>
                <a:latin typeface="+mn-lt"/>
              </a:rPr>
              <a:t>Activity 12</a:t>
            </a:r>
          </a:p>
        </p:txBody>
      </p:sp>
      <p:sp>
        <p:nvSpPr>
          <p:cNvPr id="5" name="Text"/>
          <p:cNvSpPr/>
          <p:nvPr/>
        </p:nvSpPr>
        <p:spPr>
          <a:xfrm>
            <a:off x="755649" y="1621121"/>
            <a:ext cx="7632700" cy="854246"/>
          </a:xfrm>
          <a:prstGeom prst="roundRect">
            <a:avLst/>
          </a:prstGeom>
          <a:noFill/>
        </p:spPr>
        <p:txBody>
          <a:bodyPr wrap="square" lIns="108000" tIns="108000" rIns="108000" bIns="108000">
            <a:spAutoFit/>
          </a:bodyPr>
          <a:lstStyle/>
          <a:p>
            <a:pPr marL="285750" indent="-285750">
              <a:buFont typeface="Arial" panose="020B0604020202020204" pitchFamily="34" charset="0"/>
              <a:buChar char="•"/>
            </a:pPr>
            <a:r>
              <a:rPr lang="en-GB" dirty="0"/>
              <a:t>Read the sentence and decide if it is a simple, compound or        complex sentence.</a:t>
            </a:r>
          </a:p>
        </p:txBody>
      </p:sp>
      <p:sp>
        <p:nvSpPr>
          <p:cNvPr id="7" name="Text">
            <a:extLst>
              <a:ext uri="{FF2B5EF4-FFF2-40B4-BE49-F238E27FC236}">
                <a16:creationId xmlns:a16="http://schemas.microsoft.com/office/drawing/2014/main" id="{432896BA-3655-48D4-B166-59F15AD3D735}"/>
              </a:ext>
            </a:extLst>
          </p:cNvPr>
          <p:cNvSpPr/>
          <p:nvPr/>
        </p:nvSpPr>
        <p:spPr>
          <a:xfrm>
            <a:off x="755649" y="2735466"/>
            <a:ext cx="6927104" cy="1262869"/>
          </a:xfrm>
          <a:prstGeom prst="roundRect">
            <a:avLst/>
          </a:prstGeom>
          <a:solidFill>
            <a:srgbClr val="25B7BC"/>
          </a:solidFill>
          <a:ln w="38100">
            <a:solidFill>
              <a:srgbClr val="009386"/>
            </a:solidFill>
          </a:ln>
        </p:spPr>
        <p:txBody>
          <a:bodyPr wrap="square" lIns="108000" tIns="108000" rIns="1440000" bIns="108000">
            <a:spAutoFit/>
          </a:bodyPr>
          <a:lstStyle/>
          <a:p>
            <a:r>
              <a:rPr lang="en-GB" sz="2000" dirty="0">
                <a:solidFill>
                  <a:schemeClr val="bg1"/>
                </a:solidFill>
              </a:rPr>
              <a:t>Snowdrops are one of the first flowers that appear each year, even blooming in frost        or snow. </a:t>
            </a:r>
          </a:p>
        </p:txBody>
      </p:sp>
      <p:sp>
        <p:nvSpPr>
          <p:cNvPr id="8" name="Text">
            <a:extLst>
              <a:ext uri="{FF2B5EF4-FFF2-40B4-BE49-F238E27FC236}">
                <a16:creationId xmlns:a16="http://schemas.microsoft.com/office/drawing/2014/main" id="{D6C15002-6777-461F-A942-671A2DEBB173}"/>
              </a:ext>
            </a:extLst>
          </p:cNvPr>
          <p:cNvSpPr/>
          <p:nvPr/>
        </p:nvSpPr>
        <p:spPr>
          <a:xfrm>
            <a:off x="2623484" y="4664513"/>
            <a:ext cx="3197784" cy="710552"/>
          </a:xfrm>
          <a:prstGeom prst="roundRect">
            <a:avLst>
              <a:gd name="adj" fmla="val 0"/>
            </a:avLst>
          </a:prstGeom>
          <a:solidFill>
            <a:srgbClr val="009386"/>
          </a:solidFill>
          <a:ln w="38100">
            <a:solidFill>
              <a:srgbClr val="25B7BC"/>
            </a:solidFill>
          </a:ln>
        </p:spPr>
        <p:txBody>
          <a:bodyPr wrap="square" lIns="108000" tIns="108000" rIns="108000" bIns="108000">
            <a:spAutoFit/>
          </a:bodyPr>
          <a:lstStyle/>
          <a:p>
            <a:pPr algn="ctr"/>
            <a:r>
              <a:rPr lang="en-GB" sz="3200" b="1" dirty="0">
                <a:solidFill>
                  <a:schemeClr val="bg1"/>
                </a:solidFill>
              </a:rPr>
              <a:t>Complex</a:t>
            </a:r>
          </a:p>
        </p:txBody>
      </p:sp>
      <p:pic>
        <p:nvPicPr>
          <p:cNvPr id="3" name="Picture 2">
            <a:extLst>
              <a:ext uri="{FF2B5EF4-FFF2-40B4-BE49-F238E27FC236}">
                <a16:creationId xmlns:a16="http://schemas.microsoft.com/office/drawing/2014/main" id="{F415EA50-679C-454A-BE09-1BC5926B3E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152" t="-4548" r="-2152" b="25850"/>
          <a:stretch/>
        </p:blipFill>
        <p:spPr>
          <a:xfrm>
            <a:off x="6149788" y="2332479"/>
            <a:ext cx="2499552" cy="2472603"/>
          </a:xfrm>
          <a:prstGeom prst="ellipse">
            <a:avLst/>
          </a:prstGeom>
          <a:solidFill>
            <a:srgbClr val="8ACBC0"/>
          </a:solidFill>
          <a:ln w="38100">
            <a:solidFill>
              <a:srgbClr val="009386"/>
            </a:solidFill>
          </a:ln>
        </p:spPr>
      </p:pic>
    </p:spTree>
    <p:extLst>
      <p:ext uri="{BB962C8B-B14F-4D97-AF65-F5344CB8AC3E}">
        <p14:creationId xmlns:p14="http://schemas.microsoft.com/office/powerpoint/2010/main" val="54253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893146"/>
      </p:ext>
    </p:extLst>
  </p:cSld>
  <p:clrMapOvr>
    <a:masterClrMapping/>
  </p:clrMapOvr>
</p:sld>
</file>

<file path=ppt/theme/theme1.xml><?xml version="1.0" encoding="utf-8"?>
<a:theme xmlns:a="http://schemas.openxmlformats.org/drawingml/2006/main" name="Slide Layouts">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Bold"/>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werPoint Template" id="{AEAE8EFC-84E1-44A5-B19D-1CAE340B02B6}" vid="{010B92F8-2E9D-4993-ABC6-5071BBCC9E2D}"/>
    </a:ext>
  </a:extLst>
</a:theme>
</file>

<file path=ppt/theme/theme2.xml><?xml version="1.0" encoding="utf-8"?>
<a:theme xmlns:a="http://schemas.openxmlformats.org/drawingml/2006/main" name="Disclaimers/Guidan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 Template" id="{AEAE8EFC-84E1-44A5-B19D-1CAE340B02B6}" vid="{1AD28E7D-A90E-4DFD-B834-C66F360CCA3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4009</TotalTime>
  <Words>851</Words>
  <Application>Microsoft Office PowerPoint</Application>
  <PresentationFormat>On-screen Show (4:3)</PresentationFormat>
  <Paragraphs>82</Paragraphs>
  <Slides>20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Arial</vt:lpstr>
      <vt:lpstr>Calibri</vt:lpstr>
      <vt:lpstr>Twinkl</vt:lpstr>
      <vt:lpstr>Roboto</vt:lpstr>
      <vt:lpstr>Slide Layouts</vt:lpstr>
      <vt:lpstr>Disclaimers/Guidance</vt:lpstr>
      <vt:lpstr>PowerPoint Presentation</vt:lpstr>
      <vt:lpstr>What is a clause?</vt:lpstr>
      <vt:lpstr>Main Clause</vt:lpstr>
      <vt:lpstr>Subordinate Clause</vt:lpstr>
      <vt:lpstr>Simple Sentences</vt:lpstr>
      <vt:lpstr>Compound Sentences</vt:lpstr>
      <vt:lpstr>Complex Sentences</vt:lpstr>
      <vt:lpstr>Activity 1</vt:lpstr>
      <vt:lpstr>Activity 2</vt:lpstr>
      <vt:lpstr>Activity 3</vt:lpstr>
      <vt:lpstr>Activity 4</vt:lpstr>
      <vt:lpstr>Activity 5</vt:lpstr>
      <vt:lpstr>Activity 6</vt:lpstr>
      <vt:lpstr>Activity 7</vt:lpstr>
      <vt:lpstr>Activity 8</vt:lpstr>
      <vt:lpstr>Activity 9</vt:lpstr>
      <vt:lpstr>Activity 10</vt:lpstr>
      <vt:lpstr>Activity 11</vt:lpstr>
      <vt:lpstr>Activity 12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Thomas Coates</dc:creator>
  <cp:lastModifiedBy>User</cp:lastModifiedBy>
  <cp:revision>7</cp:revision>
  <dcterms:created xsi:type="dcterms:W3CDTF">2022-04-15T15:22:34Z</dcterms:created>
  <dcterms:modified xsi:type="dcterms:W3CDTF">2023-03-25T08:04:57Z</dcterms:modified>
</cp:coreProperties>
</file>