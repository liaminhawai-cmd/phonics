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67" r:id="rId9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Twinkl" panose="020B0604020202020204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4" pos="340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5420" userDrawn="1">
          <p15:clr>
            <a:srgbClr val="A4A3A4"/>
          </p15:clr>
        </p15:guide>
        <p15:guide id="7" orient="horz" pos="346" userDrawn="1">
          <p15:clr>
            <a:srgbClr val="A4A3A4"/>
          </p15:clr>
        </p15:guide>
        <p15:guide id="8" pos="476" userDrawn="1">
          <p15:clr>
            <a:srgbClr val="A4A3A4"/>
          </p15:clr>
        </p15:guide>
        <p15:guide id="9" orient="horz" pos="482" userDrawn="1">
          <p15:clr>
            <a:srgbClr val="A4A3A4"/>
          </p15:clr>
        </p15:guide>
        <p15:guide id="10" orient="horz" pos="3838" userDrawn="1">
          <p15:clr>
            <a:srgbClr val="A4A3A4"/>
          </p15:clr>
        </p15:guide>
        <p15:guide id="11" pos="52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0DB"/>
    <a:srgbClr val="DE1E5A"/>
    <a:srgbClr val="BC0105"/>
    <a:srgbClr val="4DB1E3"/>
    <a:srgbClr val="80C1EB"/>
    <a:srgbClr val="ACDDFC"/>
    <a:srgbClr val="FFFFFF"/>
    <a:srgbClr val="4AA1D9"/>
    <a:srgbClr val="21A6F9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6" autoAdjust="0"/>
    <p:restoredTop sz="94660"/>
  </p:normalViewPr>
  <p:slideViewPr>
    <p:cSldViewPr snapToGrid="0" showGuides="1">
      <p:cViewPr varScale="1">
        <p:scale>
          <a:sx n="55" d="100"/>
          <a:sy n="55" d="100"/>
        </p:scale>
        <p:origin x="1253" y="53"/>
      </p:cViewPr>
      <p:guideLst>
        <p:guide orient="horz" pos="2160"/>
        <p:guide pos="2880"/>
        <p:guide pos="340"/>
        <p:guide orient="horz" pos="3974"/>
        <p:guide pos="5420"/>
        <p:guide orient="horz" pos="346"/>
        <p:guide pos="476"/>
        <p:guide orient="horz" pos="482"/>
        <p:guide orient="horz" pos="3838"/>
        <p:guide pos="52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6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4F151-63AC-41CE-96F5-7702E930870C}" type="datetimeFigureOut">
              <a:rPr lang="en-GB" smtClean="0"/>
              <a:t>29/06/2022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6B846-B279-40AC-BFF5-DBC4013370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397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2C5D1-7818-41B5-ABAD-5E4B38A5388F}" type="datetimeFigureOut">
              <a:rPr lang="en-GB" smtClean="0"/>
              <a:t>29/06/2022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21341-850D-40E1-BB3D-87946DC9B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04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inkl.co.uk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inkl.co.uk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3"/>
          </p:cNvPr>
          <p:cNvSpPr/>
          <p:nvPr userDrawn="1"/>
        </p:nvSpPr>
        <p:spPr>
          <a:xfrm>
            <a:off x="4137660" y="3152488"/>
            <a:ext cx="868680" cy="553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04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/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497" y="5734211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7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/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>
            <a:lvl1pPr>
              <a:defRPr>
                <a:latin typeface="Twinkl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07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52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3"/>
          </p:cNvPr>
          <p:cNvSpPr/>
          <p:nvPr userDrawn="1"/>
        </p:nvSpPr>
        <p:spPr>
          <a:xfrm>
            <a:off x="4137660" y="3152488"/>
            <a:ext cx="868680" cy="553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97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9745" y="695325"/>
            <a:ext cx="8164510" cy="1150938"/>
          </a:xfrm>
          <a:prstGeom prst="roundRect">
            <a:avLst>
              <a:gd name="adj" fmla="val 9641"/>
            </a:avLst>
          </a:prstGeom>
          <a:noFill/>
          <a:ln w="25400">
            <a:noFill/>
          </a:ln>
        </p:spPr>
        <p:txBody>
          <a:bodyPr vert="horz" lIns="252000" tIns="252000" rIns="252000" bIns="252000" rtlCol="0" anchor="ctr" anchorCtr="1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745" y="1957386"/>
            <a:ext cx="8164510" cy="4387851"/>
          </a:xfrm>
          <a:prstGeom prst="roundRect">
            <a:avLst>
              <a:gd name="adj" fmla="val 2585"/>
            </a:avLst>
          </a:prstGeom>
          <a:noFill/>
          <a:ln w="25400">
            <a:noFill/>
          </a:ln>
        </p:spPr>
        <p:txBody>
          <a:bodyPr vert="horz" lIns="252000" tIns="252000" rIns="252000" bIns="25200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2" r:id="rId3"/>
    <p:sldLayoutId id="2147483663" r:id="rId4"/>
    <p:sldLayoutId id="214748366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1C1C1C"/>
          </a:solidFill>
          <a:latin typeface="Twinkl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winkl.co.uk/resource/ks1-oops-dragon-diary-writing-resource-pack-t-e-254918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hyperlink" Target="https://www.twinkl.co.uk/resource/ks1-oops-dragon-diary-writing-resource-pack-t-e-2549181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tiff"/><Relationship Id="rId4" Type="http://schemas.openxmlformats.org/officeDocument/2006/relationships/image" Target="../media/image6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hyperlink" Target="https://www.twinkl.co.uk/resource/ks1-oops-dragon-diary-writing-resource-pack-t-e-2549181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tiff"/><Relationship Id="rId4" Type="http://schemas.openxmlformats.org/officeDocument/2006/relationships/image" Target="../media/image9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hyperlink" Target="https://www.twinkl.co.uk/resource/ks1-oops-dragon-diary-writing-resource-pack-t-e-2549181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tiff"/><Relationship Id="rId4" Type="http://schemas.openxmlformats.org/officeDocument/2006/relationships/image" Target="../media/image12.tif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tiff"/><Relationship Id="rId3" Type="http://schemas.openxmlformats.org/officeDocument/2006/relationships/image" Target="../media/image14.tiff"/><Relationship Id="rId7" Type="http://schemas.openxmlformats.org/officeDocument/2006/relationships/image" Target="../media/image18.tiff"/><Relationship Id="rId2" Type="http://schemas.openxmlformats.org/officeDocument/2006/relationships/hyperlink" Target="https://www.twinkl.co.uk/resource/ks1-oops-dragon-diary-writing-resource-pack-t-e-2549181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tiff"/><Relationship Id="rId5" Type="http://schemas.openxmlformats.org/officeDocument/2006/relationships/image" Target="../media/image16.tiff"/><Relationship Id="rId4" Type="http://schemas.openxmlformats.org/officeDocument/2006/relationships/image" Target="../media/image15.tiff"/><Relationship Id="rId9" Type="http://schemas.openxmlformats.org/officeDocument/2006/relationships/image" Target="../media/image20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hyperlink" Target="https://www.twinkl.co.uk/resource/ks1-oops-dragon-diary-writing-resource-pack-t-e-2549181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tiff"/><Relationship Id="rId4" Type="http://schemas.openxmlformats.org/officeDocument/2006/relationships/image" Target="../media/image22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hyperlink" Target="https://www.twinkl.co.uk/resource/ks1-oops-dragon-diary-writing-resource-pack-t-e-2549181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tif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winkl.co.uk/resource/ks1-oops-dragon-diary-writing-resource-pack-t-e-2549181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/>
            <a:extLst>
              <a:ext uri="{FF2B5EF4-FFF2-40B4-BE49-F238E27FC236}">
                <a16:creationId xmlns:a16="http://schemas.microsoft.com/office/drawing/2014/main" id="{CAB27602-67CA-5741-8554-4867AD36249F}"/>
              </a:ext>
            </a:extLst>
          </p:cNvPr>
          <p:cNvSpPr/>
          <p:nvPr/>
        </p:nvSpPr>
        <p:spPr>
          <a:xfrm>
            <a:off x="8328454" y="5955957"/>
            <a:ext cx="815546" cy="9020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07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6BE070AA-DA6C-1345-A83C-D50295611A91}"/>
              </a:ext>
            </a:extLst>
          </p:cNvPr>
          <p:cNvSpPr/>
          <p:nvPr/>
        </p:nvSpPr>
        <p:spPr>
          <a:xfrm>
            <a:off x="6639233" y="4303407"/>
            <a:ext cx="1174414" cy="117441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glow rad="495920">
              <a:srgbClr val="FF0000">
                <a:alpha val="56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603121-590E-C94B-8CA0-58359AD0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BEWARE the Dragon!</a:t>
            </a:r>
            <a:endParaRPr lang="en-US" dirty="0"/>
          </a:p>
        </p:txBody>
      </p:sp>
      <p:sp>
        <p:nvSpPr>
          <p:cNvPr id="3" name="Rectangle 2">
            <a:hlinkClick r:id="rId2"/>
            <a:extLst>
              <a:ext uri="{FF2B5EF4-FFF2-40B4-BE49-F238E27FC236}">
                <a16:creationId xmlns:a16="http://schemas.microsoft.com/office/drawing/2014/main" id="{3B604201-15F8-004B-A20F-FCE80DD9B1ED}"/>
              </a:ext>
            </a:extLst>
          </p:cNvPr>
          <p:cNvSpPr/>
          <p:nvPr/>
        </p:nvSpPr>
        <p:spPr>
          <a:xfrm>
            <a:off x="8328454" y="6474941"/>
            <a:ext cx="815546" cy="38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C69816-D8C0-C44D-8573-42BCEAE8F163}"/>
              </a:ext>
            </a:extLst>
          </p:cNvPr>
          <p:cNvSpPr/>
          <p:nvPr/>
        </p:nvSpPr>
        <p:spPr>
          <a:xfrm>
            <a:off x="1095827" y="1473201"/>
            <a:ext cx="334781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00"/>
                </a:solidFill>
              </a:rPr>
              <a:t>Don’t get too close 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to that cave over there.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People believe it’s a dragon’s lair.</a:t>
            </a:r>
            <a:endParaRPr lang="en-GB" sz="1400" dirty="0"/>
          </a:p>
          <a:p>
            <a:br>
              <a:rPr lang="en-GB" sz="1400" dirty="0"/>
            </a:br>
            <a:r>
              <a:rPr lang="en-GB" sz="1400" dirty="0">
                <a:solidFill>
                  <a:srgbClr val="000000"/>
                </a:solidFill>
              </a:rPr>
              <a:t>Hear how it’s quiet,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you can’t hear a sound.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Only rumbling from under the ground.</a:t>
            </a:r>
            <a:endParaRPr lang="en-GB" sz="1400" dirty="0"/>
          </a:p>
          <a:p>
            <a:br>
              <a:rPr lang="en-GB" sz="1400" dirty="0"/>
            </a:br>
            <a:r>
              <a:rPr lang="en-GB" sz="1400" dirty="0">
                <a:solidFill>
                  <a:srgbClr val="000000"/>
                </a:solidFill>
              </a:rPr>
              <a:t>Maybe some smoke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curls out from inside,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from the jaws of a beast, open wide.</a:t>
            </a:r>
            <a:endParaRPr lang="en-GB" sz="1400" dirty="0"/>
          </a:p>
          <a:p>
            <a:br>
              <a:rPr lang="en-GB" sz="1400" dirty="0"/>
            </a:br>
            <a:r>
              <a:rPr lang="en-GB" sz="1400" dirty="0">
                <a:solidFill>
                  <a:srgbClr val="000000"/>
                </a:solidFill>
              </a:rPr>
              <a:t>See the red glow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in the dead of night.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The dragon’s hot breath is burning bright.</a:t>
            </a:r>
          </a:p>
          <a:p>
            <a:br>
              <a:rPr lang="en-GB" sz="1400" dirty="0"/>
            </a:br>
            <a:r>
              <a:rPr lang="en-GB" sz="1400" dirty="0">
                <a:solidFill>
                  <a:srgbClr val="000000"/>
                </a:solidFill>
              </a:rPr>
              <a:t>Feel the warm heat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from the scorching fire.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Flames from its mouth now growing higher.</a:t>
            </a:r>
            <a:endParaRPr lang="en-GB" sz="1400" dirty="0"/>
          </a:p>
          <a:p>
            <a:endParaRPr lang="en-GB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7D745-1462-D34C-8B90-4134D2EE30F8}"/>
              </a:ext>
            </a:extLst>
          </p:cNvPr>
          <p:cNvSpPr/>
          <p:nvPr/>
        </p:nvSpPr>
        <p:spPr>
          <a:xfrm>
            <a:off x="4567235" y="1240973"/>
            <a:ext cx="3347812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GB" sz="1400" dirty="0"/>
            </a:br>
            <a:r>
              <a:rPr lang="en-GB" sz="1400" dirty="0">
                <a:solidFill>
                  <a:srgbClr val="000000"/>
                </a:solidFill>
              </a:rPr>
              <a:t>Tiptoe close to 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the cave if you dare. 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You peep inside but what lies in there?</a:t>
            </a:r>
            <a:endParaRPr lang="en-GB" sz="1400" dirty="0"/>
          </a:p>
          <a:p>
            <a:br>
              <a:rPr lang="en-GB" sz="1400" dirty="0"/>
            </a:br>
            <a:r>
              <a:rPr lang="en-GB" sz="1400" dirty="0">
                <a:solidFill>
                  <a:srgbClr val="000000"/>
                </a:solidFill>
              </a:rPr>
              <a:t>Sleeping dragon?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That’s what you think.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It sniffs the air. Its eyes start to blink!</a:t>
            </a:r>
            <a:endParaRPr lang="en-GB" sz="1400" dirty="0"/>
          </a:p>
          <a:p>
            <a:br>
              <a:rPr lang="en-GB" sz="1400" dirty="0"/>
            </a:br>
            <a:r>
              <a:rPr lang="en-GB" sz="1400" dirty="0">
                <a:solidFill>
                  <a:srgbClr val="000000"/>
                </a:solidFill>
              </a:rPr>
              <a:t>Be quiet. Stand still.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Oh, what can you do? </a:t>
            </a:r>
            <a:endParaRPr lang="en-GB" sz="1400" dirty="0"/>
          </a:p>
          <a:p>
            <a:r>
              <a:rPr lang="en-GB" sz="1400" dirty="0">
                <a:solidFill>
                  <a:srgbClr val="000000"/>
                </a:solidFill>
              </a:rPr>
              <a:t>Will you run or hide? Don’t let him catch you!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F2431F-D818-384D-AC3E-BC36E32363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363" y="4210823"/>
            <a:ext cx="2094470" cy="209447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4B5D8A1-B0CC-9741-A41A-95F8226452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453" y="5369131"/>
            <a:ext cx="2046759" cy="994306"/>
          </a:xfrm>
          <a:prstGeom prst="rect">
            <a:avLst/>
          </a:prstGeom>
        </p:spPr>
      </p:pic>
      <p:pic>
        <p:nvPicPr>
          <p:cNvPr id="11" name="Picture 10" descr="Shape&#10;&#10;Description automatically generated">
            <a:extLst>
              <a:ext uri="{FF2B5EF4-FFF2-40B4-BE49-F238E27FC236}">
                <a16:creationId xmlns:a16="http://schemas.microsoft.com/office/drawing/2014/main" id="{B3A7E9CB-07DC-4348-990B-8E11365123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557" y="5035483"/>
            <a:ext cx="1447583" cy="126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027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3121-590E-C94B-8CA0-58359AD0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Who Am I?</a:t>
            </a:r>
            <a:endParaRPr lang="en-US" dirty="0"/>
          </a:p>
        </p:txBody>
      </p:sp>
      <p:sp>
        <p:nvSpPr>
          <p:cNvPr id="3" name="Rectangle 2">
            <a:hlinkClick r:id="rId2"/>
            <a:extLst>
              <a:ext uri="{FF2B5EF4-FFF2-40B4-BE49-F238E27FC236}">
                <a16:creationId xmlns:a16="http://schemas.microsoft.com/office/drawing/2014/main" id="{3B604201-15F8-004B-A20F-FCE80DD9B1ED}"/>
              </a:ext>
            </a:extLst>
          </p:cNvPr>
          <p:cNvSpPr/>
          <p:nvPr/>
        </p:nvSpPr>
        <p:spPr>
          <a:xfrm>
            <a:off x="8328454" y="6474941"/>
            <a:ext cx="815546" cy="38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C69816-D8C0-C44D-8573-42BCEAE8F163}"/>
              </a:ext>
            </a:extLst>
          </p:cNvPr>
          <p:cNvSpPr/>
          <p:nvPr/>
        </p:nvSpPr>
        <p:spPr>
          <a:xfrm>
            <a:off x="2898094" y="4513715"/>
            <a:ext cx="33478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dirty="0"/>
              <a:t>…DRAGON!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41C195-D6C7-CC43-B32B-A778290009D9}"/>
              </a:ext>
            </a:extLst>
          </p:cNvPr>
          <p:cNvSpPr/>
          <p:nvPr/>
        </p:nvSpPr>
        <p:spPr>
          <a:xfrm>
            <a:off x="2898094" y="1737957"/>
            <a:ext cx="334781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dirty="0"/>
              <a:t>I am a...</a:t>
            </a:r>
          </a:p>
          <a:p>
            <a:pPr algn="ctr"/>
            <a:br>
              <a:rPr lang="en-GB" sz="2000" dirty="0"/>
            </a:br>
            <a:r>
              <a:rPr lang="en-GB" sz="2000" dirty="0"/>
              <a:t>Teeth gnashing</a:t>
            </a:r>
          </a:p>
          <a:p>
            <a:pPr algn="ctr"/>
            <a:r>
              <a:rPr lang="en-GB" sz="2000" dirty="0"/>
              <a:t>Tail swishing</a:t>
            </a:r>
          </a:p>
          <a:p>
            <a:pPr algn="ctr"/>
            <a:r>
              <a:rPr lang="en-GB" sz="2000" dirty="0"/>
              <a:t>Jewel collecting</a:t>
            </a:r>
          </a:p>
          <a:p>
            <a:pPr algn="ctr"/>
            <a:r>
              <a:rPr lang="en-GB" sz="2000" dirty="0"/>
              <a:t>Smoke blowing</a:t>
            </a:r>
          </a:p>
          <a:p>
            <a:pPr algn="ctr"/>
            <a:r>
              <a:rPr lang="en-GB" sz="2000" dirty="0"/>
              <a:t>Knight fighting</a:t>
            </a:r>
          </a:p>
          <a:p>
            <a:pPr algn="ctr"/>
            <a:r>
              <a:rPr lang="en-GB" sz="2000" dirty="0"/>
              <a:t>Fire breathing</a:t>
            </a:r>
          </a:p>
        </p:txBody>
      </p:sp>
      <p:pic>
        <p:nvPicPr>
          <p:cNvPr id="12" name="Picture 11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6ACB283D-5C47-744B-A114-6B0AF95A62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68" y="5097814"/>
            <a:ext cx="5335013" cy="769376"/>
          </a:xfrm>
          <a:prstGeom prst="rect">
            <a:avLst/>
          </a:prstGeom>
        </p:spPr>
      </p:pic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5E3D4D2C-86C2-8D49-8C5C-222F568F09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653" y="1862676"/>
            <a:ext cx="2750359" cy="3833834"/>
          </a:xfrm>
          <a:prstGeom prst="rect">
            <a:avLst/>
          </a:prstGeom>
        </p:spPr>
      </p:pic>
      <p:pic>
        <p:nvPicPr>
          <p:cNvPr id="10" name="Picture 9" descr="A picture containing text, lamp, vector graphics&#10;&#10;Description automatically generated">
            <a:extLst>
              <a:ext uri="{FF2B5EF4-FFF2-40B4-BE49-F238E27FC236}">
                <a16:creationId xmlns:a16="http://schemas.microsoft.com/office/drawing/2014/main" id="{AB9A00EA-2863-B54C-91FD-EDDAAE0F93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88" y="1988260"/>
            <a:ext cx="2808385" cy="397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3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3121-590E-C94B-8CA0-58359AD0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What Makes a Dragon?</a:t>
            </a:r>
            <a:endParaRPr lang="en-US" dirty="0"/>
          </a:p>
        </p:txBody>
      </p:sp>
      <p:sp>
        <p:nvSpPr>
          <p:cNvPr id="3" name="Rectangle 2">
            <a:hlinkClick r:id="rId2"/>
            <a:extLst>
              <a:ext uri="{FF2B5EF4-FFF2-40B4-BE49-F238E27FC236}">
                <a16:creationId xmlns:a16="http://schemas.microsoft.com/office/drawing/2014/main" id="{3B604201-15F8-004B-A20F-FCE80DD9B1ED}"/>
              </a:ext>
            </a:extLst>
          </p:cNvPr>
          <p:cNvSpPr/>
          <p:nvPr/>
        </p:nvSpPr>
        <p:spPr>
          <a:xfrm>
            <a:off x="8328454" y="6474941"/>
            <a:ext cx="815546" cy="38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41C195-D6C7-CC43-B32B-A778290009D9}"/>
              </a:ext>
            </a:extLst>
          </p:cNvPr>
          <p:cNvSpPr/>
          <p:nvPr/>
        </p:nvSpPr>
        <p:spPr>
          <a:xfrm>
            <a:off x="2893329" y="1766985"/>
            <a:ext cx="334781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makes a dragon?</a:t>
            </a:r>
            <a:endParaRPr lang="en-GB" sz="2000" dirty="0"/>
          </a:p>
          <a:p>
            <a:pPr algn="ctr"/>
            <a:br>
              <a:rPr lang="en-GB" sz="2000" dirty="0"/>
            </a:br>
            <a:r>
              <a:rPr lang="en-GB" dirty="0"/>
              <a:t>A swishing tail,</a:t>
            </a:r>
            <a:endParaRPr lang="en-GB" sz="2000" dirty="0"/>
          </a:p>
          <a:p>
            <a:pPr algn="ctr"/>
            <a:r>
              <a:rPr lang="en-GB" dirty="0"/>
              <a:t>beady eyes,</a:t>
            </a:r>
            <a:endParaRPr lang="en-GB" sz="2000" dirty="0"/>
          </a:p>
          <a:p>
            <a:pPr algn="ctr"/>
            <a:r>
              <a:rPr lang="en-GB" dirty="0"/>
              <a:t>pointy horns,</a:t>
            </a:r>
            <a:endParaRPr lang="en-GB" sz="2000" dirty="0"/>
          </a:p>
          <a:p>
            <a:pPr algn="ctr"/>
            <a:r>
              <a:rPr lang="en-GB" dirty="0"/>
              <a:t>sharp teeth,</a:t>
            </a:r>
            <a:endParaRPr lang="en-GB" sz="2000" dirty="0"/>
          </a:p>
          <a:p>
            <a:pPr algn="ctr"/>
            <a:r>
              <a:rPr lang="en-GB" dirty="0"/>
              <a:t>huge wings,</a:t>
            </a:r>
            <a:endParaRPr lang="en-GB" sz="2000" dirty="0"/>
          </a:p>
          <a:p>
            <a:pPr algn="ctr"/>
            <a:r>
              <a:rPr lang="en-GB" dirty="0"/>
              <a:t>shiny scales,</a:t>
            </a:r>
            <a:endParaRPr lang="en-GB" sz="2000" dirty="0"/>
          </a:p>
          <a:p>
            <a:pPr algn="ctr"/>
            <a:r>
              <a:rPr lang="en-GB" dirty="0"/>
              <a:t>smoky nostrils,</a:t>
            </a:r>
            <a:endParaRPr lang="en-GB" sz="2000" dirty="0"/>
          </a:p>
          <a:p>
            <a:pPr algn="ctr"/>
            <a:r>
              <a:rPr lang="en-GB" dirty="0"/>
              <a:t>fiery breath</a:t>
            </a:r>
            <a:endParaRPr lang="en-GB" sz="2000" dirty="0"/>
          </a:p>
          <a:p>
            <a:pPr algn="ctr"/>
            <a:r>
              <a:rPr lang="en-GB" dirty="0"/>
              <a:t>and a pinch of magic.</a:t>
            </a:r>
            <a:endParaRPr lang="en-GB" sz="2000" dirty="0"/>
          </a:p>
          <a:p>
            <a:pPr algn="ctr"/>
            <a:br>
              <a:rPr lang="en-GB" sz="2000" dirty="0"/>
            </a:br>
            <a:endParaRPr lang="en-GB" sz="2000" dirty="0"/>
          </a:p>
        </p:txBody>
      </p:sp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0B9011B4-8CB3-1146-AF21-713508BD2C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993514">
            <a:off x="2972366" y="3148638"/>
            <a:ext cx="3833147" cy="3429000"/>
          </a:xfrm>
          <a:prstGeom prst="rect">
            <a:avLst/>
          </a:prstGeom>
        </p:spPr>
      </p:pic>
      <p:pic>
        <p:nvPicPr>
          <p:cNvPr id="10" name="Picture 9" descr="Chart, scatter chart&#10;&#10;Description automatically generated">
            <a:extLst>
              <a:ext uri="{FF2B5EF4-FFF2-40B4-BE49-F238E27FC236}">
                <a16:creationId xmlns:a16="http://schemas.microsoft.com/office/drawing/2014/main" id="{F29375C0-9653-A444-A113-05DB4E49EB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65890">
            <a:off x="4007098" y="2360056"/>
            <a:ext cx="4468086" cy="3996994"/>
          </a:xfrm>
          <a:prstGeom prst="rect">
            <a:avLst/>
          </a:prstGeom>
        </p:spPr>
      </p:pic>
      <p:pic>
        <p:nvPicPr>
          <p:cNvPr id="7" name="Picture 6" descr="A picture containing vector graphics&#10;&#10;Description automatically generated">
            <a:extLst>
              <a:ext uri="{FF2B5EF4-FFF2-40B4-BE49-F238E27FC236}">
                <a16:creationId xmlns:a16="http://schemas.microsoft.com/office/drawing/2014/main" id="{1D7C1EBB-3A67-2745-924A-8930722DB5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18" y="3031298"/>
            <a:ext cx="2564394" cy="322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0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3121-590E-C94B-8CA0-58359AD0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Rainbow Dragons</a:t>
            </a:r>
            <a:endParaRPr lang="en-US" dirty="0"/>
          </a:p>
        </p:txBody>
      </p:sp>
      <p:sp>
        <p:nvSpPr>
          <p:cNvPr id="3" name="Rectangle 2">
            <a:hlinkClick r:id="rId2"/>
            <a:extLst>
              <a:ext uri="{FF2B5EF4-FFF2-40B4-BE49-F238E27FC236}">
                <a16:creationId xmlns:a16="http://schemas.microsoft.com/office/drawing/2014/main" id="{3B604201-15F8-004B-A20F-FCE80DD9B1ED}"/>
              </a:ext>
            </a:extLst>
          </p:cNvPr>
          <p:cNvSpPr/>
          <p:nvPr/>
        </p:nvSpPr>
        <p:spPr>
          <a:xfrm>
            <a:off x="8328454" y="6474941"/>
            <a:ext cx="815546" cy="38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41C195-D6C7-CC43-B32B-A778290009D9}"/>
              </a:ext>
            </a:extLst>
          </p:cNvPr>
          <p:cNvSpPr/>
          <p:nvPr/>
        </p:nvSpPr>
        <p:spPr>
          <a:xfrm>
            <a:off x="1824035" y="1501555"/>
            <a:ext cx="5486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Swooping, swirling, up so high</a:t>
            </a:r>
          </a:p>
          <a:p>
            <a:pPr algn="ctr"/>
            <a:r>
              <a:rPr lang="en-GB" dirty="0"/>
              <a:t>Rainbow dragons, see them fly.</a:t>
            </a:r>
          </a:p>
          <a:p>
            <a:pPr algn="ctr"/>
            <a:r>
              <a:rPr lang="en-GB" dirty="0"/>
              <a:t>Watch them move, a flash of light</a:t>
            </a:r>
          </a:p>
          <a:p>
            <a:pPr algn="ctr"/>
            <a:r>
              <a:rPr lang="en-GB" dirty="0"/>
              <a:t>Colours dancing bold and bright.</a:t>
            </a:r>
          </a:p>
          <a:p>
            <a:pPr algn="ctr"/>
            <a:br>
              <a:rPr lang="en-GB" dirty="0"/>
            </a:br>
            <a:r>
              <a:rPr lang="en-GB" dirty="0"/>
              <a:t>Purple and pink, blue and green</a:t>
            </a:r>
          </a:p>
          <a:p>
            <a:pPr algn="ctr"/>
            <a:r>
              <a:rPr lang="en-GB" dirty="0"/>
              <a:t>Beauty like I’ve never seen.</a:t>
            </a:r>
          </a:p>
          <a:p>
            <a:pPr algn="ctr"/>
            <a:r>
              <a:rPr lang="en-GB" dirty="0"/>
              <a:t>On their backs are shiny scales</a:t>
            </a:r>
          </a:p>
          <a:p>
            <a:pPr algn="ctr"/>
            <a:r>
              <a:rPr lang="en-GB" dirty="0"/>
              <a:t>Shimmering down to their tails.</a:t>
            </a:r>
          </a:p>
          <a:p>
            <a:pPr algn="ctr"/>
            <a:br>
              <a:rPr lang="en-GB" dirty="0"/>
            </a:br>
            <a:r>
              <a:rPr lang="en-GB" dirty="0"/>
              <a:t>Sparkling orange, glowing reds</a:t>
            </a:r>
          </a:p>
          <a:p>
            <a:pPr algn="ctr"/>
            <a:r>
              <a:rPr lang="en-GB" dirty="0"/>
              <a:t>Golden horns upon their heads.</a:t>
            </a:r>
          </a:p>
          <a:p>
            <a:pPr algn="ctr"/>
            <a:r>
              <a:rPr lang="en-GB" dirty="0"/>
              <a:t>Yellow flames that brightly shine</a:t>
            </a:r>
          </a:p>
          <a:p>
            <a:pPr algn="ctr"/>
            <a:r>
              <a:rPr lang="en-GB" dirty="0"/>
              <a:t>How I wish that one was mine.</a:t>
            </a: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3E99D94A-F3D4-0743-AA6F-CBD4762DBD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0501" y="1081822"/>
            <a:ext cx="1976992" cy="1229404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F46C9211-19F4-B642-B7D1-23AF32443D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29021" flipH="1">
            <a:off x="596598" y="2919225"/>
            <a:ext cx="1984797" cy="1499037"/>
          </a:xfrm>
          <a:prstGeom prst="rect">
            <a:avLst/>
          </a:prstGeom>
        </p:spPr>
      </p:pic>
      <p:pic>
        <p:nvPicPr>
          <p:cNvPr id="10" name="Picture 9" descr="A picture containing vector graphics&#10;&#10;Description automatically generated">
            <a:extLst>
              <a:ext uri="{FF2B5EF4-FFF2-40B4-BE49-F238E27FC236}">
                <a16:creationId xmlns:a16="http://schemas.microsoft.com/office/drawing/2014/main" id="{EC698DEB-6BAC-BE4F-B6F4-7B9760CCB2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64358" flipH="1">
            <a:off x="1241053" y="4800460"/>
            <a:ext cx="1473224" cy="1207827"/>
          </a:xfrm>
          <a:prstGeom prst="rect">
            <a:avLst/>
          </a:prstGeom>
        </p:spPr>
      </p:pic>
      <p:pic>
        <p:nvPicPr>
          <p:cNvPr id="12" name="Picture 11" descr="A cartoon of a dragon&#10;&#10;Description automatically generated with low confidence">
            <a:extLst>
              <a:ext uri="{FF2B5EF4-FFF2-40B4-BE49-F238E27FC236}">
                <a16:creationId xmlns:a16="http://schemas.microsoft.com/office/drawing/2014/main" id="{8F91D4F8-FCD0-8C40-A414-27C6FEBB53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365" y="1258008"/>
            <a:ext cx="1814089" cy="1258374"/>
          </a:xfrm>
          <a:prstGeom prst="rect">
            <a:avLst/>
          </a:prstGeom>
        </p:spPr>
      </p:pic>
      <p:pic>
        <p:nvPicPr>
          <p:cNvPr id="14" name="Picture 13" descr="A picture containing vector graphics&#10;&#10;Description automatically generated">
            <a:extLst>
              <a:ext uri="{FF2B5EF4-FFF2-40B4-BE49-F238E27FC236}">
                <a16:creationId xmlns:a16="http://schemas.microsoft.com/office/drawing/2014/main" id="{2B543686-6373-8241-B0F2-E07AD21898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5924" flipH="1">
            <a:off x="6842553" y="2830861"/>
            <a:ext cx="1672817" cy="1401130"/>
          </a:xfrm>
          <a:prstGeom prst="rect">
            <a:avLst/>
          </a:prstGeom>
        </p:spPr>
      </p:pic>
      <p:pic>
        <p:nvPicPr>
          <p:cNvPr id="16" name="Picture 15" descr="A cartoon of a person&#10;&#10;Description automatically generated with low confidence">
            <a:extLst>
              <a:ext uri="{FF2B5EF4-FFF2-40B4-BE49-F238E27FC236}">
                <a16:creationId xmlns:a16="http://schemas.microsoft.com/office/drawing/2014/main" id="{368DB4C2-7865-5249-BDC3-6A16DC45970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509" y="4359415"/>
            <a:ext cx="1216132" cy="1940446"/>
          </a:xfrm>
          <a:prstGeom prst="rect">
            <a:avLst/>
          </a:prstGeom>
        </p:spPr>
      </p:pic>
      <p:pic>
        <p:nvPicPr>
          <p:cNvPr id="18" name="Picture 17" descr="A cartoon of a cat&#10;&#10;Description automatically generated with low confidence">
            <a:extLst>
              <a:ext uri="{FF2B5EF4-FFF2-40B4-BE49-F238E27FC236}">
                <a16:creationId xmlns:a16="http://schemas.microsoft.com/office/drawing/2014/main" id="{92227DC0-B6F5-E34B-9AD4-D4F41220198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66" y="5356445"/>
            <a:ext cx="1351143" cy="151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7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3121-590E-C94B-8CA0-58359AD0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Dragons Are...</a:t>
            </a:r>
            <a:endParaRPr lang="en-US" dirty="0"/>
          </a:p>
        </p:txBody>
      </p:sp>
      <p:sp>
        <p:nvSpPr>
          <p:cNvPr id="3" name="Rectangle 2">
            <a:hlinkClick r:id="rId2"/>
            <a:extLst>
              <a:ext uri="{FF2B5EF4-FFF2-40B4-BE49-F238E27FC236}">
                <a16:creationId xmlns:a16="http://schemas.microsoft.com/office/drawing/2014/main" id="{3B604201-15F8-004B-A20F-FCE80DD9B1ED}"/>
              </a:ext>
            </a:extLst>
          </p:cNvPr>
          <p:cNvSpPr/>
          <p:nvPr/>
        </p:nvSpPr>
        <p:spPr>
          <a:xfrm>
            <a:off x="8328454" y="6474941"/>
            <a:ext cx="815546" cy="38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41C195-D6C7-CC43-B32B-A778290009D9}"/>
              </a:ext>
            </a:extLst>
          </p:cNvPr>
          <p:cNvSpPr/>
          <p:nvPr/>
        </p:nvSpPr>
        <p:spPr>
          <a:xfrm>
            <a:off x="2635700" y="1958134"/>
            <a:ext cx="386307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/>
              <a:t>D</a:t>
            </a:r>
            <a:r>
              <a:rPr lang="en-GB" sz="2800" dirty="0"/>
              <a:t>angerous beasts that</a:t>
            </a:r>
          </a:p>
          <a:p>
            <a:r>
              <a:rPr lang="en-GB" sz="3200" dirty="0"/>
              <a:t>R</a:t>
            </a:r>
            <a:r>
              <a:rPr lang="en-GB" sz="2800" dirty="0"/>
              <a:t>oar loudly</a:t>
            </a:r>
          </a:p>
          <a:p>
            <a:r>
              <a:rPr lang="en-GB" sz="3200" dirty="0"/>
              <a:t>A</a:t>
            </a:r>
            <a:r>
              <a:rPr lang="en-GB" sz="2800" dirty="0"/>
              <a:t>ttack knights</a:t>
            </a:r>
          </a:p>
          <a:p>
            <a:r>
              <a:rPr lang="en-GB" sz="3200" dirty="0"/>
              <a:t>G</a:t>
            </a:r>
            <a:r>
              <a:rPr lang="en-GB" sz="2800" dirty="0"/>
              <a:t>uard jewels with</a:t>
            </a:r>
          </a:p>
          <a:p>
            <a:r>
              <a:rPr lang="en-GB" sz="3200" dirty="0"/>
              <a:t>O</a:t>
            </a:r>
            <a:r>
              <a:rPr lang="en-GB" sz="2800" dirty="0"/>
              <a:t>range flames and</a:t>
            </a:r>
          </a:p>
          <a:p>
            <a:r>
              <a:rPr lang="en-GB" sz="3200" dirty="0"/>
              <a:t>N</a:t>
            </a:r>
            <a:r>
              <a:rPr lang="en-GB" sz="2800" dirty="0"/>
              <a:t>ostrils flaring</a:t>
            </a:r>
          </a:p>
          <a:p>
            <a:r>
              <a:rPr lang="en-GB" sz="3200" dirty="0"/>
              <a:t>S</a:t>
            </a:r>
            <a:r>
              <a:rPr lang="en-GB" sz="2800" dirty="0"/>
              <a:t>moking hot!</a:t>
            </a:r>
            <a:br>
              <a:rPr lang="en-GB" sz="2800" dirty="0"/>
            </a:br>
            <a:endParaRPr lang="en-GB" sz="3200" dirty="0"/>
          </a:p>
        </p:txBody>
      </p:sp>
      <p:pic>
        <p:nvPicPr>
          <p:cNvPr id="5" name="Picture 4" descr="A picture containing vector graphics&#10;&#10;Description automatically generated">
            <a:extLst>
              <a:ext uri="{FF2B5EF4-FFF2-40B4-BE49-F238E27FC236}">
                <a16:creationId xmlns:a16="http://schemas.microsoft.com/office/drawing/2014/main" id="{F0693B89-514D-E242-81F8-E2CEAB2E6D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930" y="4311469"/>
            <a:ext cx="2521960" cy="206763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B11907A-FE20-664F-B7A9-3914C06BDE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491" flipH="1">
            <a:off x="5236943" y="4724586"/>
            <a:ext cx="1040165" cy="531862"/>
          </a:xfrm>
          <a:prstGeom prst="rect">
            <a:avLst/>
          </a:prstGeom>
        </p:spPr>
      </p:pic>
      <p:pic>
        <p:nvPicPr>
          <p:cNvPr id="10" name="Picture 9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80AE32F3-4CA0-6B44-B299-BAE88E0CBA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083" y="5345287"/>
            <a:ext cx="4860380" cy="70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73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3121-590E-C94B-8CA0-58359AD0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The Dragon’s Breath</a:t>
            </a:r>
            <a:endParaRPr lang="en-US" dirty="0"/>
          </a:p>
        </p:txBody>
      </p:sp>
      <p:sp>
        <p:nvSpPr>
          <p:cNvPr id="3" name="Rectangle 2">
            <a:hlinkClick r:id="rId2"/>
            <a:extLst>
              <a:ext uri="{FF2B5EF4-FFF2-40B4-BE49-F238E27FC236}">
                <a16:creationId xmlns:a16="http://schemas.microsoft.com/office/drawing/2014/main" id="{3B604201-15F8-004B-A20F-FCE80DD9B1ED}"/>
              </a:ext>
            </a:extLst>
          </p:cNvPr>
          <p:cNvSpPr/>
          <p:nvPr/>
        </p:nvSpPr>
        <p:spPr>
          <a:xfrm>
            <a:off x="8328454" y="6474941"/>
            <a:ext cx="815546" cy="38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41C195-D6C7-CC43-B32B-A778290009D9}"/>
              </a:ext>
            </a:extLst>
          </p:cNvPr>
          <p:cNvSpPr/>
          <p:nvPr/>
        </p:nvSpPr>
        <p:spPr>
          <a:xfrm>
            <a:off x="2635700" y="1734400"/>
            <a:ext cx="38630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A thundering roar,</a:t>
            </a:r>
          </a:p>
          <a:p>
            <a:pPr algn="ctr"/>
            <a:r>
              <a:rPr lang="en-GB" dirty="0"/>
              <a:t>A blaze of red, angry flames,</a:t>
            </a:r>
          </a:p>
          <a:p>
            <a:pPr algn="ctr"/>
            <a:r>
              <a:rPr lang="en-GB" dirty="0"/>
              <a:t>A puff of smoke...gone!</a:t>
            </a:r>
          </a:p>
        </p:txBody>
      </p:sp>
      <p:pic>
        <p:nvPicPr>
          <p:cNvPr id="8" name="Picture 7" descr="A picture containing wheel, transport&#10;&#10;Description automatically generated">
            <a:extLst>
              <a:ext uri="{FF2B5EF4-FFF2-40B4-BE49-F238E27FC236}">
                <a16:creationId xmlns:a16="http://schemas.microsoft.com/office/drawing/2014/main" id="{35C0AE01-1E7E-B34C-972E-47BFB5EBB1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835" y="2947547"/>
            <a:ext cx="3588327" cy="24284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1776B-F470-B64B-A104-CDDEA1C1A5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901" y="3293225"/>
            <a:ext cx="2158197" cy="281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58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/>
            <a:extLst>
              <a:ext uri="{FF2B5EF4-FFF2-40B4-BE49-F238E27FC236}">
                <a16:creationId xmlns:a16="http://schemas.microsoft.com/office/drawing/2014/main" id="{8870B588-3FFE-3E47-BBC2-BAA2424ACCB0}"/>
              </a:ext>
            </a:extLst>
          </p:cNvPr>
          <p:cNvSpPr/>
          <p:nvPr/>
        </p:nvSpPr>
        <p:spPr>
          <a:xfrm>
            <a:off x="8328454" y="5955957"/>
            <a:ext cx="815546" cy="9020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winkl Template">
      <a:dk1>
        <a:srgbClr val="1C1C1C"/>
      </a:dk1>
      <a:lt1>
        <a:sysClr val="window" lastClr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Custom 1">
      <a:majorFont>
        <a:latin typeface="Twinkl Sb"/>
        <a:ea typeface=""/>
        <a:cs typeface=""/>
      </a:majorFont>
      <a:minorFont>
        <a:latin typeface="Twink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A0D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owerPoint Template.potx" id="{8C058020-CE1A-4275-96FF-3E9B179AFEF1}" vid="{BE2BE99D-79A1-4F73-BB89-E052F53DA9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1064</TotalTime>
  <Words>352</Words>
  <Application>Microsoft Office PowerPoint</Application>
  <PresentationFormat>On-screen Show (4:3)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Twinkl</vt:lpstr>
      <vt:lpstr>Calibri</vt:lpstr>
      <vt:lpstr>Arial</vt:lpstr>
      <vt:lpstr>Office Theme</vt:lpstr>
      <vt:lpstr>PowerPoint Presentation</vt:lpstr>
      <vt:lpstr>BEWARE the Dragon!</vt:lpstr>
      <vt:lpstr>Who Am I?</vt:lpstr>
      <vt:lpstr>What Makes a Dragon?</vt:lpstr>
      <vt:lpstr>Rainbow Dragons</vt:lpstr>
      <vt:lpstr>Dragons Are...</vt:lpstr>
      <vt:lpstr>The Dragon’s Breath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Twinkl Twinkl</dc:creator>
  <cp:lastModifiedBy>Liam Gomez-Kervin</cp:lastModifiedBy>
  <cp:revision>1</cp:revision>
  <dcterms:created xsi:type="dcterms:W3CDTF">2021-11-11T17:43:34Z</dcterms:created>
  <dcterms:modified xsi:type="dcterms:W3CDTF">2022-06-29T03:59:47Z</dcterms:modified>
</cp:coreProperties>
</file>