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8" r:id="rId2"/>
    <p:sldId id="275" r:id="rId3"/>
    <p:sldId id="276" r:id="rId4"/>
    <p:sldId id="277" r:id="rId5"/>
    <p:sldId id="278" r:id="rId6"/>
    <p:sldId id="267" r:id="rId7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Twinkl" pitchFamily="2" charset="0"/>
      <p:regular r:id="rId14"/>
      <p:bold r:id="rId15"/>
    </p:embeddedFont>
    <p:embeddedFont>
      <p:font typeface="Twinkl SemiBold" pitchFamily="2" charset="0"/>
      <p:bold r:id="rId16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inkl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inkl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inkl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inkl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inkl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winkl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winkl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winkl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winkl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40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pos="5420">
          <p15:clr>
            <a:srgbClr val="A4A3A4"/>
          </p15:clr>
        </p15:guide>
        <p15:guide id="6" orient="horz" pos="346">
          <p15:clr>
            <a:srgbClr val="A4A3A4"/>
          </p15:clr>
        </p15:guide>
        <p15:guide id="7" pos="476">
          <p15:clr>
            <a:srgbClr val="A4A3A4"/>
          </p15:clr>
        </p15:guide>
        <p15:guide id="8" orient="horz" pos="482">
          <p15:clr>
            <a:srgbClr val="A4A3A4"/>
          </p15:clr>
        </p15:guide>
        <p15:guide id="9" orient="horz" pos="3838">
          <p15:clr>
            <a:srgbClr val="A4A3A4"/>
          </p15:clr>
        </p15:guide>
        <p15:guide id="10" pos="52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8ED"/>
    <a:srgbClr val="873F99"/>
    <a:srgbClr val="D84C4C"/>
    <a:srgbClr val="FD3A38"/>
    <a:srgbClr val="B9D26D"/>
    <a:srgbClr val="BF95D8"/>
    <a:srgbClr val="26BAEF"/>
    <a:srgbClr val="ADD479"/>
    <a:srgbClr val="DE1E5A"/>
    <a:srgbClr val="18A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60" y="102"/>
      </p:cViewPr>
      <p:guideLst>
        <p:guide orient="horz" pos="2160"/>
        <p:guide pos="2880"/>
        <p:guide pos="340"/>
        <p:guide orient="horz" pos="3974"/>
        <p:guide pos="5420"/>
        <p:guide orient="horz" pos="346"/>
        <p:guide pos="476"/>
        <p:guide orient="horz" pos="482"/>
        <p:guide orient="horz" pos="3838"/>
        <p:guide pos="52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6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226612-A10A-406B-BE20-6A12BF1CA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0F2D3-1DF7-4A33-8601-F17361BAC4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68715C8C-C01A-4509-BEE0-F1A064CF21A7}" type="datetimeFigureOut">
              <a:rPr lang="en-GB"/>
              <a:pPr>
                <a:defRPr/>
              </a:pPr>
              <a:t>15/03/2022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7649EA-ECA0-4E22-8B03-35CF7E52E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DDA2F-D0F6-4B13-82BC-D6B896E1BF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31132C69-13A2-4E05-9B4D-BFFAF6F1BB9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21F06E-6464-4A73-A35D-17C5CD6E6A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FD5159-C955-4E81-9EDB-59A68BDB9E4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22A2E0D-5E04-493C-9BF0-43A35A4C0A52}" type="datetimeFigureOut">
              <a:rPr lang="en-GB"/>
              <a:pPr>
                <a:defRPr/>
              </a:pPr>
              <a:t>15/03/2022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90272F1-B290-45FE-8DBE-E5C948AEAA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DE533AF-9638-4AF3-8D59-D0106C5B94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76E8-0403-42F3-A5D8-7DDA246B03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1DFA2-AD81-4914-9825-09CBE8A14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69125179-5D94-409A-86DF-0187A457F24B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4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ox">
    <p:bg>
      <p:bgPr>
        <a:blipFill dpi="0" rotWithShape="0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0A1BE877-CAB8-43DB-B880-A69054FD202E}"/>
              </a:ext>
            </a:extLst>
          </p:cNvPr>
          <p:cNvSpPr/>
          <p:nvPr userDrawn="1"/>
        </p:nvSpPr>
        <p:spPr bwMode="auto">
          <a:xfrm>
            <a:off x="457200" y="438150"/>
            <a:ext cx="8220075" cy="5957888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/>
              <a:t> 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C6213136-022A-49BA-B66D-74F981B0E2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438" y="5734050"/>
            <a:ext cx="5762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420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0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17D34354-CFF1-46F0-AD99-38ECDEBBC069}"/>
              </a:ext>
            </a:extLst>
          </p:cNvPr>
          <p:cNvSpPr/>
          <p:nvPr userDrawn="1"/>
        </p:nvSpPr>
        <p:spPr bwMode="auto">
          <a:xfrm>
            <a:off x="457200" y="438150"/>
            <a:ext cx="8220075" cy="5957888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/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>
            <a:lvl1pPr>
              <a:defRPr>
                <a:latin typeface="Twinkl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63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bg>
      <p:bgPr>
        <a:blipFill dpi="0" rotWithShape="0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2360201A-5903-4E80-ABF8-2097E1BA60E1}"/>
              </a:ext>
            </a:extLst>
          </p:cNvPr>
          <p:cNvSpPr/>
          <p:nvPr userDrawn="1"/>
        </p:nvSpPr>
        <p:spPr bwMode="auto">
          <a:xfrm>
            <a:off x="503238" y="2930525"/>
            <a:ext cx="8137525" cy="3414713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/>
              <a:t> 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42EE7BF9-F057-4C23-9223-8E66C9DD324A}"/>
              </a:ext>
            </a:extLst>
          </p:cNvPr>
          <p:cNvSpPr/>
          <p:nvPr userDrawn="1"/>
        </p:nvSpPr>
        <p:spPr bwMode="auto">
          <a:xfrm>
            <a:off x="503238" y="512763"/>
            <a:ext cx="8137525" cy="2192337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7D38E4-F3E8-41E4-81F6-F2D910ACE71E}"/>
              </a:ext>
            </a:extLst>
          </p:cNvPr>
          <p:cNvSpPr txBox="1">
            <a:spLocks/>
          </p:cNvSpPr>
          <p:nvPr userDrawn="1"/>
        </p:nvSpPr>
        <p:spPr>
          <a:xfrm>
            <a:off x="628650" y="3071813"/>
            <a:ext cx="7886700" cy="539750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600" dirty="0">
                <a:latin typeface="Twinkl" pitchFamily="50" charset="0"/>
              </a:rPr>
              <a:t>Success Criteria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028C18-999B-4BC6-A705-7F932BBCBD0F}"/>
              </a:ext>
            </a:extLst>
          </p:cNvPr>
          <p:cNvSpPr txBox="1">
            <a:spLocks/>
          </p:cNvSpPr>
          <p:nvPr userDrawn="1"/>
        </p:nvSpPr>
        <p:spPr>
          <a:xfrm>
            <a:off x="628650" y="735013"/>
            <a:ext cx="7886700" cy="539750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600" dirty="0">
                <a:latin typeface="Twinkl" pitchFamily="50" charset="0"/>
              </a:rPr>
              <a:t>Aim</a:t>
            </a: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0E972B6D-9519-4A5B-AB68-3F35FFB2A1AF}"/>
              </a:ext>
            </a:extLst>
          </p:cNvPr>
          <p:cNvSpPr txBox="1">
            <a:spLocks/>
          </p:cNvSpPr>
          <p:nvPr userDrawn="1"/>
        </p:nvSpPr>
        <p:spPr>
          <a:xfrm>
            <a:off x="628650" y="3467100"/>
            <a:ext cx="7886700" cy="1409700"/>
          </a:xfrm>
          <a:prstGeom prst="rect">
            <a:avLst/>
          </a:prstGeom>
          <a:noFill/>
          <a:ln w="25400">
            <a:noFill/>
          </a:ln>
        </p:spPr>
        <p:txBody>
          <a:bodyPr lIns="180000" tIns="252000" rIns="252000" bIns="18000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GB" dirty="0">
                <a:latin typeface="Twinkl" pitchFamily="50" charset="0"/>
              </a:rPr>
              <a:t>Statement 1 Lorem ipsum </a:t>
            </a:r>
            <a:r>
              <a:rPr lang="en-GB" dirty="0" err="1">
                <a:latin typeface="Twinkl" pitchFamily="50" charset="0"/>
              </a:rPr>
              <a:t>dolor</a:t>
            </a:r>
            <a:r>
              <a:rPr lang="en-GB" dirty="0">
                <a:latin typeface="Twinkl" pitchFamily="50" charset="0"/>
              </a:rPr>
              <a:t> sit </a:t>
            </a:r>
            <a:r>
              <a:rPr lang="en-GB" dirty="0" err="1">
                <a:latin typeface="Twinkl" pitchFamily="50" charset="0"/>
              </a:rPr>
              <a:t>amet</a:t>
            </a:r>
            <a:r>
              <a:rPr lang="en-GB" dirty="0">
                <a:latin typeface="Twinkl" pitchFamily="50" charset="0"/>
              </a:rPr>
              <a:t>, </a:t>
            </a:r>
            <a:r>
              <a:rPr lang="en-GB" dirty="0" err="1">
                <a:latin typeface="Twinkl" pitchFamily="50" charset="0"/>
              </a:rPr>
              <a:t>consectetur</a:t>
            </a:r>
            <a:r>
              <a:rPr lang="en-GB" dirty="0">
                <a:latin typeface="Twinkl" pitchFamily="50" charset="0"/>
              </a:rPr>
              <a:t> </a:t>
            </a:r>
            <a:r>
              <a:rPr lang="en-GB" dirty="0" err="1">
                <a:latin typeface="Twinkl" pitchFamily="50" charset="0"/>
              </a:rPr>
              <a:t>adipiscing</a:t>
            </a:r>
            <a:r>
              <a:rPr lang="en-GB" dirty="0">
                <a:latin typeface="Twinkl" pitchFamily="50" charset="0"/>
              </a:rPr>
              <a:t> </a:t>
            </a:r>
            <a:r>
              <a:rPr lang="en-GB" dirty="0" err="1">
                <a:latin typeface="Twinkl" pitchFamily="50" charset="0"/>
              </a:rPr>
              <a:t>elit</a:t>
            </a:r>
            <a:r>
              <a:rPr lang="en-GB" dirty="0">
                <a:latin typeface="Twinkl" pitchFamily="50" charset="0"/>
              </a:rPr>
              <a:t>.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dirty="0">
                <a:latin typeface="Twinkl" pitchFamily="50" charset="0"/>
              </a:rPr>
              <a:t>Statement 2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dirty="0">
                <a:latin typeface="Twinkl" pitchFamily="50" charset="0"/>
              </a:rPr>
              <a:t>Sub statement</a:t>
            </a:r>
          </a:p>
        </p:txBody>
      </p:sp>
      <p:sp>
        <p:nvSpPr>
          <p:cNvPr id="11" name="Content Placeholder 15"/>
          <p:cNvSpPr>
            <a:spLocks noGrp="1"/>
          </p:cNvSpPr>
          <p:nvPr>
            <p:ph idx="1"/>
          </p:nvPr>
        </p:nvSpPr>
        <p:spPr>
          <a:xfrm>
            <a:off x="628650" y="1127760"/>
            <a:ext cx="7886700" cy="1409700"/>
          </a:xfrm>
        </p:spPr>
        <p:txBody>
          <a:bodyPr>
            <a:normAutofit fontScale="92500" lnSpcReduction="10000"/>
          </a:bodyPr>
          <a:lstStyle>
            <a:lvl1pPr>
              <a:defRPr>
                <a:latin typeface="Twinkl" pitchFamily="50" charset="0"/>
              </a:defRPr>
            </a:lvl1pPr>
            <a:lvl2pPr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9739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0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90412DDD-F24C-4142-A4DF-BB2E5D66A5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8" y="6196013"/>
            <a:ext cx="5762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185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DF93A4-788B-4A93-A3E9-E74B015846C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0538" y="695325"/>
            <a:ext cx="8162925" cy="1150938"/>
          </a:xfrm>
          <a:prstGeom prst="roundRect">
            <a:avLst>
              <a:gd name="adj" fmla="val 9639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252000" tIns="252000" rIns="252000" bIns="25200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2FD9F3A-2BBA-4889-AC8B-7F715BCEEE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0538" y="1957388"/>
            <a:ext cx="8162925" cy="4387850"/>
          </a:xfrm>
          <a:prstGeom prst="roundRect">
            <a:avLst>
              <a:gd name="adj" fmla="val 258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252000" tIns="252000" rIns="252000" bIns="25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000" b="1" kern="1200">
          <a:solidFill>
            <a:srgbClr val="1C1C1C"/>
          </a:solidFill>
          <a:latin typeface="Twinkl" pitchFamily="50" charset="0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Sassoon Infant Rg" pitchFamily="50" charset="0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Sassoon Infant Rg" pitchFamily="50" charset="0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Sassoon Infant Rg" pitchFamily="50" charset="0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Sassoon Infant Rg" pitchFamily="50" charset="0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Sassoon Infant Rg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90F77C3-B7E0-4EAD-BFFA-285AA9F319C6}"/>
              </a:ext>
            </a:extLst>
          </p:cNvPr>
          <p:cNvSpPr/>
          <p:nvPr/>
        </p:nvSpPr>
        <p:spPr>
          <a:xfrm rot="18900000">
            <a:off x="5106253" y="2432892"/>
            <a:ext cx="1669410" cy="1439147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A8FDF6-D06D-4208-8597-436912C90542}"/>
              </a:ext>
            </a:extLst>
          </p:cNvPr>
          <p:cNvSpPr/>
          <p:nvPr/>
        </p:nvSpPr>
        <p:spPr>
          <a:xfrm>
            <a:off x="7617206" y="4226140"/>
            <a:ext cx="285224" cy="28522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L-Shape 14">
            <a:extLst>
              <a:ext uri="{FF2B5EF4-FFF2-40B4-BE49-F238E27FC236}">
                <a16:creationId xmlns:a16="http://schemas.microsoft.com/office/drawing/2014/main" id="{EE9079F5-2BAD-4490-819A-71396BB4006A}"/>
              </a:ext>
            </a:extLst>
          </p:cNvPr>
          <p:cNvSpPr/>
          <p:nvPr/>
        </p:nvSpPr>
        <p:spPr>
          <a:xfrm rot="5400000">
            <a:off x="5909939" y="2585905"/>
            <a:ext cx="335560" cy="335560"/>
          </a:xfrm>
          <a:prstGeom prst="corne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BCA5780-006A-48A0-BE29-2203C5697408}"/>
              </a:ext>
            </a:extLst>
          </p:cNvPr>
          <p:cNvGrpSpPr/>
          <p:nvPr/>
        </p:nvGrpSpPr>
        <p:grpSpPr>
          <a:xfrm>
            <a:off x="0" y="771787"/>
            <a:ext cx="4991450" cy="822122"/>
            <a:chOff x="0" y="771787"/>
            <a:chExt cx="4991450" cy="8221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51C6C3A-1F06-46CE-B9B4-CB9EBB76ED88}"/>
                </a:ext>
              </a:extLst>
            </p:cNvPr>
            <p:cNvSpPr/>
            <p:nvPr/>
          </p:nvSpPr>
          <p:spPr>
            <a:xfrm>
              <a:off x="0" y="771787"/>
              <a:ext cx="4991450" cy="822122"/>
            </a:xfrm>
            <a:prstGeom prst="rect">
              <a:avLst/>
            </a:prstGeom>
            <a:solidFill>
              <a:srgbClr val="B9D2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>
                  <a:solidFill>
                    <a:schemeClr val="bg1"/>
                  </a:solidFill>
                </a:rPr>
                <a:t>What Is a Limerick?</a:t>
              </a:r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66788522-764D-4D93-A1B5-09DCEBA5AE33}"/>
                </a:ext>
              </a:extLst>
            </p:cNvPr>
            <p:cNvSpPr/>
            <p:nvPr/>
          </p:nvSpPr>
          <p:spPr>
            <a:xfrm rot="5400000">
              <a:off x="-34713" y="974280"/>
              <a:ext cx="503339" cy="43391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03CEDBB-AD55-4466-92CB-1B742A8DA800}"/>
              </a:ext>
            </a:extLst>
          </p:cNvPr>
          <p:cNvGrpSpPr/>
          <p:nvPr/>
        </p:nvGrpSpPr>
        <p:grpSpPr>
          <a:xfrm>
            <a:off x="704674" y="1681224"/>
            <a:ext cx="4286775" cy="1375794"/>
            <a:chOff x="570451" y="1853966"/>
            <a:chExt cx="4286775" cy="91963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7383605-D618-42D0-A105-5DFBF7645C62}"/>
                </a:ext>
              </a:extLst>
            </p:cNvPr>
            <p:cNvSpPr/>
            <p:nvPr/>
          </p:nvSpPr>
          <p:spPr>
            <a:xfrm>
              <a:off x="570451" y="1853966"/>
              <a:ext cx="4286775" cy="52850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spcBef>
                  <a:spcPts val="0"/>
                </a:spcBef>
                <a:spcAft>
                  <a:spcPts val="0"/>
                </a:spcAft>
              </a:pPr>
              <a:r>
                <a:rPr lang="en-GB" sz="1800" b="0" i="0" u="none" strike="noStrike" dirty="0">
                  <a:solidFill>
                    <a:srgbClr val="FFFFFF"/>
                  </a:solidFill>
                  <a:effectLst/>
                </a:rPr>
                <a:t>Limericks are light-hearted, funny poems with several common features. </a:t>
              </a:r>
              <a:endParaRPr lang="en-GB" b="0" dirty="0">
                <a:effectLst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A77BD5-94B9-480F-A810-A4F5134395FA}"/>
                </a:ext>
              </a:extLst>
            </p:cNvPr>
            <p:cNvSpPr/>
            <p:nvPr/>
          </p:nvSpPr>
          <p:spPr>
            <a:xfrm>
              <a:off x="570451" y="2378276"/>
              <a:ext cx="4286775" cy="39532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spcBef>
                  <a:spcPts val="0"/>
                </a:spcBef>
                <a:spcAft>
                  <a:spcPts val="0"/>
                </a:spcAft>
              </a:pPr>
              <a:r>
                <a:rPr lang="en-GB" sz="1800" b="0" i="0" u="none" strike="noStrike" dirty="0">
                  <a:solidFill>
                    <a:srgbClr val="FFFFFF"/>
                  </a:solidFill>
                  <a:effectLst/>
                </a:rPr>
                <a:t>Compare these two limericks.</a:t>
              </a:r>
              <a:endParaRPr lang="en-GB" b="0" dirty="0">
                <a:effectLst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1EDE6F7A-7776-4DDA-83DD-9924788CA168}"/>
              </a:ext>
            </a:extLst>
          </p:cNvPr>
          <p:cNvSpPr/>
          <p:nvPr/>
        </p:nvSpPr>
        <p:spPr>
          <a:xfrm>
            <a:off x="0" y="3467879"/>
            <a:ext cx="9144000" cy="528504"/>
          </a:xfrm>
          <a:prstGeom prst="rect">
            <a:avLst/>
          </a:prstGeom>
          <a:solidFill>
            <a:srgbClr val="18A0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0"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FFFFFF"/>
                </a:solidFill>
                <a:effectLst/>
              </a:rPr>
              <a:t>What did you notice about the poems?</a:t>
            </a:r>
            <a:endParaRPr lang="en-GB" b="0" dirty="0">
              <a:effectLst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36EB91-EA84-481B-9FF3-AB9556DCF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185" y="2638344"/>
            <a:ext cx="3336113" cy="421965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FB8620D-1C7D-4392-A1C5-3ECCA6180348}"/>
              </a:ext>
            </a:extLst>
          </p:cNvPr>
          <p:cNvSpPr/>
          <p:nvPr/>
        </p:nvSpPr>
        <p:spPr>
          <a:xfrm>
            <a:off x="704674" y="4563803"/>
            <a:ext cx="4030651" cy="1749109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There once was a young man from Ealing,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Who would always hang from the ceiling.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He couldn’t wear a hat,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But could hang like a bat,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And said, “What a wonderful feeling!”</a:t>
            </a:r>
            <a:endParaRPr lang="en-GB" sz="16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74F0D-193A-40D2-B60E-FE304B6711D0}"/>
              </a:ext>
            </a:extLst>
          </p:cNvPr>
          <p:cNvSpPr/>
          <p:nvPr/>
        </p:nvSpPr>
        <p:spPr>
          <a:xfrm>
            <a:off x="4841917" y="4562751"/>
            <a:ext cx="3702973" cy="174910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There was an old Martian named Zed,</a:t>
            </a: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With blue spots all over his head.</a:t>
            </a: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He sent out a lot,</a:t>
            </a: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Of di-di-dash-dot-dot,</a:t>
            </a: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But nobody knows what he said!</a:t>
            </a:r>
          </a:p>
        </p:txBody>
      </p:sp>
    </p:spTree>
    <p:extLst>
      <p:ext uri="{BB962C8B-B14F-4D97-AF65-F5344CB8AC3E}">
        <p14:creationId xmlns:p14="http://schemas.microsoft.com/office/powerpoint/2010/main" val="259823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36000" decel="6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6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CA5780-006A-48A0-BE29-2203C5697408}"/>
              </a:ext>
            </a:extLst>
          </p:cNvPr>
          <p:cNvGrpSpPr/>
          <p:nvPr/>
        </p:nvGrpSpPr>
        <p:grpSpPr>
          <a:xfrm>
            <a:off x="0" y="771787"/>
            <a:ext cx="4991450" cy="822122"/>
            <a:chOff x="0" y="771787"/>
            <a:chExt cx="4991450" cy="8221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51C6C3A-1F06-46CE-B9B4-CB9EBB76ED88}"/>
                </a:ext>
              </a:extLst>
            </p:cNvPr>
            <p:cNvSpPr/>
            <p:nvPr/>
          </p:nvSpPr>
          <p:spPr>
            <a:xfrm>
              <a:off x="0" y="771787"/>
              <a:ext cx="4991450" cy="822122"/>
            </a:xfrm>
            <a:prstGeom prst="rect">
              <a:avLst/>
            </a:prstGeom>
            <a:solidFill>
              <a:srgbClr val="B9D2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>
                  <a:solidFill>
                    <a:schemeClr val="bg1"/>
                  </a:solidFill>
                </a:rPr>
                <a:t>What Is a Limerick?</a:t>
              </a:r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66788522-764D-4D93-A1B5-09DCEBA5AE33}"/>
                </a:ext>
              </a:extLst>
            </p:cNvPr>
            <p:cNvSpPr/>
            <p:nvPr/>
          </p:nvSpPr>
          <p:spPr>
            <a:xfrm rot="5400000">
              <a:off x="-34713" y="974280"/>
              <a:ext cx="503339" cy="43391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AFB8620D-1C7D-4392-A1C5-3ECCA6180348}"/>
              </a:ext>
            </a:extLst>
          </p:cNvPr>
          <p:cNvSpPr/>
          <p:nvPr/>
        </p:nvSpPr>
        <p:spPr>
          <a:xfrm>
            <a:off x="704674" y="4563803"/>
            <a:ext cx="4030651" cy="1749109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There once was a young man from Ealing,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Who would always hang from the ceiling.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He couldn’t wear a hat,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But could hang like a bat,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And said, “What a wonderful feeling!”</a:t>
            </a:r>
            <a:endParaRPr lang="en-GB" sz="1600" b="0" dirty="0">
              <a:solidFill>
                <a:schemeClr val="bg1"/>
              </a:solidFill>
              <a:effectLst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946D14-CBCB-4234-AF81-B2DAD8332C8C}"/>
              </a:ext>
            </a:extLst>
          </p:cNvPr>
          <p:cNvGrpSpPr/>
          <p:nvPr/>
        </p:nvGrpSpPr>
        <p:grpSpPr>
          <a:xfrm>
            <a:off x="-1" y="771787"/>
            <a:ext cx="4991450" cy="822122"/>
            <a:chOff x="0" y="771787"/>
            <a:chExt cx="4991450" cy="82212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C9F667B-DE5E-400E-919F-0D892324BE52}"/>
                </a:ext>
              </a:extLst>
            </p:cNvPr>
            <p:cNvSpPr/>
            <p:nvPr/>
          </p:nvSpPr>
          <p:spPr>
            <a:xfrm>
              <a:off x="0" y="771787"/>
              <a:ext cx="4991450" cy="82212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>
                  <a:solidFill>
                    <a:schemeClr val="bg1"/>
                  </a:solidFill>
                </a:rPr>
                <a:t>Limerick Features</a:t>
              </a: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527CAAC-468E-4ECC-A413-8142E3D20682}"/>
                </a:ext>
              </a:extLst>
            </p:cNvPr>
            <p:cNvSpPr/>
            <p:nvPr/>
          </p:nvSpPr>
          <p:spPr>
            <a:xfrm rot="5400000">
              <a:off x="-34713" y="974280"/>
              <a:ext cx="503339" cy="43391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D2EE8CB-8A93-4DBB-8049-377830876D19}"/>
              </a:ext>
            </a:extLst>
          </p:cNvPr>
          <p:cNvSpPr/>
          <p:nvPr/>
        </p:nvSpPr>
        <p:spPr>
          <a:xfrm>
            <a:off x="2556674" y="2554445"/>
            <a:ext cx="4030651" cy="1749109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There once was a young man from Ealing,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Who would always hang from the ceiling.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He couldn’t wear a hat,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But could hang like a bat,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And said, “What a wonderful feeling!”</a:t>
            </a:r>
            <a:endParaRPr lang="en-GB" sz="16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512F19-D9D0-43A4-806B-CFA22DB1CD23}"/>
              </a:ext>
            </a:extLst>
          </p:cNvPr>
          <p:cNvSpPr/>
          <p:nvPr/>
        </p:nvSpPr>
        <p:spPr>
          <a:xfrm>
            <a:off x="610167" y="4563803"/>
            <a:ext cx="4219663" cy="1828608"/>
          </a:xfrm>
          <a:prstGeom prst="rect">
            <a:avLst/>
          </a:prstGeom>
          <a:solidFill>
            <a:srgbClr val="F1F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C05366-5FBB-406F-BCF4-D5342A584E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377624" y="0"/>
            <a:ext cx="2766375" cy="381699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419ABB5-5A3A-4DE9-B53B-36AFF6264EF7}"/>
              </a:ext>
            </a:extLst>
          </p:cNvPr>
          <p:cNvSpPr/>
          <p:nvPr/>
        </p:nvSpPr>
        <p:spPr>
          <a:xfrm>
            <a:off x="6004617" y="4796032"/>
            <a:ext cx="2434709" cy="511741"/>
          </a:xfrm>
          <a:prstGeom prst="rect">
            <a:avLst/>
          </a:prstGeom>
          <a:solidFill>
            <a:srgbClr val="B9D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FFFFFF"/>
                </a:solidFill>
                <a:effectLst/>
              </a:rPr>
              <a:t>Lines 3 and 4 rhyme.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682BA4E-8493-400A-BE4C-D38E635B2B04}"/>
              </a:ext>
            </a:extLst>
          </p:cNvPr>
          <p:cNvGrpSpPr/>
          <p:nvPr/>
        </p:nvGrpSpPr>
        <p:grpSpPr>
          <a:xfrm>
            <a:off x="1110011" y="2796853"/>
            <a:ext cx="1498925" cy="2048634"/>
            <a:chOff x="1110011" y="2796853"/>
            <a:chExt cx="1498925" cy="2048634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951AEED-B92C-46A3-AC42-A2FE600FD727}"/>
                </a:ext>
              </a:extLst>
            </p:cNvPr>
            <p:cNvSpPr/>
            <p:nvPr/>
          </p:nvSpPr>
          <p:spPr>
            <a:xfrm>
              <a:off x="2495364" y="2796853"/>
              <a:ext cx="113572" cy="11357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302890A2-B611-4151-A4F7-456F67AE448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63550" y="3156887"/>
              <a:ext cx="1935061" cy="1442139"/>
            </a:xfrm>
            <a:prstGeom prst="bentConnector3">
              <a:avLst>
                <a:gd name="adj1" fmla="val 103324"/>
              </a:avLst>
            </a:prstGeom>
            <a:ln w="38100">
              <a:solidFill>
                <a:srgbClr val="BF95D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B70BE47-C2F9-40E7-BFA3-11F25D532E7D}"/>
              </a:ext>
            </a:extLst>
          </p:cNvPr>
          <p:cNvGrpSpPr/>
          <p:nvPr/>
        </p:nvGrpSpPr>
        <p:grpSpPr>
          <a:xfrm>
            <a:off x="1270943" y="3092907"/>
            <a:ext cx="1339958" cy="2062466"/>
            <a:chOff x="1270943" y="3092907"/>
            <a:chExt cx="1339958" cy="206246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6ABDD1F-8E7E-439A-9D93-68738286ADAF}"/>
                </a:ext>
              </a:extLst>
            </p:cNvPr>
            <p:cNvSpPr/>
            <p:nvPr/>
          </p:nvSpPr>
          <p:spPr>
            <a:xfrm>
              <a:off x="2497329" y="3092907"/>
              <a:ext cx="113572" cy="11357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55847660-10D0-4DDC-9BDC-68DE4F49E3F0}"/>
                </a:ext>
              </a:extLst>
            </p:cNvPr>
            <p:cNvCxnSpPr>
              <a:cxnSpLocks/>
              <a:endCxn id="35" idx="4"/>
            </p:cNvCxnSpPr>
            <p:nvPr/>
          </p:nvCxnSpPr>
          <p:spPr>
            <a:xfrm rot="5400000" flipH="1" flipV="1">
              <a:off x="938082" y="3539340"/>
              <a:ext cx="1948894" cy="1283172"/>
            </a:xfrm>
            <a:prstGeom prst="bentConnector3">
              <a:avLst>
                <a:gd name="adj1" fmla="val 102515"/>
              </a:avLst>
            </a:prstGeom>
            <a:ln w="38100">
              <a:solidFill>
                <a:srgbClr val="BF95D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F53299C-52F5-4AA0-A93C-31D4EEA0B4D2}"/>
              </a:ext>
            </a:extLst>
          </p:cNvPr>
          <p:cNvGrpSpPr/>
          <p:nvPr/>
        </p:nvGrpSpPr>
        <p:grpSpPr>
          <a:xfrm>
            <a:off x="1423343" y="4014835"/>
            <a:ext cx="1199242" cy="1292938"/>
            <a:chOff x="1423343" y="4014835"/>
            <a:chExt cx="1199242" cy="1292938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C108B5D-D7BD-4C4F-9A25-8CC73F19B433}"/>
                </a:ext>
              </a:extLst>
            </p:cNvPr>
            <p:cNvSpPr/>
            <p:nvPr/>
          </p:nvSpPr>
          <p:spPr>
            <a:xfrm>
              <a:off x="2509013" y="4014835"/>
              <a:ext cx="113572" cy="11357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EC962F94-D1DA-4111-9917-3FF228D49EBB}"/>
                </a:ext>
              </a:extLst>
            </p:cNvPr>
            <p:cNvCxnSpPr>
              <a:cxnSpLocks/>
              <a:endCxn id="36" idx="2"/>
            </p:cNvCxnSpPr>
            <p:nvPr/>
          </p:nvCxnSpPr>
          <p:spPr>
            <a:xfrm rot="5400000" flipH="1" flipV="1">
              <a:off x="1348102" y="4146862"/>
              <a:ext cx="1236152" cy="1085670"/>
            </a:xfrm>
            <a:prstGeom prst="bentConnector2">
              <a:avLst/>
            </a:prstGeom>
            <a:ln w="38100">
              <a:solidFill>
                <a:srgbClr val="BF95D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7F48B94-575B-44DE-A830-D6EDEF7333E8}"/>
              </a:ext>
            </a:extLst>
          </p:cNvPr>
          <p:cNvGrpSpPr/>
          <p:nvPr/>
        </p:nvGrpSpPr>
        <p:grpSpPr>
          <a:xfrm flipH="1">
            <a:off x="5079644" y="3718958"/>
            <a:ext cx="1568991" cy="1179366"/>
            <a:chOff x="1022898" y="4014835"/>
            <a:chExt cx="1599687" cy="1179366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85EE631-75BC-48A2-BC65-E7CADF4768EA}"/>
                </a:ext>
              </a:extLst>
            </p:cNvPr>
            <p:cNvSpPr/>
            <p:nvPr/>
          </p:nvSpPr>
          <p:spPr>
            <a:xfrm>
              <a:off x="2509013" y="4014835"/>
              <a:ext cx="113572" cy="113572"/>
            </a:xfrm>
            <a:prstGeom prst="ellipse">
              <a:avLst/>
            </a:prstGeom>
            <a:solidFill>
              <a:srgbClr val="B9D2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AE9C38B7-3CDF-4568-92C7-2CFA0115FD7E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 rot="10800000" flipH="1">
              <a:off x="1022898" y="4071621"/>
              <a:ext cx="1486115" cy="1122580"/>
            </a:xfrm>
            <a:prstGeom prst="bentConnector3">
              <a:avLst>
                <a:gd name="adj1" fmla="val -8705"/>
              </a:avLst>
            </a:prstGeom>
            <a:ln w="38100">
              <a:solidFill>
                <a:srgbClr val="B9D2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2163627-D25A-4E37-9C13-AA1FFDB429F3}"/>
              </a:ext>
            </a:extLst>
          </p:cNvPr>
          <p:cNvGrpSpPr/>
          <p:nvPr/>
        </p:nvGrpSpPr>
        <p:grpSpPr>
          <a:xfrm flipH="1">
            <a:off x="4859118" y="3421574"/>
            <a:ext cx="2413837" cy="1476752"/>
            <a:chOff x="161523" y="4014835"/>
            <a:chExt cx="2461062" cy="1476752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87CC619-3DB1-4B0B-A03C-E2F6E06B622A}"/>
                </a:ext>
              </a:extLst>
            </p:cNvPr>
            <p:cNvSpPr/>
            <p:nvPr/>
          </p:nvSpPr>
          <p:spPr>
            <a:xfrm>
              <a:off x="2509013" y="4014835"/>
              <a:ext cx="113572" cy="113572"/>
            </a:xfrm>
            <a:prstGeom prst="ellipse">
              <a:avLst/>
            </a:prstGeom>
            <a:solidFill>
              <a:srgbClr val="B9D2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BE802A68-79A0-4FF1-BDCD-4EFE715E34AD}"/>
                </a:ext>
              </a:extLst>
            </p:cNvPr>
            <p:cNvCxnSpPr>
              <a:cxnSpLocks/>
              <a:endCxn id="58" idx="2"/>
            </p:cNvCxnSpPr>
            <p:nvPr/>
          </p:nvCxnSpPr>
          <p:spPr>
            <a:xfrm rot="10800000" flipH="1">
              <a:off x="161523" y="4071622"/>
              <a:ext cx="2347489" cy="1419965"/>
            </a:xfrm>
            <a:prstGeom prst="bentConnector3">
              <a:avLst>
                <a:gd name="adj1" fmla="val 1177"/>
              </a:avLst>
            </a:prstGeom>
            <a:ln w="38100">
              <a:solidFill>
                <a:srgbClr val="B9D2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2D494D6-44BC-4A99-8357-3C3141C3B988}"/>
              </a:ext>
            </a:extLst>
          </p:cNvPr>
          <p:cNvSpPr/>
          <p:nvPr/>
        </p:nvSpPr>
        <p:spPr>
          <a:xfrm>
            <a:off x="806276" y="4802476"/>
            <a:ext cx="2434709" cy="5052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spc="-50" dirty="0">
                <a:solidFill>
                  <a:srgbClr val="FFFFFF"/>
                </a:solidFill>
                <a:effectLst/>
              </a:rPr>
              <a:t>Lines 1, 2 and 5 rhyme.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37EA440-5604-4F47-8DFF-A5803C190BCC}"/>
              </a:ext>
            </a:extLst>
          </p:cNvPr>
          <p:cNvSpPr/>
          <p:nvPr/>
        </p:nvSpPr>
        <p:spPr>
          <a:xfrm>
            <a:off x="806276" y="5307773"/>
            <a:ext cx="2434709" cy="8542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1C1C1C"/>
                </a:solidFill>
                <a:effectLst/>
              </a:rPr>
              <a:t>Lines 1, 2 and 5 are longer and usually have</a:t>
            </a:r>
            <a:br>
              <a:rPr lang="en-GB" sz="1600" b="0" i="0" u="none" strike="noStrike" dirty="0">
                <a:solidFill>
                  <a:srgbClr val="1C1C1C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1C1C1C"/>
                </a:solidFill>
                <a:effectLst/>
              </a:rPr>
              <a:t>eight to ten syllables.</a:t>
            </a:r>
            <a:endParaRPr lang="en-GB" sz="16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D4E3961-5C91-469A-988F-B27408AAF5B6}"/>
              </a:ext>
            </a:extLst>
          </p:cNvPr>
          <p:cNvSpPr/>
          <p:nvPr/>
        </p:nvSpPr>
        <p:spPr>
          <a:xfrm>
            <a:off x="6000461" y="5307773"/>
            <a:ext cx="2434709" cy="8542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1C1C1C"/>
                </a:solidFill>
                <a:effectLst/>
              </a:rPr>
              <a:t>Lines 3 and 4 are 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1C1C1C"/>
                </a:solidFill>
                <a:effectLst/>
              </a:rPr>
              <a:t>shorter and have five or six syllables.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5C8F43-3C92-46A3-9510-63034ED2E2E5}"/>
              </a:ext>
            </a:extLst>
          </p:cNvPr>
          <p:cNvSpPr/>
          <p:nvPr/>
        </p:nvSpPr>
        <p:spPr>
          <a:xfrm>
            <a:off x="2608936" y="2684477"/>
            <a:ext cx="3900921" cy="314471"/>
          </a:xfrm>
          <a:prstGeom prst="rect">
            <a:avLst/>
          </a:prstGeom>
          <a:solidFill>
            <a:srgbClr val="BF95D8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9263FF4-1B5E-4DA8-BBC7-014F40D88AA3}"/>
              </a:ext>
            </a:extLst>
          </p:cNvPr>
          <p:cNvSpPr/>
          <p:nvPr/>
        </p:nvSpPr>
        <p:spPr>
          <a:xfrm>
            <a:off x="2610267" y="2996471"/>
            <a:ext cx="3900921" cy="314471"/>
          </a:xfrm>
          <a:prstGeom prst="rect">
            <a:avLst/>
          </a:prstGeom>
          <a:solidFill>
            <a:srgbClr val="BF95D8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2B7DF76-0EE9-406D-92F3-F7B5A488E753}"/>
              </a:ext>
            </a:extLst>
          </p:cNvPr>
          <p:cNvSpPr/>
          <p:nvPr/>
        </p:nvSpPr>
        <p:spPr>
          <a:xfrm>
            <a:off x="2608935" y="3904105"/>
            <a:ext cx="3900921" cy="314471"/>
          </a:xfrm>
          <a:prstGeom prst="rect">
            <a:avLst/>
          </a:prstGeom>
          <a:solidFill>
            <a:srgbClr val="BF95D8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7DB1DA3-CA96-4D2D-AFC1-7607E1244A11}"/>
              </a:ext>
            </a:extLst>
          </p:cNvPr>
          <p:cNvSpPr/>
          <p:nvPr/>
        </p:nvSpPr>
        <p:spPr>
          <a:xfrm>
            <a:off x="2608594" y="3315518"/>
            <a:ext cx="3900921" cy="292534"/>
          </a:xfrm>
          <a:prstGeom prst="rect">
            <a:avLst/>
          </a:prstGeom>
          <a:solidFill>
            <a:srgbClr val="B9D26D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0AE8E5-3A71-4FE0-BC03-9C7980C83743}"/>
              </a:ext>
            </a:extLst>
          </p:cNvPr>
          <p:cNvSpPr/>
          <p:nvPr/>
        </p:nvSpPr>
        <p:spPr>
          <a:xfrm>
            <a:off x="2610901" y="3610503"/>
            <a:ext cx="3900921" cy="292534"/>
          </a:xfrm>
          <a:prstGeom prst="rect">
            <a:avLst/>
          </a:prstGeom>
          <a:solidFill>
            <a:srgbClr val="B9D26D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accel="20000" de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accel="36000" decel="6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path" presetSubtype="0" accel="21000" decel="79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0.2026 -0.2930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22" y="-1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" presetClass="entr" presetSubtype="8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accel="20000" decel="8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1" animBg="1"/>
      <p:bldP spid="22" grpId="0" animBg="1"/>
      <p:bldP spid="2" grpId="0" animBg="1"/>
      <p:bldP spid="24" grpId="0" animBg="1"/>
      <p:bldP spid="30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834122E7-F62B-4A52-8F7A-2A1FC7A1483D}"/>
              </a:ext>
            </a:extLst>
          </p:cNvPr>
          <p:cNvSpPr/>
          <p:nvPr/>
        </p:nvSpPr>
        <p:spPr>
          <a:xfrm>
            <a:off x="5054390" y="1679236"/>
            <a:ext cx="3546298" cy="822123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FFFFFF"/>
                </a:solidFill>
              </a:rPr>
              <a:t>Limericks follow</a:t>
            </a:r>
            <a:br>
              <a:rPr lang="en-GB" dirty="0">
                <a:solidFill>
                  <a:srgbClr val="FFFFFF"/>
                </a:solidFill>
              </a:rPr>
            </a:br>
            <a:r>
              <a:rPr lang="en-GB" dirty="0">
                <a:solidFill>
                  <a:srgbClr val="FFFFFF"/>
                </a:solidFill>
              </a:rPr>
              <a:t>a typical rhythm:</a:t>
            </a:r>
            <a:endParaRPr lang="en-GB" sz="1800" b="0" i="0" u="none" strike="noStrike" dirty="0">
              <a:solidFill>
                <a:srgbClr val="FFFFFF"/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C05366-5FBB-406F-BCF4-D5342A584E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566869" y="1"/>
            <a:ext cx="1577129" cy="2176092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B4B5C61D-20B7-4D52-87AF-895797928C12}"/>
              </a:ext>
            </a:extLst>
          </p:cNvPr>
          <p:cNvSpPr/>
          <p:nvPr/>
        </p:nvSpPr>
        <p:spPr>
          <a:xfrm>
            <a:off x="2558639" y="2547021"/>
            <a:ext cx="4030651" cy="1749109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There once was a young man from Ealing,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Who would always hang from the ceiling.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He couldn’t wear a hat,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But could hang like a bat,</a:t>
            </a:r>
            <a:endParaRPr lang="en-GB" sz="1600" b="0" dirty="0">
              <a:solidFill>
                <a:schemeClr val="bg1"/>
              </a:solidFill>
              <a:effectLst/>
            </a:endParaRPr>
          </a:p>
          <a:p>
            <a:pPr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</a:rPr>
              <a:t>And said, “What a wonderful feeling!”</a:t>
            </a:r>
            <a:endParaRPr lang="en-GB" sz="16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5F2300-EBC5-48DB-9A0C-AA18213EE4AA}"/>
              </a:ext>
            </a:extLst>
          </p:cNvPr>
          <p:cNvSpPr/>
          <p:nvPr/>
        </p:nvSpPr>
        <p:spPr>
          <a:xfrm>
            <a:off x="2248250" y="2547021"/>
            <a:ext cx="4341040" cy="1761285"/>
          </a:xfrm>
          <a:prstGeom prst="rect">
            <a:avLst/>
          </a:prstGeom>
          <a:solidFill>
            <a:srgbClr val="F1F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606235A-63B3-4720-998B-FF444330654B}"/>
              </a:ext>
            </a:extLst>
          </p:cNvPr>
          <p:cNvGrpSpPr/>
          <p:nvPr/>
        </p:nvGrpSpPr>
        <p:grpSpPr>
          <a:xfrm>
            <a:off x="-1" y="771787"/>
            <a:ext cx="4991450" cy="822122"/>
            <a:chOff x="0" y="771787"/>
            <a:chExt cx="4991450" cy="82212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585A6C4-D299-4F28-938A-1440F6B9930F}"/>
                </a:ext>
              </a:extLst>
            </p:cNvPr>
            <p:cNvSpPr/>
            <p:nvPr/>
          </p:nvSpPr>
          <p:spPr>
            <a:xfrm>
              <a:off x="0" y="771787"/>
              <a:ext cx="4991450" cy="82212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>
                  <a:solidFill>
                    <a:schemeClr val="bg1"/>
                  </a:solidFill>
                </a:rPr>
                <a:t>Limerick Features</a:t>
              </a:r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AA940833-53E1-425C-8284-259E82AA11EB}"/>
                </a:ext>
              </a:extLst>
            </p:cNvPr>
            <p:cNvSpPr/>
            <p:nvPr/>
          </p:nvSpPr>
          <p:spPr>
            <a:xfrm rot="5400000">
              <a:off x="-34713" y="974280"/>
              <a:ext cx="503339" cy="43391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A82C3944-469E-4058-97D2-52DB5730F14D}"/>
              </a:ext>
            </a:extLst>
          </p:cNvPr>
          <p:cNvSpPr/>
          <p:nvPr/>
        </p:nvSpPr>
        <p:spPr>
          <a:xfrm>
            <a:off x="543313" y="1679891"/>
            <a:ext cx="4448136" cy="4645408"/>
          </a:xfrm>
          <a:prstGeom prst="rect">
            <a:avLst/>
          </a:prstGeom>
          <a:solidFill>
            <a:srgbClr val="B9D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700" b="0" i="0" u="none" strike="noStrike" dirty="0">
                <a:solidFill>
                  <a:schemeClr val="tx1"/>
                </a:solidFill>
                <a:effectLst/>
              </a:rPr>
              <a:t>There once was a young man from Ealing,</a:t>
            </a:r>
            <a:endParaRPr lang="en-GB" sz="1700" b="0" dirty="0">
              <a:solidFill>
                <a:schemeClr val="tx1"/>
              </a:solidFill>
              <a:effectLst/>
            </a:endParaRPr>
          </a:p>
          <a:p>
            <a:pPr rtl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700" b="0" i="0" u="none" strike="noStrike" dirty="0">
                <a:solidFill>
                  <a:schemeClr val="tx1"/>
                </a:solidFill>
                <a:effectLst/>
              </a:rPr>
              <a:t>Who would always hang from the ceiling.</a:t>
            </a:r>
            <a:endParaRPr lang="en-GB" sz="1700" b="0" dirty="0">
              <a:solidFill>
                <a:schemeClr val="tx1"/>
              </a:solidFill>
              <a:effectLst/>
            </a:endParaRPr>
          </a:p>
          <a:p>
            <a:pPr rtl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700" b="0" i="0" u="none" strike="noStrike" dirty="0">
                <a:solidFill>
                  <a:schemeClr val="tx1"/>
                </a:solidFill>
                <a:effectLst/>
              </a:rPr>
              <a:t>He couldn’t wear a hat,</a:t>
            </a:r>
            <a:endParaRPr lang="en-GB" sz="1700" b="0" dirty="0">
              <a:solidFill>
                <a:schemeClr val="tx1"/>
              </a:solidFill>
              <a:effectLst/>
            </a:endParaRPr>
          </a:p>
          <a:p>
            <a:pPr rtl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700" b="0" i="0" u="none" strike="noStrike" dirty="0">
                <a:solidFill>
                  <a:schemeClr val="tx1"/>
                </a:solidFill>
                <a:effectLst/>
              </a:rPr>
              <a:t>But could hang like a bat,</a:t>
            </a:r>
            <a:endParaRPr lang="en-GB" sz="1700" b="0" dirty="0">
              <a:solidFill>
                <a:schemeClr val="tx1"/>
              </a:solidFill>
              <a:effectLst/>
            </a:endParaRPr>
          </a:p>
          <a:p>
            <a:pPr rtl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700" b="0" i="0" u="none" strike="noStrike" dirty="0">
                <a:solidFill>
                  <a:schemeClr val="tx1"/>
                </a:solidFill>
                <a:effectLst/>
              </a:rPr>
              <a:t>And said, “What a wonderful feeling!”</a:t>
            </a:r>
            <a:endParaRPr lang="en-GB" sz="1700" b="0" dirty="0">
              <a:solidFill>
                <a:schemeClr val="tx1"/>
              </a:solidFill>
              <a:effectLst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A87FF36-E4C6-41DD-980E-1E17189D08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185" y="2638344"/>
            <a:ext cx="3336113" cy="421965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84E3598-441D-404E-8525-E8A163E9809E}"/>
              </a:ext>
            </a:extLst>
          </p:cNvPr>
          <p:cNvGrpSpPr/>
          <p:nvPr/>
        </p:nvGrpSpPr>
        <p:grpSpPr>
          <a:xfrm>
            <a:off x="636577" y="1806761"/>
            <a:ext cx="4802560" cy="740260"/>
            <a:chOff x="636577" y="1806761"/>
            <a:chExt cx="4802560" cy="7402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071B87-AB88-43A9-9B70-EA700468C4F8}"/>
                </a:ext>
              </a:extLst>
            </p:cNvPr>
            <p:cNvSpPr txBox="1"/>
            <p:nvPr/>
          </p:nvSpPr>
          <p:spPr>
            <a:xfrm>
              <a:off x="636577" y="1806761"/>
              <a:ext cx="4261608" cy="369332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rgbClr val="FFFF00"/>
                  </a:solidFill>
                </a:rPr>
                <a:t>di DUM di di DUM di DUM di </a:t>
              </a:r>
              <a:r>
                <a:rPr lang="it-IT" b="1" dirty="0"/>
                <a:t>(3 beats)</a:t>
              </a:r>
              <a:endParaRPr lang="en-GB" b="1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B5656C2-D1DE-4631-957A-88956088392C}"/>
                </a:ext>
              </a:extLst>
            </p:cNvPr>
            <p:cNvSpPr/>
            <p:nvPr/>
          </p:nvSpPr>
          <p:spPr>
            <a:xfrm>
              <a:off x="4781725" y="2390862"/>
              <a:ext cx="156159" cy="15615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78D427C4-FA3E-4EE6-9AE9-B4085C12A3CA}"/>
                </a:ext>
              </a:extLst>
            </p:cNvPr>
            <p:cNvSpPr/>
            <p:nvPr/>
          </p:nvSpPr>
          <p:spPr>
            <a:xfrm>
              <a:off x="4280471" y="1974649"/>
              <a:ext cx="1158666" cy="489626"/>
            </a:xfrm>
            <a:prstGeom prst="arc">
              <a:avLst>
                <a:gd name="adj1" fmla="val 16200000"/>
                <a:gd name="adj2" fmla="val 4906537"/>
              </a:avLst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39D8C10-9572-43B2-A5A3-2890774BC1DB}"/>
              </a:ext>
            </a:extLst>
          </p:cNvPr>
          <p:cNvGrpSpPr/>
          <p:nvPr/>
        </p:nvGrpSpPr>
        <p:grpSpPr>
          <a:xfrm>
            <a:off x="630274" y="2717566"/>
            <a:ext cx="4802560" cy="740260"/>
            <a:chOff x="636577" y="1806761"/>
            <a:chExt cx="4802560" cy="740260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7C74DC9-4433-486C-B1CA-3F02FCAE6FF3}"/>
                </a:ext>
              </a:extLst>
            </p:cNvPr>
            <p:cNvSpPr txBox="1"/>
            <p:nvPr/>
          </p:nvSpPr>
          <p:spPr>
            <a:xfrm>
              <a:off x="636577" y="1806761"/>
              <a:ext cx="4261608" cy="36933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rgbClr val="FFFF00"/>
                  </a:solidFill>
                </a:rPr>
                <a:t>di DUM di di DUM di DUM di </a:t>
              </a:r>
              <a:r>
                <a:rPr lang="it-IT" b="1" dirty="0"/>
                <a:t>(3 beats)</a:t>
              </a:r>
              <a:endParaRPr lang="en-GB" b="1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9F6202C-D0B2-499C-B392-0D4FA84791DA}"/>
                </a:ext>
              </a:extLst>
            </p:cNvPr>
            <p:cNvSpPr/>
            <p:nvPr/>
          </p:nvSpPr>
          <p:spPr>
            <a:xfrm>
              <a:off x="4781725" y="2390862"/>
              <a:ext cx="156159" cy="156159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9208788F-E6ED-48FD-A398-742579F24455}"/>
                </a:ext>
              </a:extLst>
            </p:cNvPr>
            <p:cNvSpPr/>
            <p:nvPr/>
          </p:nvSpPr>
          <p:spPr>
            <a:xfrm>
              <a:off x="4280471" y="1974649"/>
              <a:ext cx="1158666" cy="489626"/>
            </a:xfrm>
            <a:prstGeom prst="arc">
              <a:avLst>
                <a:gd name="adj1" fmla="val 16200000"/>
                <a:gd name="adj2" fmla="val 4906537"/>
              </a:avLst>
            </a:prstGeom>
            <a:ln w="28575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6B745D5-D64E-43A4-A6BE-274C1E7C8F17}"/>
              </a:ext>
            </a:extLst>
          </p:cNvPr>
          <p:cNvGrpSpPr/>
          <p:nvPr/>
        </p:nvGrpSpPr>
        <p:grpSpPr>
          <a:xfrm>
            <a:off x="630274" y="3568046"/>
            <a:ext cx="4802560" cy="740260"/>
            <a:chOff x="636577" y="1806761"/>
            <a:chExt cx="4802560" cy="74026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353724-ED5E-48CF-A21A-394C1E1C977D}"/>
                </a:ext>
              </a:extLst>
            </p:cNvPr>
            <p:cNvSpPr txBox="1"/>
            <p:nvPr/>
          </p:nvSpPr>
          <p:spPr>
            <a:xfrm>
              <a:off x="636577" y="1806761"/>
              <a:ext cx="4261608" cy="369332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rgbClr val="FFFF00"/>
                  </a:solidFill>
                </a:rPr>
                <a:t>di DUM di di DUM </a:t>
              </a:r>
              <a:r>
                <a:rPr lang="it-IT" b="1" dirty="0"/>
                <a:t>(2 beats)</a:t>
              </a:r>
              <a:endParaRPr lang="en-GB" b="1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F58C741-ED41-4A5F-A563-3A3A66F250FE}"/>
                </a:ext>
              </a:extLst>
            </p:cNvPr>
            <p:cNvSpPr/>
            <p:nvPr/>
          </p:nvSpPr>
          <p:spPr>
            <a:xfrm>
              <a:off x="2989298" y="2390862"/>
              <a:ext cx="156159" cy="15615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8C64EC47-C2A3-4791-99E4-0AEE74F114E2}"/>
                </a:ext>
              </a:extLst>
            </p:cNvPr>
            <p:cNvSpPr/>
            <p:nvPr/>
          </p:nvSpPr>
          <p:spPr>
            <a:xfrm>
              <a:off x="712005" y="1974649"/>
              <a:ext cx="4727132" cy="489626"/>
            </a:xfrm>
            <a:prstGeom prst="arc">
              <a:avLst>
                <a:gd name="adj1" fmla="val 21288319"/>
                <a:gd name="adj2" fmla="val 4906537"/>
              </a:avLst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52C01A7-62C9-4BC3-BB6A-F4F3CD4CE89B}"/>
              </a:ext>
            </a:extLst>
          </p:cNvPr>
          <p:cNvGrpSpPr/>
          <p:nvPr/>
        </p:nvGrpSpPr>
        <p:grpSpPr>
          <a:xfrm>
            <a:off x="630274" y="4483125"/>
            <a:ext cx="4802560" cy="740260"/>
            <a:chOff x="636577" y="1806761"/>
            <a:chExt cx="4802560" cy="740260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0465975-295F-4E68-A76A-91EC7CC339D8}"/>
                </a:ext>
              </a:extLst>
            </p:cNvPr>
            <p:cNvSpPr txBox="1"/>
            <p:nvPr/>
          </p:nvSpPr>
          <p:spPr>
            <a:xfrm>
              <a:off x="636577" y="1806761"/>
              <a:ext cx="4261608" cy="36933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rgbClr val="FFFF00"/>
                  </a:solidFill>
                </a:rPr>
                <a:t>di DUM di di DUM </a:t>
              </a:r>
              <a:r>
                <a:rPr lang="it-IT" b="1" dirty="0"/>
                <a:t>(2 beats)</a:t>
              </a:r>
              <a:endParaRPr lang="en-GB" b="1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06A4B4B-2C09-472F-8C36-1EC05F1FD1CD}"/>
                </a:ext>
              </a:extLst>
            </p:cNvPr>
            <p:cNvSpPr/>
            <p:nvPr/>
          </p:nvSpPr>
          <p:spPr>
            <a:xfrm>
              <a:off x="3207411" y="2390862"/>
              <a:ext cx="156159" cy="156159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1C2B67BB-A8AC-4E44-A44D-D0AFA8B6C12F}"/>
                </a:ext>
              </a:extLst>
            </p:cNvPr>
            <p:cNvSpPr/>
            <p:nvPr/>
          </p:nvSpPr>
          <p:spPr>
            <a:xfrm>
              <a:off x="712005" y="1866876"/>
              <a:ext cx="4727132" cy="597399"/>
            </a:xfrm>
            <a:prstGeom prst="arc">
              <a:avLst>
                <a:gd name="adj1" fmla="val 21225785"/>
                <a:gd name="adj2" fmla="val 2877256"/>
              </a:avLst>
            </a:prstGeom>
            <a:ln w="28575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568AE62-EB36-4AFE-9EB3-249830A51F4E}"/>
              </a:ext>
            </a:extLst>
          </p:cNvPr>
          <p:cNvGrpSpPr/>
          <p:nvPr/>
        </p:nvGrpSpPr>
        <p:grpSpPr>
          <a:xfrm>
            <a:off x="630274" y="5398204"/>
            <a:ext cx="4802560" cy="740260"/>
            <a:chOff x="636577" y="1806761"/>
            <a:chExt cx="4802560" cy="740260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A48CE17-B3A2-497D-9CDE-767395547852}"/>
                </a:ext>
              </a:extLst>
            </p:cNvPr>
            <p:cNvSpPr txBox="1"/>
            <p:nvPr/>
          </p:nvSpPr>
          <p:spPr>
            <a:xfrm>
              <a:off x="636577" y="1806761"/>
              <a:ext cx="4261608" cy="369332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rgbClr val="FFFF00"/>
                  </a:solidFill>
                </a:rPr>
                <a:t>di DUM di di DUM di DUM di </a:t>
              </a:r>
              <a:r>
                <a:rPr lang="it-IT" b="1" dirty="0"/>
                <a:t>(3 beats)</a:t>
              </a:r>
              <a:endParaRPr lang="en-GB" b="1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7E0F20F-22C4-4398-8F4E-F3238EF2103A}"/>
                </a:ext>
              </a:extLst>
            </p:cNvPr>
            <p:cNvSpPr/>
            <p:nvPr/>
          </p:nvSpPr>
          <p:spPr>
            <a:xfrm>
              <a:off x="4293524" y="2390862"/>
              <a:ext cx="156159" cy="15615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id="{BCC26D1A-FF2C-40A4-8169-652836754CFD}"/>
                </a:ext>
              </a:extLst>
            </p:cNvPr>
            <p:cNvSpPr/>
            <p:nvPr/>
          </p:nvSpPr>
          <p:spPr>
            <a:xfrm>
              <a:off x="3470956" y="1974649"/>
              <a:ext cx="1968181" cy="489626"/>
            </a:xfrm>
            <a:prstGeom prst="arc">
              <a:avLst>
                <a:gd name="adj1" fmla="val 19797416"/>
                <a:gd name="adj2" fmla="val 5830174"/>
              </a:avLst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3933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accel="38000" decel="62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accel="32000" decel="6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accel="34000" decel="66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39" grpId="0" animBg="1"/>
      <p:bldP spid="19" grpId="0" animBg="1"/>
      <p:bldP spid="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5A69C575-FB30-47EF-A4D0-B3CB385B2E07}"/>
              </a:ext>
            </a:extLst>
          </p:cNvPr>
          <p:cNvSpPr/>
          <p:nvPr/>
        </p:nvSpPr>
        <p:spPr>
          <a:xfrm>
            <a:off x="5054389" y="1687595"/>
            <a:ext cx="3546298" cy="1426041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FFFFFF"/>
                </a:solidFill>
              </a:rPr>
              <a:t>The first line sets</a:t>
            </a:r>
            <a:br>
              <a:rPr lang="en-GB" dirty="0">
                <a:solidFill>
                  <a:srgbClr val="FFFFFF"/>
                </a:solidFill>
              </a:rPr>
            </a:br>
            <a:r>
              <a:rPr lang="en-GB" dirty="0">
                <a:solidFill>
                  <a:srgbClr val="FFFFFF"/>
                </a:solidFill>
              </a:rPr>
              <a:t>up the subject so it usually</a:t>
            </a:r>
            <a:br>
              <a:rPr lang="en-GB" dirty="0">
                <a:solidFill>
                  <a:srgbClr val="FFFFFF"/>
                </a:solidFill>
              </a:rPr>
            </a:br>
            <a:r>
              <a:rPr lang="en-GB" dirty="0">
                <a:solidFill>
                  <a:srgbClr val="FFFFFF"/>
                </a:solidFill>
              </a:rPr>
              <a:t>ends with the name</a:t>
            </a:r>
            <a:br>
              <a:rPr lang="en-GB" dirty="0">
                <a:solidFill>
                  <a:srgbClr val="FFFFFF"/>
                </a:solidFill>
              </a:rPr>
            </a:br>
            <a:r>
              <a:rPr lang="en-GB" dirty="0">
                <a:solidFill>
                  <a:srgbClr val="FFFFFF"/>
                </a:solidFill>
              </a:rPr>
              <a:t>of a person or place.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D3D553-38B7-4B23-8455-F9F17F096347}"/>
              </a:ext>
            </a:extLst>
          </p:cNvPr>
          <p:cNvSpPr/>
          <p:nvPr/>
        </p:nvSpPr>
        <p:spPr>
          <a:xfrm>
            <a:off x="5054390" y="1679236"/>
            <a:ext cx="3546298" cy="822123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FFFFFF"/>
                </a:solidFill>
              </a:rPr>
              <a:t>Limericks follow</a:t>
            </a:r>
            <a:br>
              <a:rPr lang="en-GB" dirty="0">
                <a:solidFill>
                  <a:srgbClr val="FFFFFF"/>
                </a:solidFill>
              </a:rPr>
            </a:br>
            <a:r>
              <a:rPr lang="en-GB" dirty="0">
                <a:solidFill>
                  <a:srgbClr val="FFFFFF"/>
                </a:solidFill>
              </a:rPr>
              <a:t>a typical rhythm:</a:t>
            </a:r>
            <a:endParaRPr lang="en-GB" sz="1800" b="0" i="0" u="none" strike="noStrike" dirty="0">
              <a:solidFill>
                <a:srgbClr val="FFFFFF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613381-71EF-47D1-96C9-F4D85B9A31B7}"/>
              </a:ext>
            </a:extLst>
          </p:cNvPr>
          <p:cNvSpPr/>
          <p:nvPr/>
        </p:nvSpPr>
        <p:spPr>
          <a:xfrm>
            <a:off x="5054389" y="1593909"/>
            <a:ext cx="3609240" cy="1835091"/>
          </a:xfrm>
          <a:prstGeom prst="rect">
            <a:avLst/>
          </a:prstGeom>
          <a:solidFill>
            <a:srgbClr val="F1F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C05366-5FBB-406F-BCF4-D5342A584E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566869" y="1"/>
            <a:ext cx="1577129" cy="2176092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9606235A-63B3-4720-998B-FF444330654B}"/>
              </a:ext>
            </a:extLst>
          </p:cNvPr>
          <p:cNvGrpSpPr/>
          <p:nvPr/>
        </p:nvGrpSpPr>
        <p:grpSpPr>
          <a:xfrm>
            <a:off x="-1" y="771787"/>
            <a:ext cx="4991450" cy="822122"/>
            <a:chOff x="0" y="771787"/>
            <a:chExt cx="4991450" cy="82212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585A6C4-D299-4F28-938A-1440F6B9930F}"/>
                </a:ext>
              </a:extLst>
            </p:cNvPr>
            <p:cNvSpPr/>
            <p:nvPr/>
          </p:nvSpPr>
          <p:spPr>
            <a:xfrm>
              <a:off x="0" y="771787"/>
              <a:ext cx="4991450" cy="82212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>
                  <a:solidFill>
                    <a:schemeClr val="bg1"/>
                  </a:solidFill>
                </a:rPr>
                <a:t>Limerick Features</a:t>
              </a:r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AA940833-53E1-425C-8284-259E82AA11EB}"/>
                </a:ext>
              </a:extLst>
            </p:cNvPr>
            <p:cNvSpPr/>
            <p:nvPr/>
          </p:nvSpPr>
          <p:spPr>
            <a:xfrm rot="5400000">
              <a:off x="-34713" y="974280"/>
              <a:ext cx="503339" cy="43391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A82C3944-469E-4058-97D2-52DB5730F14D}"/>
              </a:ext>
            </a:extLst>
          </p:cNvPr>
          <p:cNvSpPr/>
          <p:nvPr/>
        </p:nvSpPr>
        <p:spPr>
          <a:xfrm>
            <a:off x="543313" y="1679891"/>
            <a:ext cx="4448136" cy="4645408"/>
          </a:xfrm>
          <a:prstGeom prst="rect">
            <a:avLst/>
          </a:prstGeom>
          <a:solidFill>
            <a:srgbClr val="B9D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700" b="0" i="0" u="none" strike="noStrike" dirty="0">
                <a:solidFill>
                  <a:schemeClr val="tx1"/>
                </a:solidFill>
                <a:effectLst/>
              </a:rPr>
              <a:t>There once was a young man from Ealing,</a:t>
            </a:r>
            <a:endParaRPr lang="en-GB" sz="1700" b="0" dirty="0">
              <a:solidFill>
                <a:schemeClr val="tx1"/>
              </a:solidFill>
              <a:effectLst/>
            </a:endParaRPr>
          </a:p>
          <a:p>
            <a:pPr rtl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700" b="0" i="0" u="none" strike="noStrike" dirty="0">
                <a:solidFill>
                  <a:schemeClr val="tx1"/>
                </a:solidFill>
                <a:effectLst/>
              </a:rPr>
              <a:t>Who would always hang from the ceiling.</a:t>
            </a:r>
            <a:endParaRPr lang="en-GB" sz="1700" b="0" dirty="0">
              <a:solidFill>
                <a:schemeClr val="tx1"/>
              </a:solidFill>
              <a:effectLst/>
            </a:endParaRPr>
          </a:p>
          <a:p>
            <a:pPr rtl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700" b="0" i="0" u="none" strike="noStrike" dirty="0">
                <a:solidFill>
                  <a:schemeClr val="tx1"/>
                </a:solidFill>
                <a:effectLst/>
              </a:rPr>
              <a:t>He couldn’t wear a hat,</a:t>
            </a:r>
            <a:endParaRPr lang="en-GB" sz="1700" b="0" dirty="0">
              <a:solidFill>
                <a:schemeClr val="tx1"/>
              </a:solidFill>
              <a:effectLst/>
            </a:endParaRPr>
          </a:p>
          <a:p>
            <a:pPr rtl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700" b="0" i="0" u="none" strike="noStrike" dirty="0">
                <a:solidFill>
                  <a:schemeClr val="tx1"/>
                </a:solidFill>
                <a:effectLst/>
              </a:rPr>
              <a:t>But could hang like a bat,</a:t>
            </a:r>
            <a:endParaRPr lang="en-GB" sz="1700" b="0" dirty="0">
              <a:solidFill>
                <a:schemeClr val="tx1"/>
              </a:solidFill>
              <a:effectLst/>
            </a:endParaRPr>
          </a:p>
          <a:p>
            <a:pPr rtl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700" b="0" i="0" u="none" strike="noStrike" dirty="0">
                <a:solidFill>
                  <a:schemeClr val="tx1"/>
                </a:solidFill>
                <a:effectLst/>
              </a:rPr>
              <a:t>And said, “What a wonderful feeling!”</a:t>
            </a:r>
            <a:endParaRPr lang="en-GB" sz="17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E92ACB-0DFC-4BF9-88CE-649BC357BB85}"/>
              </a:ext>
            </a:extLst>
          </p:cNvPr>
          <p:cNvSpPr txBox="1"/>
          <p:nvPr/>
        </p:nvSpPr>
        <p:spPr>
          <a:xfrm>
            <a:off x="636577" y="1806761"/>
            <a:ext cx="7351140" cy="369332"/>
          </a:xfrm>
          <a:prstGeom prst="rect">
            <a:avLst/>
          </a:prstGeom>
          <a:solidFill>
            <a:srgbClr val="D84C4C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The first line begins with a phrase starting with ‘</a:t>
            </a:r>
            <a:r>
              <a:rPr lang="en-GB" b="1" dirty="0"/>
              <a:t>There</a:t>
            </a:r>
            <a:r>
              <a:rPr lang="en-GB" dirty="0"/>
              <a:t>’, like this one.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05467C-5232-4852-AEFC-682F93D8C19A}"/>
              </a:ext>
            </a:extLst>
          </p:cNvPr>
          <p:cNvSpPr/>
          <p:nvPr/>
        </p:nvSpPr>
        <p:spPr>
          <a:xfrm>
            <a:off x="636577" y="2302963"/>
            <a:ext cx="1678784" cy="314471"/>
          </a:xfrm>
          <a:prstGeom prst="rect">
            <a:avLst/>
          </a:prstGeom>
          <a:solidFill>
            <a:srgbClr val="D84C4C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0B3A18-2CA2-4127-B9C7-92E1C23B4D2B}"/>
              </a:ext>
            </a:extLst>
          </p:cNvPr>
          <p:cNvSpPr txBox="1"/>
          <p:nvPr/>
        </p:nvSpPr>
        <p:spPr>
          <a:xfrm>
            <a:off x="636577" y="2744304"/>
            <a:ext cx="719874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The second line gives more details about the subject.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4D6934-8810-4DF7-AF78-A99CA50FAD3B}"/>
              </a:ext>
            </a:extLst>
          </p:cNvPr>
          <p:cNvSpPr txBox="1"/>
          <p:nvPr/>
        </p:nvSpPr>
        <p:spPr>
          <a:xfrm>
            <a:off x="636577" y="3597258"/>
            <a:ext cx="7198740" cy="369332"/>
          </a:xfrm>
          <a:prstGeom prst="rect">
            <a:avLst/>
          </a:prstGeom>
          <a:solidFill>
            <a:srgbClr val="873F99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Line 3 gives us some action about the subject.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AD6EB6-6CE0-44AC-8837-8CF38FD45A74}"/>
              </a:ext>
            </a:extLst>
          </p:cNvPr>
          <p:cNvSpPr txBox="1"/>
          <p:nvPr/>
        </p:nvSpPr>
        <p:spPr>
          <a:xfrm>
            <a:off x="636577" y="4490754"/>
            <a:ext cx="7198740" cy="369332"/>
          </a:xfrm>
          <a:prstGeom prst="rect">
            <a:avLst/>
          </a:prstGeom>
          <a:solidFill>
            <a:srgbClr val="873F99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Line 4 gives us some more action about the subject.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1B59AF-EAA5-433B-9706-95A61D95E4C9}"/>
              </a:ext>
            </a:extLst>
          </p:cNvPr>
          <p:cNvSpPr txBox="1"/>
          <p:nvPr/>
        </p:nvSpPr>
        <p:spPr>
          <a:xfrm>
            <a:off x="636577" y="5384250"/>
            <a:ext cx="7198740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The last line is usually the consequence of lines 3 and 4.</a:t>
            </a:r>
          </a:p>
        </p:txBody>
      </p:sp>
    </p:spTree>
    <p:extLst>
      <p:ext uri="{BB962C8B-B14F-4D97-AF65-F5344CB8AC3E}">
        <p14:creationId xmlns:p14="http://schemas.microsoft.com/office/powerpoint/2010/main" val="205711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accel="38000" decel="6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2" accel="20000" decel="8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30" grpId="0" animBg="1"/>
      <p:bldP spid="2" grpId="0" animBg="1"/>
      <p:bldP spid="31" grpId="0" animBg="1"/>
      <p:bldP spid="32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Twinkl Template">
      <a:dk1>
        <a:srgbClr val="1C1C1C"/>
      </a:dk1>
      <a:lt1>
        <a:sysClr val="window" lastClr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Custom 1">
      <a:majorFont>
        <a:latin typeface="Twinkl Sb"/>
        <a:ea typeface=""/>
        <a:cs typeface=""/>
      </a:majorFont>
      <a:minorFont>
        <a:latin typeface="Twink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A0D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C2D07FF1-3EB1-4D9E-84F9-D2450425A22C}" vid="{819F8316-0E89-457C-B2A7-A168B6D0BF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121</TotalTime>
  <Words>501</Words>
  <Application>Microsoft Office PowerPoint</Application>
  <PresentationFormat>On-screen Show (4:3)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Twinkl SemiBold</vt:lpstr>
      <vt:lpstr>Calibri</vt:lpstr>
      <vt:lpstr>Arial</vt:lpstr>
      <vt:lpstr>Twinkl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Webb</dc:creator>
  <cp:lastModifiedBy>Bennett, Riley (Student)</cp:lastModifiedBy>
  <cp:revision>15</cp:revision>
  <dcterms:created xsi:type="dcterms:W3CDTF">2017-11-06T15:36:38Z</dcterms:created>
  <dcterms:modified xsi:type="dcterms:W3CDTF">2022-03-15T12:26:38Z</dcterms:modified>
</cp:coreProperties>
</file>