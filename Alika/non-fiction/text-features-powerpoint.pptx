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8" r:id="rId2"/>
    <p:sldId id="264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67" r:id="rId1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Twinkl" pitchFamily="2" charset="0"/>
      <p:regular r:id="rId18"/>
      <p:bold r:id="rId19"/>
    </p:embeddedFont>
    <p:embeddedFont>
      <p:font typeface="Twinkl SemiBold" pitchFamily="2" charset="0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4" pos="34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pos="5420" userDrawn="1">
          <p15:clr>
            <a:srgbClr val="A4A3A4"/>
          </p15:clr>
        </p15:guide>
        <p15:guide id="7" orient="horz" pos="346" userDrawn="1">
          <p15:clr>
            <a:srgbClr val="A4A3A4"/>
          </p15:clr>
        </p15:guide>
        <p15:guide id="8" pos="476" userDrawn="1">
          <p15:clr>
            <a:srgbClr val="A4A3A4"/>
          </p15:clr>
        </p15:guide>
        <p15:guide id="9" orient="horz" pos="482" userDrawn="1">
          <p15:clr>
            <a:srgbClr val="A4A3A4"/>
          </p15:clr>
        </p15:guide>
        <p15:guide id="10" orient="horz" pos="3838" userDrawn="1">
          <p15:clr>
            <a:srgbClr val="A4A3A4"/>
          </p15:clr>
        </p15:guide>
        <p15:guide id="11" pos="52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DEF8"/>
    <a:srgbClr val="47B1E5"/>
    <a:srgbClr val="A4A3A4"/>
    <a:srgbClr val="01407D"/>
    <a:srgbClr val="18A0DB"/>
    <a:srgbClr val="F4BF94"/>
    <a:srgbClr val="DE1E5A"/>
    <a:srgbClr val="BC0105"/>
    <a:srgbClr val="4DB1E3"/>
    <a:srgbClr val="80C1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662" y="108"/>
      </p:cViewPr>
      <p:guideLst>
        <p:guide orient="horz" pos="2160"/>
        <p:guide pos="2880"/>
        <p:guide pos="340"/>
        <p:guide orient="horz" pos="3974"/>
        <p:guide pos="5420"/>
        <p:guide orient="horz" pos="346"/>
        <p:guide pos="476"/>
        <p:guide orient="horz" pos="482"/>
        <p:guide orient="horz" pos="3838"/>
        <p:guide pos="52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7" d="100"/>
          <a:sy n="77" d="100"/>
        </p:scale>
        <p:origin x="26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4F151-63AC-41CE-96F5-7702E930870C}" type="datetimeFigureOut">
              <a:rPr lang="en-GB" smtClean="0"/>
              <a:t>21/10/2020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76B846-B279-40AC-BFF5-DBC4013370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397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2C5D1-7818-41B5-ABAD-5E4B38A5388F}" type="datetimeFigureOut">
              <a:rPr lang="en-GB" smtClean="0"/>
              <a:t>21/10/2020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1341-850D-40E1-BB3D-87946DC9B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048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m/resources/literature-reading-english-language-arts-third-grade-usa/genres-literature-reading-english-language-arts-third-grade-usa/nonfiction-genres-literature-reading-english-language-arts-third-grade-usa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winkl.com/resources/literature-reading-english-language-arts-third-grade-usa/genres-literature-reading-english-language-arts-third-grade-usa/nonfiction-genres-literature-reading-english-language-arts-third-grade-usa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hlinkClick r:id="rId3"/>
          </p:cNvPr>
          <p:cNvSpPr/>
          <p:nvPr userDrawn="1"/>
        </p:nvSpPr>
        <p:spPr>
          <a:xfrm>
            <a:off x="4028536" y="5486400"/>
            <a:ext cx="1078302" cy="709725"/>
          </a:xfrm>
          <a:prstGeom prst="rect">
            <a:avLst/>
          </a:prstGeom>
          <a:solidFill>
            <a:srgbClr val="18A0DB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04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2497" y="5734211"/>
            <a:ext cx="576495" cy="58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71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 bwMode="auto">
          <a:xfrm>
            <a:off x="457198" y="438151"/>
            <a:ext cx="8220075" cy="5957887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8" y="478895"/>
            <a:ext cx="8220075" cy="994306"/>
          </a:xfrm>
        </p:spPr>
        <p:txBody>
          <a:bodyPr>
            <a:noAutofit/>
          </a:bodyPr>
          <a:lstStyle>
            <a:lvl1pPr>
              <a:defRPr>
                <a:latin typeface="Twinkl SemiBol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07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503239" y="2930434"/>
            <a:ext cx="8137524" cy="341480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8" name="Rounded Rectangle 7"/>
          <p:cNvSpPr/>
          <p:nvPr userDrawn="1"/>
        </p:nvSpPr>
        <p:spPr bwMode="auto">
          <a:xfrm>
            <a:off x="503239" y="512763"/>
            <a:ext cx="8137524" cy="2193019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350" dirty="0">
                <a:latin typeface="Twinkl" pitchFamily="50" charset="0"/>
              </a:rPr>
              <a:t> 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071286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winkl" pitchFamily="50" charset="0"/>
              </a:rPr>
              <a:t>Success Criteria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28648" y="734785"/>
            <a:ext cx="7886700" cy="540000"/>
          </a:xfrm>
          <a:prstGeom prst="rect">
            <a:avLst/>
          </a:prstGeom>
        </p:spPr>
        <p:txBody>
          <a:bodyPr lIns="0" tIns="0" rIns="0" bIns="0" anchor="ctr" anchorCtr="1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latin typeface="Twinkl" pitchFamily="50" charset="0"/>
              </a:rPr>
              <a:t>Aim</a:t>
            </a:r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1127760"/>
            <a:ext cx="7886700" cy="1409700"/>
          </a:xfrm>
        </p:spPr>
        <p:txBody>
          <a:bodyPr>
            <a:normAutofit fontScale="92500" lnSpcReduction="10000"/>
          </a:bodyPr>
          <a:lstStyle>
            <a:lvl1pPr>
              <a:defRPr>
                <a:latin typeface="Twinkl" pitchFamily="50" charset="0"/>
              </a:defRPr>
            </a:lvl1pPr>
            <a:lvl2pPr>
              <a:defRPr/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15"/>
          <p:cNvSpPr txBox="1">
            <a:spLocks/>
          </p:cNvSpPr>
          <p:nvPr userDrawn="1"/>
        </p:nvSpPr>
        <p:spPr>
          <a:xfrm>
            <a:off x="628650" y="3466803"/>
            <a:ext cx="7886700" cy="1409700"/>
          </a:xfrm>
          <a:prstGeom prst="rect">
            <a:avLst/>
          </a:prstGeom>
          <a:noFill/>
          <a:ln w="25400">
            <a:noFill/>
          </a:ln>
        </p:spPr>
        <p:txBody>
          <a:bodyPr vert="horz" lIns="180000" tIns="252000" rIns="252000" bIns="180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Twinkl" pitchFamily="50" charset="0"/>
              </a:rPr>
              <a:t>Statement 1 Lorem ipsum </a:t>
            </a:r>
            <a:r>
              <a:rPr lang="en-GB" dirty="0" err="1">
                <a:latin typeface="Twinkl" pitchFamily="50" charset="0"/>
              </a:rPr>
              <a:t>dolor</a:t>
            </a:r>
            <a:r>
              <a:rPr lang="en-GB" dirty="0">
                <a:latin typeface="Twinkl" pitchFamily="50" charset="0"/>
              </a:rPr>
              <a:t> sit </a:t>
            </a:r>
            <a:r>
              <a:rPr lang="en-GB" dirty="0" err="1">
                <a:latin typeface="Twinkl" pitchFamily="50" charset="0"/>
              </a:rPr>
              <a:t>amet</a:t>
            </a:r>
            <a:r>
              <a:rPr lang="en-GB" dirty="0">
                <a:latin typeface="Twinkl" pitchFamily="50" charset="0"/>
              </a:rPr>
              <a:t>, </a:t>
            </a:r>
            <a:r>
              <a:rPr lang="en-GB" dirty="0" err="1">
                <a:latin typeface="Twinkl" pitchFamily="50" charset="0"/>
              </a:rPr>
              <a:t>consectetur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adipiscing</a:t>
            </a:r>
            <a:r>
              <a:rPr lang="en-GB" dirty="0">
                <a:latin typeface="Twinkl" pitchFamily="50" charset="0"/>
              </a:rPr>
              <a:t> </a:t>
            </a:r>
            <a:r>
              <a:rPr lang="en-GB" dirty="0" err="1">
                <a:latin typeface="Twinkl" pitchFamily="50" charset="0"/>
              </a:rPr>
              <a:t>elit</a:t>
            </a:r>
            <a:r>
              <a:rPr lang="en-GB" dirty="0">
                <a:latin typeface="Twinkl" pitchFamily="50" charset="0"/>
              </a:rPr>
              <a:t>.</a:t>
            </a:r>
          </a:p>
          <a:p>
            <a:r>
              <a:rPr lang="en-GB" dirty="0">
                <a:latin typeface="Twinkl" pitchFamily="50" charset="0"/>
              </a:rPr>
              <a:t>Statement 2</a:t>
            </a:r>
          </a:p>
          <a:p>
            <a:pPr lvl="1"/>
            <a:r>
              <a:rPr lang="en-GB" dirty="0">
                <a:latin typeface="Twinkl" pitchFamily="50" charset="0"/>
              </a:rPr>
              <a:t>Sub statement</a:t>
            </a:r>
          </a:p>
        </p:txBody>
      </p:sp>
    </p:spTree>
    <p:extLst>
      <p:ext uri="{BB962C8B-B14F-4D97-AF65-F5344CB8AC3E}">
        <p14:creationId xmlns:p14="http://schemas.microsoft.com/office/powerpoint/2010/main" val="2257523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hlinkClick r:id="rId3"/>
          </p:cNvPr>
          <p:cNvSpPr/>
          <p:nvPr userDrawn="1"/>
        </p:nvSpPr>
        <p:spPr>
          <a:xfrm>
            <a:off x="4019909" y="3088257"/>
            <a:ext cx="1078302" cy="709725"/>
          </a:xfrm>
          <a:prstGeom prst="rect">
            <a:avLst/>
          </a:prstGeom>
          <a:solidFill>
            <a:srgbClr val="18A0DB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97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9745" y="695325"/>
            <a:ext cx="8164510" cy="1150938"/>
          </a:xfrm>
          <a:prstGeom prst="roundRect">
            <a:avLst>
              <a:gd name="adj" fmla="val 9641"/>
            </a:avLst>
          </a:prstGeom>
          <a:noFill/>
          <a:ln w="25400">
            <a:noFill/>
          </a:ln>
        </p:spPr>
        <p:txBody>
          <a:bodyPr vert="horz" lIns="252000" tIns="252000" rIns="252000" bIns="252000" rtlCol="0" anchor="ctr" anchorCtr="1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745" y="1957386"/>
            <a:ext cx="8164510" cy="4387851"/>
          </a:xfrm>
          <a:prstGeom prst="roundRect">
            <a:avLst>
              <a:gd name="adj" fmla="val 2585"/>
            </a:avLst>
          </a:prstGeom>
          <a:noFill/>
          <a:ln w="25400">
            <a:noFill/>
          </a:ln>
        </p:spPr>
        <p:txBody>
          <a:bodyPr vert="horz" lIns="252000" tIns="252000" rIns="252000" bIns="25200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9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2" r:id="rId3"/>
    <p:sldLayoutId id="2147483663" r:id="rId4"/>
    <p:sldLayoutId id="214748366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1C1C1C"/>
          </a:solidFill>
          <a:latin typeface="Twinkl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1C1C1C"/>
          </a:solidFill>
          <a:latin typeface="Twinkl" pitchFamily="50" charset="0"/>
          <a:ea typeface="Sassoon Infant Rg" panose="02000503030000020003" pitchFamily="50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88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650" y="1396925"/>
            <a:ext cx="7632700" cy="772107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Text features are included in nonfiction text to help the reader better understand the material.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5A41B-5C8D-464C-8412-EF8A6B575C02}"/>
              </a:ext>
            </a:extLst>
          </p:cNvPr>
          <p:cNvSpPr txBox="1"/>
          <p:nvPr/>
        </p:nvSpPr>
        <p:spPr>
          <a:xfrm>
            <a:off x="755650" y="2562509"/>
            <a:ext cx="5925807" cy="1049106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</a:rPr>
              <a:t>Many different types of text features provide </a:t>
            </a:r>
          </a:p>
          <a:p>
            <a:pPr lvl="0"/>
            <a:r>
              <a:rPr lang="en-US" dirty="0">
                <a:solidFill>
                  <a:schemeClr val="dk1"/>
                </a:solidFill>
              </a:rPr>
              <a:t>unique information to the reader. </a:t>
            </a:r>
          </a:p>
          <a:p>
            <a:pPr lvl="0"/>
            <a:r>
              <a:rPr lang="en-US" dirty="0">
                <a:solidFill>
                  <a:schemeClr val="dk1"/>
                </a:solidFill>
              </a:rPr>
              <a:t>These features can: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08388-2027-48BE-8DD7-8041C65C5A3C}"/>
              </a:ext>
            </a:extLst>
          </p:cNvPr>
          <p:cNvSpPr txBox="1"/>
          <p:nvPr/>
        </p:nvSpPr>
        <p:spPr>
          <a:xfrm>
            <a:off x="755650" y="3700306"/>
            <a:ext cx="5925807" cy="495108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tell or explain new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61A8B-FE7A-48E9-9E80-A681DDD087FC}"/>
              </a:ext>
            </a:extLst>
          </p:cNvPr>
          <p:cNvSpPr txBox="1"/>
          <p:nvPr/>
        </p:nvSpPr>
        <p:spPr>
          <a:xfrm>
            <a:off x="755650" y="4284105"/>
            <a:ext cx="5925807" cy="495108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 the reader find information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385" r="17212"/>
          <a:stretch/>
        </p:blipFill>
        <p:spPr>
          <a:xfrm>
            <a:off x="4567235" y="1756373"/>
            <a:ext cx="4445253" cy="51016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B2D661-E5DD-41F2-8FC0-0DD0F3798ED8}"/>
              </a:ext>
            </a:extLst>
          </p:cNvPr>
          <p:cNvSpPr txBox="1"/>
          <p:nvPr/>
        </p:nvSpPr>
        <p:spPr>
          <a:xfrm>
            <a:off x="-271604" y="285838"/>
            <a:ext cx="6826313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Text Features</a:t>
            </a:r>
          </a:p>
        </p:txBody>
      </p:sp>
    </p:spTree>
    <p:extLst>
      <p:ext uri="{BB962C8B-B14F-4D97-AF65-F5344CB8AC3E}">
        <p14:creationId xmlns:p14="http://schemas.microsoft.com/office/powerpoint/2010/main" val="1286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650" y="3291048"/>
            <a:ext cx="3707254" cy="1049106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lvl="0"/>
            <a:r>
              <a:rPr lang="en-US" dirty="0">
                <a:solidFill>
                  <a:srgbClr val="0E101A"/>
                </a:solidFill>
              </a:rPr>
              <a:t>A </a:t>
            </a:r>
            <a:r>
              <a:rPr lang="en-US" b="1" dirty="0">
                <a:solidFill>
                  <a:srgbClr val="0E101A"/>
                </a:solidFill>
              </a:rPr>
              <a:t>heading</a:t>
            </a:r>
            <a:r>
              <a:rPr lang="en-US" dirty="0">
                <a:solidFill>
                  <a:srgbClr val="0E101A"/>
                </a:solidFill>
              </a:rPr>
              <a:t> is included at the top of the text. It tells the reader what the text is about.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4E056-9853-4887-88CF-AC324C21353A}"/>
              </a:ext>
            </a:extLst>
          </p:cNvPr>
          <p:cNvSpPr txBox="1"/>
          <p:nvPr/>
        </p:nvSpPr>
        <p:spPr>
          <a:xfrm>
            <a:off x="755651" y="4405011"/>
            <a:ext cx="3707254" cy="1326105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A subheading tells the reader what information they will find in the following paragraphs before the next subheading.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741E0-47D7-46BA-8C0B-6573008529B7}"/>
              </a:ext>
            </a:extLst>
          </p:cNvPr>
          <p:cNvSpPr txBox="1"/>
          <p:nvPr/>
        </p:nvSpPr>
        <p:spPr>
          <a:xfrm>
            <a:off x="-334978" y="285838"/>
            <a:ext cx="7813140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Headings and Subheadings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7B0449-4BCE-495A-9FA8-40EFBF8A2E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34"/>
          <a:stretch/>
        </p:blipFill>
        <p:spPr>
          <a:xfrm>
            <a:off x="3899580" y="1964602"/>
            <a:ext cx="5244419" cy="40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268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8589" y="2656893"/>
            <a:ext cx="4219022" cy="772107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en-US" dirty="0"/>
              <a:t>A table of contents is often included at the very beginning of a book.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673" y="1069674"/>
            <a:ext cx="3769722" cy="5331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491D19-522C-4BB4-B795-02A77068BE4E}"/>
              </a:ext>
            </a:extLst>
          </p:cNvPr>
          <p:cNvSpPr txBox="1"/>
          <p:nvPr/>
        </p:nvSpPr>
        <p:spPr>
          <a:xfrm>
            <a:off x="768589" y="3573307"/>
            <a:ext cx="4219022" cy="1326105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The table of contents shows a list of headings within the book and the page number where you can look to find that heading.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87074-1132-4A96-8850-F818D4D32DA3}"/>
              </a:ext>
            </a:extLst>
          </p:cNvPr>
          <p:cNvSpPr txBox="1"/>
          <p:nvPr/>
        </p:nvSpPr>
        <p:spPr>
          <a:xfrm>
            <a:off x="768589" y="5043719"/>
            <a:ext cx="4219022" cy="1049106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The table of contents makes it easier for the reader to find specific information they are looking for.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3303A-1B9E-4F10-A9B7-09F784F2122A}"/>
              </a:ext>
            </a:extLst>
          </p:cNvPr>
          <p:cNvSpPr txBox="1"/>
          <p:nvPr/>
        </p:nvSpPr>
        <p:spPr>
          <a:xfrm>
            <a:off x="-334978" y="285838"/>
            <a:ext cx="7813140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26769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FBC59F-8BBF-4ED2-8AF4-DB6E06F98BA6}"/>
              </a:ext>
            </a:extLst>
          </p:cNvPr>
          <p:cNvSpPr txBox="1"/>
          <p:nvPr/>
        </p:nvSpPr>
        <p:spPr>
          <a:xfrm>
            <a:off x="-334978" y="285838"/>
            <a:ext cx="8075692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Photographs and Illustrations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88F264-7DD9-4CB8-AB0F-3F5D6FA53AB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1"/>
          <a:stretch/>
        </p:blipFill>
        <p:spPr>
          <a:xfrm>
            <a:off x="496592" y="1098749"/>
            <a:ext cx="8150816" cy="57592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922ACD-9446-4A5A-8684-DDE057D39824}"/>
              </a:ext>
            </a:extLst>
          </p:cNvPr>
          <p:cNvSpPr/>
          <p:nvPr/>
        </p:nvSpPr>
        <p:spPr>
          <a:xfrm>
            <a:off x="941560" y="1759159"/>
            <a:ext cx="36304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Authors often choose to include photographs or illustrations to help the reader better understand the information.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B134BA-E43C-4175-A502-FEB1EEBDD83F}"/>
              </a:ext>
            </a:extLst>
          </p:cNvPr>
          <p:cNvSpPr/>
          <p:nvPr/>
        </p:nvSpPr>
        <p:spPr>
          <a:xfrm>
            <a:off x="941560" y="5082132"/>
            <a:ext cx="36304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photograph</a:t>
            </a:r>
            <a:r>
              <a:rPr lang="en-US" dirty="0"/>
              <a:t> may be an actual picture from an event or person in history, or it could be of an animal or place.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DBB3A3-866C-4DCF-AFB0-C05DA8718BAC}"/>
              </a:ext>
            </a:extLst>
          </p:cNvPr>
          <p:cNvSpPr/>
          <p:nvPr/>
        </p:nvSpPr>
        <p:spPr>
          <a:xfrm>
            <a:off x="4634449" y="5082132"/>
            <a:ext cx="36304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An </a:t>
            </a:r>
            <a:r>
              <a:rPr lang="en-US" b="1" dirty="0"/>
              <a:t>illustration</a:t>
            </a:r>
            <a:r>
              <a:rPr lang="en-US" dirty="0"/>
              <a:t> may be a diagram that explains a complex body system or scientific process.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179FF7-A299-4F93-A6F5-D734C61B92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183"/>
          <a:stretch/>
        </p:blipFill>
        <p:spPr>
          <a:xfrm>
            <a:off x="4906727" y="1956717"/>
            <a:ext cx="3085883" cy="31254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EB40679-04C1-430C-8C5D-B1F398B234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41" y="3009985"/>
            <a:ext cx="2637278" cy="20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6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BCE9103E-D2F3-4A55-B4F5-0418B6F3510B}"/>
              </a:ext>
            </a:extLst>
          </p:cNvPr>
          <p:cNvSpPr txBox="1"/>
          <p:nvPr/>
        </p:nvSpPr>
        <p:spPr>
          <a:xfrm>
            <a:off x="755650" y="3912685"/>
            <a:ext cx="4053421" cy="1049106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label </a:t>
            </a:r>
            <a:r>
              <a:rPr lang="en-US" dirty="0"/>
              <a:t>points to a specific part of a photograph, illustration, or diagram and tells you the name of that part.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55650" y="1942736"/>
            <a:ext cx="4053422" cy="1788924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dirty="0">
                <a:solidFill>
                  <a:srgbClr val="0E101A"/>
                </a:solidFill>
              </a:rPr>
              <a:t>A </a:t>
            </a:r>
            <a:r>
              <a:rPr lang="en-US" b="1" dirty="0">
                <a:solidFill>
                  <a:srgbClr val="0E101A"/>
                </a:solidFill>
              </a:rPr>
              <a:t>caption</a:t>
            </a:r>
            <a:r>
              <a:rPr lang="en-US" dirty="0">
                <a:solidFill>
                  <a:srgbClr val="0E101A"/>
                </a:solidFill>
              </a:rPr>
              <a:t> briefly explains what a photograph or illustration is. It is often a short phrase or sentence that is located directly next to or under the image.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621B5A-FDF6-4148-9AB7-83AB6B68859E}"/>
              </a:ext>
            </a:extLst>
          </p:cNvPr>
          <p:cNvSpPr txBox="1"/>
          <p:nvPr/>
        </p:nvSpPr>
        <p:spPr>
          <a:xfrm>
            <a:off x="-325922" y="285838"/>
            <a:ext cx="6826313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Captions and Labels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19061D-DC62-4BDE-8938-BB75BB2FB3EE}"/>
              </a:ext>
            </a:extLst>
          </p:cNvPr>
          <p:cNvGrpSpPr/>
          <p:nvPr/>
        </p:nvGrpSpPr>
        <p:grpSpPr>
          <a:xfrm>
            <a:off x="4722300" y="962339"/>
            <a:ext cx="4417089" cy="5377543"/>
            <a:chOff x="4722300" y="962339"/>
            <a:chExt cx="4417089" cy="53775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787C63D-CDF4-4C4A-8E65-DB6E0D3505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861"/>
            <a:stretch/>
          </p:blipFill>
          <p:spPr>
            <a:xfrm>
              <a:off x="4722300" y="962339"/>
              <a:ext cx="4417089" cy="5377543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4881028" y="5774514"/>
              <a:ext cx="3690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/>
                <a:t>Skeletal system of a human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208B3F8-A3A5-4B52-9CE4-F8F215D2F747}"/>
                </a:ext>
              </a:extLst>
            </p:cNvPr>
            <p:cNvGrpSpPr/>
            <p:nvPr/>
          </p:nvGrpSpPr>
          <p:grpSpPr>
            <a:xfrm>
              <a:off x="7175354" y="1573404"/>
              <a:ext cx="1618434" cy="369332"/>
              <a:chOff x="2727003" y="1836417"/>
              <a:chExt cx="1618434" cy="369332"/>
            </a:xfrm>
          </p:grpSpPr>
          <p:cxnSp>
            <p:nvCxnSpPr>
              <p:cNvPr id="7" name="Straight Arrow Connector 6"/>
              <p:cNvCxnSpPr>
                <a:cxnSpLocks/>
              </p:cNvCxnSpPr>
              <p:nvPr/>
            </p:nvCxnSpPr>
            <p:spPr>
              <a:xfrm>
                <a:off x="2727003" y="2029472"/>
                <a:ext cx="411060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/>
              <p:cNvSpPr txBox="1"/>
              <p:nvPr/>
            </p:nvSpPr>
            <p:spPr>
              <a:xfrm>
                <a:off x="3103866" y="1836417"/>
                <a:ext cx="12415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skull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0FD8A07-A7FA-485D-BCCB-73B5C3D330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3680" y="1471106"/>
              <a:ext cx="1198094" cy="435019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D69D904-48D2-4C1B-B359-2DB923822092}"/>
                </a:ext>
              </a:extLst>
            </p:cNvPr>
            <p:cNvGrpSpPr/>
            <p:nvPr/>
          </p:nvGrpSpPr>
          <p:grpSpPr>
            <a:xfrm>
              <a:off x="7052699" y="3059668"/>
              <a:ext cx="1741089" cy="369332"/>
              <a:chOff x="2752170" y="3281779"/>
              <a:chExt cx="1741089" cy="369332"/>
            </a:xfrm>
          </p:grpSpPr>
          <p:cxnSp>
            <p:nvCxnSpPr>
              <p:cNvPr id="14" name="Straight Arrow Connector 13"/>
              <p:cNvCxnSpPr>
                <a:cxnSpLocks/>
              </p:cNvCxnSpPr>
              <p:nvPr/>
            </p:nvCxnSpPr>
            <p:spPr>
              <a:xfrm>
                <a:off x="2752170" y="3482165"/>
                <a:ext cx="533074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/>
              <p:cNvSpPr txBox="1"/>
              <p:nvPr/>
            </p:nvSpPr>
            <p:spPr>
              <a:xfrm>
                <a:off x="3251688" y="3281779"/>
                <a:ext cx="12415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pelvis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0D95100-29C9-47B2-8DA9-7976A20353A4}"/>
                </a:ext>
              </a:extLst>
            </p:cNvPr>
            <p:cNvGrpSpPr/>
            <p:nvPr/>
          </p:nvGrpSpPr>
          <p:grpSpPr>
            <a:xfrm>
              <a:off x="5376066" y="2351970"/>
              <a:ext cx="1113451" cy="369332"/>
              <a:chOff x="1160546" y="2622187"/>
              <a:chExt cx="1113451" cy="369332"/>
            </a:xfrm>
          </p:grpSpPr>
          <p:cxnSp>
            <p:nvCxnSpPr>
              <p:cNvPr id="10" name="Straight Arrow Connector 9"/>
              <p:cNvCxnSpPr>
                <a:cxnSpLocks/>
              </p:cNvCxnSpPr>
              <p:nvPr/>
            </p:nvCxnSpPr>
            <p:spPr>
              <a:xfrm flipH="1">
                <a:off x="1686768" y="2836213"/>
                <a:ext cx="587229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Box 18"/>
              <p:cNvSpPr txBox="1"/>
              <p:nvPr/>
            </p:nvSpPr>
            <p:spPr>
              <a:xfrm>
                <a:off x="1160546" y="2622187"/>
                <a:ext cx="583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ribs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A88606F-898E-4165-82BE-3F74D034114A}"/>
                </a:ext>
              </a:extLst>
            </p:cNvPr>
            <p:cNvGrpSpPr/>
            <p:nvPr/>
          </p:nvGrpSpPr>
          <p:grpSpPr>
            <a:xfrm>
              <a:off x="5247946" y="4107338"/>
              <a:ext cx="1306763" cy="369332"/>
              <a:chOff x="5247946" y="4107338"/>
              <a:chExt cx="1306763" cy="369332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5247946" y="4107338"/>
                <a:ext cx="12415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femur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FC4A679A-1928-4ED8-AD27-188FC1C850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67480" y="4345926"/>
                <a:ext cx="587229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9805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650" y="1338612"/>
            <a:ext cx="7632700" cy="495108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Throughout the text, an author may choose to make a word </a:t>
            </a:r>
            <a:r>
              <a:rPr lang="en-US" b="1" dirty="0"/>
              <a:t>bold</a:t>
            </a:r>
            <a:r>
              <a:rPr lang="en-US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2DD822-6855-4408-9D86-9CAB1A5B01A3}"/>
              </a:ext>
            </a:extLst>
          </p:cNvPr>
          <p:cNvSpPr txBox="1"/>
          <p:nvPr/>
        </p:nvSpPr>
        <p:spPr>
          <a:xfrm>
            <a:off x="-325922" y="285838"/>
            <a:ext cx="6826313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Bold Words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ED895-8619-4614-88B1-8776A5D94CEE}"/>
              </a:ext>
            </a:extLst>
          </p:cNvPr>
          <p:cNvSpPr txBox="1"/>
          <p:nvPr/>
        </p:nvSpPr>
        <p:spPr>
          <a:xfrm>
            <a:off x="755650" y="1935174"/>
            <a:ext cx="7632700" cy="772107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bold word </a:t>
            </a:r>
            <a:r>
              <a:rPr lang="en-US" dirty="0"/>
              <a:t>is often an important word to the subject of the text or a difficult word that the reader may not know.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11453-0E89-4A92-9D8D-80E9937BADE4}"/>
              </a:ext>
            </a:extLst>
          </p:cNvPr>
          <p:cNvSpPr txBox="1"/>
          <p:nvPr/>
        </p:nvSpPr>
        <p:spPr>
          <a:xfrm>
            <a:off x="755650" y="2808735"/>
            <a:ext cx="7632700" cy="772107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If you see a bold word, there is a good chance you can find the definition in the glossary.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ABD3FD-2854-4AFA-BC7C-D3E4068756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923" y="3194864"/>
            <a:ext cx="4906978" cy="342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16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650" y="3074872"/>
            <a:ext cx="7632700" cy="772107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Next to each word is a definition of the word to help the reader better understand the information.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8F9C02-7626-42DD-B0A0-6AF96A27A50D}"/>
              </a:ext>
            </a:extLst>
          </p:cNvPr>
          <p:cNvSpPr txBox="1"/>
          <p:nvPr/>
        </p:nvSpPr>
        <p:spPr>
          <a:xfrm>
            <a:off x="-325922" y="285838"/>
            <a:ext cx="6826313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Glossary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FBE002-26CE-4ED1-9935-0EF94D3E11B8}"/>
              </a:ext>
            </a:extLst>
          </p:cNvPr>
          <p:cNvSpPr txBox="1"/>
          <p:nvPr/>
        </p:nvSpPr>
        <p:spPr>
          <a:xfrm>
            <a:off x="755650" y="1689843"/>
            <a:ext cx="7632700" cy="495108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glossary </a:t>
            </a:r>
            <a:r>
              <a:rPr lang="en-US" dirty="0"/>
              <a:t>is included at the end of a book.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15A5E2-51ED-4D8B-B049-858CEF109A99}"/>
              </a:ext>
            </a:extLst>
          </p:cNvPr>
          <p:cNvSpPr txBox="1"/>
          <p:nvPr/>
        </p:nvSpPr>
        <p:spPr>
          <a:xfrm>
            <a:off x="755650" y="2382358"/>
            <a:ext cx="7632700" cy="495108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dirty="0"/>
              <a:t>Bold words throughout the text are listed in alphabetical order.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1C9F71-BD43-4E14-B670-07F4200000FB}"/>
              </a:ext>
            </a:extLst>
          </p:cNvPr>
          <p:cNvGrpSpPr/>
          <p:nvPr/>
        </p:nvGrpSpPr>
        <p:grpSpPr>
          <a:xfrm>
            <a:off x="3677981" y="3578652"/>
            <a:ext cx="5466019" cy="3279348"/>
            <a:chOff x="3677981" y="3578652"/>
            <a:chExt cx="5466019" cy="327934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8C48C9A-BE77-45F9-8A0C-05CE4B7E7D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222" b="51817"/>
            <a:stretch/>
          </p:blipFill>
          <p:spPr>
            <a:xfrm>
              <a:off x="3677981" y="3578652"/>
              <a:ext cx="5466019" cy="327934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2FEAF07-FAF8-4352-AD97-C8AA7301B4F4}"/>
                </a:ext>
              </a:extLst>
            </p:cNvPr>
            <p:cNvSpPr/>
            <p:nvPr/>
          </p:nvSpPr>
          <p:spPr>
            <a:xfrm>
              <a:off x="4590105" y="4295637"/>
              <a:ext cx="3141554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/>
                <a:t>mechanical system </a:t>
              </a:r>
              <a:r>
                <a:rPr lang="en-US" sz="1600" dirty="0"/>
                <a:t>noun</a:t>
              </a:r>
              <a:br>
                <a:rPr lang="en-US" dirty="0"/>
              </a:br>
              <a:r>
                <a:rPr lang="en-US" dirty="0"/>
                <a:t>contains related components which act together to create a motion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49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918693-77B4-420B-868D-57711BD99BAA}"/>
              </a:ext>
            </a:extLst>
          </p:cNvPr>
          <p:cNvSpPr txBox="1"/>
          <p:nvPr/>
        </p:nvSpPr>
        <p:spPr>
          <a:xfrm>
            <a:off x="-325922" y="285838"/>
            <a:ext cx="6826313" cy="951320"/>
          </a:xfrm>
          <a:prstGeom prst="parallelogram">
            <a:avLst/>
          </a:prstGeom>
          <a:solidFill>
            <a:srgbClr val="01407D"/>
          </a:solidFill>
        </p:spPr>
        <p:txBody>
          <a:bodyPr wrap="square" lIns="108000" tIns="108000" rIns="108000" bIns="108000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Index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93FC20-C7E3-4B76-A618-D983BFD836D2}"/>
              </a:ext>
            </a:extLst>
          </p:cNvPr>
          <p:cNvSpPr txBox="1"/>
          <p:nvPr/>
        </p:nvSpPr>
        <p:spPr>
          <a:xfrm>
            <a:off x="755650" y="4243603"/>
            <a:ext cx="4035599" cy="1603104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</a:rPr>
              <a:t>Next to a word in the index is the page number where that word is discussed in more detail. Sometimes a word can be found on multiple pages of a book.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C0919E-FEE0-46ED-ABEA-CE22151D24FE}"/>
              </a:ext>
            </a:extLst>
          </p:cNvPr>
          <p:cNvSpPr txBox="1"/>
          <p:nvPr/>
        </p:nvSpPr>
        <p:spPr>
          <a:xfrm>
            <a:off x="755650" y="1878447"/>
            <a:ext cx="4097007" cy="772107"/>
          </a:xfrm>
          <a:prstGeom prst="rect">
            <a:avLst/>
          </a:prstGeom>
          <a:solidFill>
            <a:srgbClr val="AFDEF8"/>
          </a:solidFill>
        </p:spPr>
        <p:txBody>
          <a:bodyPr wrap="square" lIns="108000" tIns="108000" rIns="108000" bIns="108000" rtlCol="0">
            <a:sp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</a:rPr>
              <a:t>An </a:t>
            </a:r>
            <a:r>
              <a:rPr lang="en-US" b="1" dirty="0">
                <a:solidFill>
                  <a:schemeClr val="dk1"/>
                </a:solidFill>
              </a:rPr>
              <a:t>index</a:t>
            </a:r>
            <a:r>
              <a:rPr lang="en-US" dirty="0">
                <a:solidFill>
                  <a:schemeClr val="dk1"/>
                </a:solidFill>
              </a:rPr>
              <a:t> is also found at the end of a book. It is like a roadmap to the book.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E18F20-1B6C-49BD-93E0-BD5CE564F32F}"/>
              </a:ext>
            </a:extLst>
          </p:cNvPr>
          <p:cNvSpPr txBox="1"/>
          <p:nvPr/>
        </p:nvSpPr>
        <p:spPr>
          <a:xfrm>
            <a:off x="755649" y="2784026"/>
            <a:ext cx="4097007" cy="1326105"/>
          </a:xfrm>
          <a:prstGeom prst="rect">
            <a:avLst/>
          </a:prstGeom>
          <a:solidFill>
            <a:srgbClr val="47B1E5"/>
          </a:solidFill>
        </p:spPr>
        <p:txBody>
          <a:bodyPr wrap="square" lIns="108000" tIns="108000" rIns="108000" bIns="108000" rtlCol="0">
            <a:sp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</a:rPr>
              <a:t>Important words from the text are listed in alphabetical order to help a reader quickly find a topic within the book.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3D65DA-6521-406C-978F-3320E1A841FA}"/>
              </a:ext>
            </a:extLst>
          </p:cNvPr>
          <p:cNvGrpSpPr/>
          <p:nvPr/>
        </p:nvGrpSpPr>
        <p:grpSpPr>
          <a:xfrm>
            <a:off x="4791249" y="1111943"/>
            <a:ext cx="4352751" cy="5566229"/>
            <a:chOff x="4791249" y="1111943"/>
            <a:chExt cx="4352751" cy="556622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4089B31-B284-4531-A0DF-A2EE99D704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1794"/>
            <a:stretch/>
          </p:blipFill>
          <p:spPr>
            <a:xfrm>
              <a:off x="4791249" y="1111943"/>
              <a:ext cx="4352751" cy="5566229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22F26E-D780-4396-9D80-5B94EC66394E}"/>
                </a:ext>
              </a:extLst>
            </p:cNvPr>
            <p:cNvSpPr/>
            <p:nvPr/>
          </p:nvSpPr>
          <p:spPr>
            <a:xfrm>
              <a:off x="5416014" y="1414913"/>
              <a:ext cx="3630440" cy="50783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/>
                <a:t>Index</a:t>
              </a:r>
            </a:p>
            <a:p>
              <a:endParaRPr lang="en-US" b="1" dirty="0"/>
            </a:p>
            <a:p>
              <a:r>
                <a:rPr lang="en-US" b="1" dirty="0"/>
                <a:t>A</a:t>
              </a:r>
              <a:br>
                <a:rPr lang="en-US" b="1" dirty="0"/>
              </a:br>
              <a:r>
                <a:rPr lang="en-US" dirty="0"/>
                <a:t>the Arctic 68, 69, 71</a:t>
              </a:r>
            </a:p>
            <a:p>
              <a:br>
                <a:rPr lang="en-US" dirty="0"/>
              </a:br>
              <a:r>
                <a:rPr lang="en-US" b="1" dirty="0"/>
                <a:t>B</a:t>
              </a:r>
            </a:p>
            <a:p>
              <a:r>
                <a:rPr lang="en-US" dirty="0"/>
                <a:t>business 48, 68, 69, 75 </a:t>
              </a:r>
            </a:p>
            <a:p>
              <a:br>
                <a:rPr lang="en-US" dirty="0"/>
              </a:br>
              <a:r>
                <a:rPr lang="en-US" b="1" dirty="0"/>
                <a:t>C</a:t>
              </a:r>
            </a:p>
            <a:p>
              <a:r>
                <a:rPr lang="en-US" dirty="0"/>
                <a:t>city life 41, 54, 72, 74, 98, </a:t>
              </a:r>
            </a:p>
            <a:p>
              <a:r>
                <a:rPr lang="en-US" dirty="0"/>
                <a:t>108, 116, 135</a:t>
              </a:r>
            </a:p>
            <a:p>
              <a:br>
                <a:rPr lang="en-US" dirty="0"/>
              </a:br>
              <a:r>
                <a:rPr lang="en-US" b="1" dirty="0"/>
                <a:t>D</a:t>
              </a:r>
            </a:p>
            <a:p>
              <a:r>
                <a:rPr lang="en-US" dirty="0"/>
                <a:t>dog’s life 12,16, 21, 22, 34, </a:t>
              </a:r>
            </a:p>
            <a:p>
              <a:r>
                <a:rPr lang="en-US" dirty="0"/>
                <a:t>40, 53</a:t>
              </a:r>
            </a:p>
            <a:p>
              <a:br>
                <a:rPr lang="en-US" dirty="0"/>
              </a:br>
              <a:br>
                <a:rPr lang="en-US" dirty="0"/>
              </a:b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4042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80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Custom 1">
      <a:majorFont>
        <a:latin typeface="Twinkl Sb"/>
        <a:ea typeface=""/>
        <a:cs typeface=""/>
      </a:majorFont>
      <a:minorFont>
        <a:latin typeface="Twink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8A0D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C2D07FF1-3EB1-4D9E-84F9-D2450425A22C}" vid="{819F8316-0E89-457C-B2A7-A168B6D0BF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 Template</Template>
  <TotalTime>341</TotalTime>
  <Words>528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Twinkl</vt:lpstr>
      <vt:lpstr>Calibri</vt:lpstr>
      <vt:lpstr>Twinkl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Joshua Monteith</dc:creator>
  <cp:lastModifiedBy>Simone Wouters</cp:lastModifiedBy>
  <cp:revision>37</cp:revision>
  <dcterms:created xsi:type="dcterms:W3CDTF">2017-09-29T12:33:15Z</dcterms:created>
  <dcterms:modified xsi:type="dcterms:W3CDTF">2020-10-21T08:52:33Z</dcterms:modified>
</cp:coreProperties>
</file>